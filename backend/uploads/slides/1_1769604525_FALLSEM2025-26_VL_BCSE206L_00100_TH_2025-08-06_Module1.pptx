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1" r:id="rId1"/>
  </p:sldMasterIdLst>
  <p:notesMasterIdLst>
    <p:notesMasterId r:id="rId46"/>
  </p:notesMasterIdLst>
  <p:sldIdLst>
    <p:sldId id="439" r:id="rId2"/>
    <p:sldId id="440" r:id="rId3"/>
    <p:sldId id="619" r:id="rId4"/>
    <p:sldId id="599" r:id="rId5"/>
    <p:sldId id="517" r:id="rId6"/>
    <p:sldId id="607" r:id="rId7"/>
    <p:sldId id="635" r:id="rId8"/>
    <p:sldId id="605" r:id="rId9"/>
    <p:sldId id="518" r:id="rId10"/>
    <p:sldId id="631" r:id="rId11"/>
    <p:sldId id="632" r:id="rId12"/>
    <p:sldId id="634" r:id="rId13"/>
    <p:sldId id="519" r:id="rId14"/>
    <p:sldId id="600" r:id="rId15"/>
    <p:sldId id="601" r:id="rId16"/>
    <p:sldId id="602" r:id="rId17"/>
    <p:sldId id="603" r:id="rId18"/>
    <p:sldId id="604" r:id="rId19"/>
    <p:sldId id="443" r:id="rId20"/>
    <p:sldId id="498" r:id="rId21"/>
    <p:sldId id="499" r:id="rId22"/>
    <p:sldId id="501" r:id="rId23"/>
    <p:sldId id="502" r:id="rId24"/>
    <p:sldId id="500" r:id="rId25"/>
    <p:sldId id="504" r:id="rId26"/>
    <p:sldId id="505" r:id="rId27"/>
    <p:sldId id="506" r:id="rId28"/>
    <p:sldId id="507" r:id="rId29"/>
    <p:sldId id="508" r:id="rId30"/>
    <p:sldId id="620" r:id="rId31"/>
    <p:sldId id="621" r:id="rId32"/>
    <p:sldId id="578" r:id="rId33"/>
    <p:sldId id="576" r:id="rId34"/>
    <p:sldId id="575" r:id="rId35"/>
    <p:sldId id="577" r:id="rId36"/>
    <p:sldId id="622" r:id="rId37"/>
    <p:sldId id="623" r:id="rId38"/>
    <p:sldId id="624" r:id="rId39"/>
    <p:sldId id="625" r:id="rId40"/>
    <p:sldId id="626" r:id="rId41"/>
    <p:sldId id="627" r:id="rId42"/>
    <p:sldId id="628" r:id="rId43"/>
    <p:sldId id="629" r:id="rId44"/>
    <p:sldId id="630" r:id="rId4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6600CC"/>
    <a:srgbClr val="CC3300"/>
    <a:srgbClr val="660066"/>
    <a:srgbClr val="339933"/>
    <a:srgbClr val="00CC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AE23E6-17F6-4CAB-A2BA-B9CBE56C6206}" v="6" dt="2024-12-17T09:49:44.5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34" autoAdjust="0"/>
  </p:normalViewPr>
  <p:slideViewPr>
    <p:cSldViewPr>
      <p:cViewPr varScale="1">
        <p:scale>
          <a:sx n="85" d="100"/>
          <a:sy n="85" d="100"/>
        </p:scale>
        <p:origin x="740" y="60"/>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YANARAMAN P" userId="241a2185-dcfb-40b2-a4bf-57545f72f137" providerId="ADAL" clId="{81AE23E6-17F6-4CAB-A2BA-B9CBE56C6206}"/>
    <pc:docChg chg="modSld">
      <pc:chgData name="KALYANARAMAN P" userId="241a2185-dcfb-40b2-a4bf-57545f72f137" providerId="ADAL" clId="{81AE23E6-17F6-4CAB-A2BA-B9CBE56C6206}" dt="2024-12-17T09:49:44.510" v="5" actId="113"/>
      <pc:docMkLst>
        <pc:docMk/>
      </pc:docMkLst>
      <pc:sldChg chg="modSp">
        <pc:chgData name="KALYANARAMAN P" userId="241a2185-dcfb-40b2-a4bf-57545f72f137" providerId="ADAL" clId="{81AE23E6-17F6-4CAB-A2BA-B9CBE56C6206}" dt="2024-12-17T09:48:57.302" v="2" actId="113"/>
        <pc:sldMkLst>
          <pc:docMk/>
          <pc:sldMk cId="2517141748" sldId="501"/>
        </pc:sldMkLst>
        <pc:spChg chg="mod">
          <ac:chgData name="KALYANARAMAN P" userId="241a2185-dcfb-40b2-a4bf-57545f72f137" providerId="ADAL" clId="{81AE23E6-17F6-4CAB-A2BA-B9CBE56C6206}" dt="2024-12-17T09:48:57.302" v="2" actId="113"/>
          <ac:spMkLst>
            <pc:docMk/>
            <pc:sldMk cId="2517141748" sldId="501"/>
            <ac:spMk id="2" creationId="{00000000-0000-0000-0000-000000000000}"/>
          </ac:spMkLst>
        </pc:spChg>
      </pc:sldChg>
      <pc:sldChg chg="modSp modAnim">
        <pc:chgData name="KALYANARAMAN P" userId="241a2185-dcfb-40b2-a4bf-57545f72f137" providerId="ADAL" clId="{81AE23E6-17F6-4CAB-A2BA-B9CBE56C6206}" dt="2024-12-17T09:49:44.510" v="5" actId="113"/>
        <pc:sldMkLst>
          <pc:docMk/>
          <pc:sldMk cId="604375200" sldId="502"/>
        </pc:sldMkLst>
        <pc:spChg chg="mod">
          <ac:chgData name="KALYANARAMAN P" userId="241a2185-dcfb-40b2-a4bf-57545f72f137" providerId="ADAL" clId="{81AE23E6-17F6-4CAB-A2BA-B9CBE56C6206}" dt="2024-12-17T09:49:44.510" v="5" actId="113"/>
          <ac:spMkLst>
            <pc:docMk/>
            <pc:sldMk cId="604375200" sldId="502"/>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mn-cs"/>
              </a:defRPr>
            </a:lvl1pPr>
          </a:lstStyle>
          <a:p>
            <a:pPr>
              <a:defRPr/>
            </a:pPr>
            <a:endParaRPr lang="en-US"/>
          </a:p>
        </p:txBody>
      </p:sp>
      <p:sp>
        <p:nvSpPr>
          <p:cNvPr id="1126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mn-cs"/>
              </a:defRPr>
            </a:lvl1pPr>
          </a:lstStyle>
          <a:p>
            <a:pPr>
              <a:defRPr/>
            </a:pPr>
            <a:endParaRPr lang="en-US"/>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14658C26-146D-4090-8B36-FB460AD4CAEF}" type="slidenum">
              <a:rPr lang="en-US" altLang="en-US"/>
              <a:pPr/>
              <a:t>‹#›</a:t>
            </a:fld>
            <a:endParaRPr lang="en-US" altLang="en-US"/>
          </a:p>
        </p:txBody>
      </p:sp>
    </p:spTree>
    <p:extLst>
      <p:ext uri="{BB962C8B-B14F-4D97-AF65-F5344CB8AC3E}">
        <p14:creationId xmlns:p14="http://schemas.microsoft.com/office/powerpoint/2010/main" val="16377732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26B5C110-89B0-4A3E-86D0-FA93F8DEE8B5}" type="slidenum">
              <a:rPr lang="en-US" altLang="en-US" sz="1200" smtClean="0">
                <a:latin typeface="Arial" pitchFamily="34" charset="0"/>
              </a:rPr>
              <a:pPr/>
              <a:t>1</a:t>
            </a:fld>
            <a:endParaRPr lang="en-US" altLang="en-US" sz="1200">
              <a:latin typeface="Arial" pitchFamily="34" charset="0"/>
            </a:endParaRPr>
          </a:p>
        </p:txBody>
      </p:sp>
      <p:sp>
        <p:nvSpPr>
          <p:cNvPr id="76803" name="Rectangle 2"/>
          <p:cNvSpPr>
            <a:spLocks noGrp="1" noRot="1" noChangeAspect="1" noChangeArrowheads="1" noTextEdit="1"/>
          </p:cNvSpPr>
          <p:nvPr>
            <p:ph type="sldImg"/>
          </p:nvPr>
        </p:nvSpPr>
        <p:spPr bwMode="auto">
          <a:xfrm>
            <a:off x="1144588" y="685800"/>
            <a:ext cx="4572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C9478F4B-4A95-47FB-A2F6-C48A58A79A2F}" type="slidenum">
              <a:rPr lang="en-US" altLang="en-US" smtClean="0"/>
              <a:pPr/>
              <a:t>44</a:t>
            </a:fld>
            <a:endParaRPr lang="en-US" altLang="en-US"/>
          </a:p>
        </p:txBody>
      </p:sp>
      <p:sp>
        <p:nvSpPr>
          <p:cNvPr id="51203" name="Rectangle 2"/>
          <p:cNvSpPr>
            <a:spLocks noGrp="1" noRot="1" noChangeAspect="1" noChangeArrowheads="1" noTextEdit="1"/>
          </p:cNvSpPr>
          <p:nvPr>
            <p:ph type="sldImg"/>
          </p:nvPr>
        </p:nvSpPr>
        <p:spPr>
          <a:xfrm>
            <a:off x="1144588" y="685800"/>
            <a:ext cx="4572000" cy="3429000"/>
          </a:xfrm>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2130426"/>
            <a:ext cx="7772400" cy="1470025"/>
          </a:xfrm>
        </p:spPr>
        <p:txBody>
          <a:bodyPr/>
          <a:lstStyle>
            <a:lvl1pPr>
              <a:defRPr sz="4000" b="0">
                <a:effectLst/>
              </a:defRPr>
            </a:lvl1pPr>
          </a:lstStyle>
          <a:p>
            <a:r>
              <a:rPr lang="en-US"/>
              <a:t>Click to edit Master title style</a:t>
            </a:r>
            <a:endParaRPr lang="en-US" dirty="0"/>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ftr" sz="quarter" idx="10"/>
          </p:nvPr>
        </p:nvSpPr>
        <p:spPr/>
        <p:txBody>
          <a:bodyPr/>
          <a:lstStyle>
            <a:lvl1pPr>
              <a:defRPr/>
            </a:lvl1pPr>
          </a:lstStyle>
          <a:p>
            <a:pPr>
              <a:defRPr/>
            </a:pPr>
            <a:r>
              <a:rPr lang="en-US">
                <a:solidFill>
                  <a:srgbClr val="000000"/>
                </a:solidFill>
              </a:rPr>
              <a:t>December 16, 2010</a:t>
            </a:r>
          </a:p>
        </p:txBody>
      </p:sp>
    </p:spTree>
    <p:extLst>
      <p:ext uri="{BB962C8B-B14F-4D97-AF65-F5344CB8AC3E}">
        <p14:creationId xmlns:p14="http://schemas.microsoft.com/office/powerpoint/2010/main" val="312878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0"/>
            <a:ext cx="6477000" cy="990600"/>
          </a:xfrm>
        </p:spPr>
        <p:txBody>
          <a:bodyPr/>
          <a:lstStyle>
            <a:lvl1pPr>
              <a:defRPr sz="3600" b="0">
                <a:effectLst/>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0345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ftr" sz="quarter" idx="10"/>
          </p:nvPr>
        </p:nvSpPr>
        <p:spPr>
          <a:ln/>
        </p:spPr>
        <p:txBody>
          <a:bodyPr/>
          <a:lstStyle>
            <a:lvl1pPr>
              <a:defRPr/>
            </a:lvl1pPr>
          </a:lstStyle>
          <a:p>
            <a:pPr>
              <a:defRPr/>
            </a:pPr>
            <a:r>
              <a:rPr lang="en-US">
                <a:solidFill>
                  <a:srgbClr val="000000"/>
                </a:solidFill>
              </a:rPr>
              <a:t>November 8, 2006</a:t>
            </a:r>
          </a:p>
        </p:txBody>
      </p:sp>
    </p:spTree>
    <p:extLst>
      <p:ext uri="{BB962C8B-B14F-4D97-AF65-F5344CB8AC3E}">
        <p14:creationId xmlns:p14="http://schemas.microsoft.com/office/powerpoint/2010/main" val="2498920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1"/>
            <a:ext cx="4038600" cy="3916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1"/>
            <a:ext cx="4038600" cy="3916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ftr" sz="quarter" idx="10"/>
          </p:nvPr>
        </p:nvSpPr>
        <p:spPr>
          <a:ln/>
        </p:spPr>
        <p:txBody>
          <a:bodyPr/>
          <a:lstStyle>
            <a:lvl1pPr>
              <a:defRPr/>
            </a:lvl1pPr>
          </a:lstStyle>
          <a:p>
            <a:pPr>
              <a:defRPr/>
            </a:pPr>
            <a:r>
              <a:rPr lang="en-US">
                <a:solidFill>
                  <a:srgbClr val="000000"/>
                </a:solidFill>
              </a:rPr>
              <a:t>November 8, 2006</a:t>
            </a:r>
          </a:p>
        </p:txBody>
      </p:sp>
    </p:spTree>
    <p:extLst>
      <p:ext uri="{BB962C8B-B14F-4D97-AF65-F5344CB8AC3E}">
        <p14:creationId xmlns:p14="http://schemas.microsoft.com/office/powerpoint/2010/main" val="1835891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800" y="-76200"/>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7087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24264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0338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57394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ftr" sz="quarter" idx="10"/>
          </p:nvPr>
        </p:nvSpPr>
        <p:spPr>
          <a:ln/>
        </p:spPr>
        <p:txBody>
          <a:bodyPr/>
          <a:lstStyle>
            <a:lvl1pPr>
              <a:defRPr/>
            </a:lvl1pPr>
          </a:lstStyle>
          <a:p>
            <a:pPr>
              <a:defRPr/>
            </a:pPr>
            <a:r>
              <a:rPr lang="en-US">
                <a:solidFill>
                  <a:srgbClr val="000000"/>
                </a:solidFill>
              </a:rPr>
              <a:t>November 8, 2006</a:t>
            </a:r>
          </a:p>
        </p:txBody>
      </p:sp>
    </p:spTree>
    <p:extLst>
      <p:ext uri="{BB962C8B-B14F-4D97-AF65-F5344CB8AC3E}">
        <p14:creationId xmlns:p14="http://schemas.microsoft.com/office/powerpoint/2010/main" val="2632618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ln/>
        </p:spPr>
        <p:txBody>
          <a:bodyPr/>
          <a:lstStyle>
            <a:lvl1pPr>
              <a:defRPr/>
            </a:lvl1pPr>
          </a:lstStyle>
          <a:p>
            <a:pPr>
              <a:defRPr/>
            </a:pPr>
            <a:r>
              <a:rPr lang="en-US">
                <a:solidFill>
                  <a:srgbClr val="000000"/>
                </a:solidFill>
              </a:rPr>
              <a:t>November 8, 2006</a:t>
            </a:r>
          </a:p>
        </p:txBody>
      </p:sp>
    </p:spTree>
    <p:extLst>
      <p:ext uri="{BB962C8B-B14F-4D97-AF65-F5344CB8AC3E}">
        <p14:creationId xmlns:p14="http://schemas.microsoft.com/office/powerpoint/2010/main" val="3967300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90601"/>
            <a:ext cx="2057400" cy="4906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90601"/>
            <a:ext cx="6019800" cy="4906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ln/>
        </p:spPr>
        <p:txBody>
          <a:bodyPr/>
          <a:lstStyle>
            <a:lvl1pPr>
              <a:defRPr/>
            </a:lvl1pPr>
          </a:lstStyle>
          <a:p>
            <a:pPr>
              <a:defRPr/>
            </a:pPr>
            <a:r>
              <a:rPr lang="en-US">
                <a:solidFill>
                  <a:srgbClr val="000000"/>
                </a:solidFill>
              </a:rPr>
              <a:t>November 8, 2006</a:t>
            </a:r>
          </a:p>
        </p:txBody>
      </p:sp>
    </p:spTree>
    <p:extLst>
      <p:ext uri="{BB962C8B-B14F-4D97-AF65-F5344CB8AC3E}">
        <p14:creationId xmlns:p14="http://schemas.microsoft.com/office/powerpoint/2010/main" val="11495603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990600"/>
          </a:xfrm>
        </p:spPr>
        <p:txBody>
          <a:bodyPr/>
          <a:lstStyle/>
          <a:p>
            <a:r>
              <a:rPr lang="en-US"/>
              <a:t>Click to edit Master title style</a:t>
            </a:r>
          </a:p>
        </p:txBody>
      </p:sp>
      <p:sp>
        <p:nvSpPr>
          <p:cNvPr id="3" name="Content Placeholder 2"/>
          <p:cNvSpPr>
            <a:spLocks noGrp="1"/>
          </p:cNvSpPr>
          <p:nvPr>
            <p:ph sz="half" idx="1"/>
          </p:nvPr>
        </p:nvSpPr>
        <p:spPr>
          <a:xfrm>
            <a:off x="457200" y="1981201"/>
            <a:ext cx="4038600"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1"/>
            <a:ext cx="4038600" cy="188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14789"/>
            <a:ext cx="4038600" cy="188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p:cNvSpPr>
            <a:spLocks noGrp="1" noChangeArrowheads="1"/>
          </p:cNvSpPr>
          <p:nvPr>
            <p:ph type="ftr" sz="quarter" idx="10"/>
          </p:nvPr>
        </p:nvSpPr>
        <p:spPr>
          <a:ln/>
        </p:spPr>
        <p:txBody>
          <a:bodyPr/>
          <a:lstStyle>
            <a:lvl1pPr>
              <a:defRPr/>
            </a:lvl1pPr>
          </a:lstStyle>
          <a:p>
            <a:pPr>
              <a:defRPr/>
            </a:pPr>
            <a:r>
              <a:rPr lang="en-US">
                <a:solidFill>
                  <a:srgbClr val="000000"/>
                </a:solidFill>
              </a:rPr>
              <a:t>November 8, 2006</a:t>
            </a:r>
          </a:p>
        </p:txBody>
      </p:sp>
    </p:spTree>
    <p:extLst>
      <p:ext uri="{BB962C8B-B14F-4D97-AF65-F5344CB8AC3E}">
        <p14:creationId xmlns:p14="http://schemas.microsoft.com/office/powerpoint/2010/main" val="1958525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Media" preserve="1">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990600"/>
          </a:xfrm>
        </p:spPr>
        <p:txBody>
          <a:bodyPr/>
          <a:lstStyle/>
          <a:p>
            <a:r>
              <a:rPr lang="en-US"/>
              <a:t>Click to edit Master title style</a:t>
            </a:r>
          </a:p>
        </p:txBody>
      </p:sp>
      <p:sp>
        <p:nvSpPr>
          <p:cNvPr id="3" name="Text Placeholder 2"/>
          <p:cNvSpPr>
            <a:spLocks noGrp="1"/>
          </p:cNvSpPr>
          <p:nvPr>
            <p:ph type="body" sz="half" idx="1"/>
          </p:nvPr>
        </p:nvSpPr>
        <p:spPr>
          <a:xfrm>
            <a:off x="457200" y="1981201"/>
            <a:ext cx="4038600"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Media Placeholder 3"/>
          <p:cNvSpPr>
            <a:spLocks noGrp="1"/>
          </p:cNvSpPr>
          <p:nvPr>
            <p:ph type="media" sz="half" idx="2"/>
          </p:nvPr>
        </p:nvSpPr>
        <p:spPr>
          <a:xfrm>
            <a:off x="4648200" y="1981201"/>
            <a:ext cx="4038600" cy="3916363"/>
          </a:xfrm>
        </p:spPr>
        <p:txBody>
          <a:bodyPr/>
          <a:lstStyle/>
          <a:p>
            <a:pPr lvl="0"/>
            <a:r>
              <a:rPr lang="en-US" noProof="0"/>
              <a:t>Click icon to add media</a:t>
            </a:r>
          </a:p>
        </p:txBody>
      </p:sp>
      <p:sp>
        <p:nvSpPr>
          <p:cNvPr id="5" name="Rectangle 8"/>
          <p:cNvSpPr>
            <a:spLocks noGrp="1" noChangeArrowheads="1"/>
          </p:cNvSpPr>
          <p:nvPr>
            <p:ph type="ftr" sz="quarter" idx="10"/>
          </p:nvPr>
        </p:nvSpPr>
        <p:spPr>
          <a:ln/>
        </p:spPr>
        <p:txBody>
          <a:bodyPr/>
          <a:lstStyle>
            <a:lvl1pPr>
              <a:defRPr/>
            </a:lvl1pPr>
          </a:lstStyle>
          <a:p>
            <a:pPr>
              <a:defRPr/>
            </a:pPr>
            <a:r>
              <a:rPr lang="en-US">
                <a:solidFill>
                  <a:srgbClr val="000000"/>
                </a:solidFill>
              </a:rPr>
              <a:t>November 8, 2006</a:t>
            </a:r>
          </a:p>
        </p:txBody>
      </p:sp>
    </p:spTree>
    <p:extLst>
      <p:ext uri="{BB962C8B-B14F-4D97-AF65-F5344CB8AC3E}">
        <p14:creationId xmlns:p14="http://schemas.microsoft.com/office/powerpoint/2010/main" val="20105577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990601"/>
            <a:ext cx="8229600" cy="490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8"/>
          <p:cNvSpPr>
            <a:spLocks noGrp="1" noChangeArrowheads="1"/>
          </p:cNvSpPr>
          <p:nvPr>
            <p:ph type="ftr" sz="quarter" idx="10"/>
          </p:nvPr>
        </p:nvSpPr>
        <p:spPr>
          <a:ln/>
        </p:spPr>
        <p:txBody>
          <a:bodyPr/>
          <a:lstStyle>
            <a:lvl1pPr>
              <a:defRPr/>
            </a:lvl1pPr>
          </a:lstStyle>
          <a:p>
            <a:pPr>
              <a:defRPr/>
            </a:pPr>
            <a:r>
              <a:rPr lang="en-US">
                <a:solidFill>
                  <a:srgbClr val="000000"/>
                </a:solidFill>
              </a:rPr>
              <a:t>November 8, 2006</a:t>
            </a:r>
          </a:p>
        </p:txBody>
      </p:sp>
    </p:spTree>
    <p:extLst>
      <p:ext uri="{BB962C8B-B14F-4D97-AF65-F5344CB8AC3E}">
        <p14:creationId xmlns:p14="http://schemas.microsoft.com/office/powerpoint/2010/main" val="47082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457200" y="1295400"/>
            <a:ext cx="82296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2" name="Rectangle 8"/>
          <p:cNvSpPr>
            <a:spLocks noGrp="1" noChangeArrowheads="1"/>
          </p:cNvSpPr>
          <p:nvPr>
            <p:ph type="ftr" sz="quarter" idx="3"/>
          </p:nvPr>
        </p:nvSpPr>
        <p:spPr bwMode="auto">
          <a:xfrm>
            <a:off x="3124200" y="6477000"/>
            <a:ext cx="2895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itchFamily="34" charset="0"/>
                <a:ea typeface="+mn-ea"/>
              </a:defRPr>
            </a:lvl1pPr>
          </a:lstStyle>
          <a:p>
            <a:pPr eaLnBrk="1" hangingPunct="1">
              <a:defRPr/>
            </a:pPr>
            <a:r>
              <a:rPr lang="en-US">
                <a:solidFill>
                  <a:srgbClr val="000000"/>
                </a:solidFill>
                <a:cs typeface="+mn-cs"/>
              </a:rPr>
              <a:t>November 8, 2006</a:t>
            </a:r>
          </a:p>
        </p:txBody>
      </p:sp>
      <p:sp>
        <p:nvSpPr>
          <p:cNvPr id="1028" name="Rectangle 2"/>
          <p:cNvSpPr>
            <a:spLocks noGrp="1" noChangeArrowheads="1"/>
          </p:cNvSpPr>
          <p:nvPr>
            <p:ph type="title"/>
          </p:nvPr>
        </p:nvSpPr>
        <p:spPr bwMode="auto">
          <a:xfrm>
            <a:off x="1524000" y="0"/>
            <a:ext cx="6172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Tree>
    <p:extLst>
      <p:ext uri="{BB962C8B-B14F-4D97-AF65-F5344CB8AC3E}">
        <p14:creationId xmlns:p14="http://schemas.microsoft.com/office/powerpoint/2010/main" val="1171105952"/>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Lst>
  <p:hf sldNum="0" hdr="0" dt="0"/>
  <p:txStyles>
    <p:titleStyle>
      <a:lvl1pPr algn="ctr" rtl="0" eaLnBrk="1" fontAlgn="base" hangingPunct="1">
        <a:spcBef>
          <a:spcPct val="0"/>
        </a:spcBef>
        <a:spcAft>
          <a:spcPct val="0"/>
        </a:spcAft>
        <a:defRPr sz="3600">
          <a:solidFill>
            <a:schemeClr val="tx1"/>
          </a:solidFill>
          <a:latin typeface="+mj-lt"/>
          <a:ea typeface="ＭＳ Ｐゴシック" charset="0"/>
          <a:cs typeface="+mj-cs"/>
        </a:defRPr>
      </a:lvl1pPr>
      <a:lvl2pPr algn="ctr" rtl="0" eaLnBrk="1" fontAlgn="base" hangingPunct="1">
        <a:spcBef>
          <a:spcPct val="0"/>
        </a:spcBef>
        <a:spcAft>
          <a:spcPct val="0"/>
        </a:spcAft>
        <a:defRPr sz="3600">
          <a:solidFill>
            <a:schemeClr val="tx1"/>
          </a:solidFill>
          <a:latin typeface="Arial" pitchFamily="34" charset="0"/>
          <a:ea typeface="ＭＳ Ｐゴシック" charset="0"/>
        </a:defRPr>
      </a:lvl2pPr>
      <a:lvl3pPr algn="ctr" rtl="0" eaLnBrk="1" fontAlgn="base" hangingPunct="1">
        <a:spcBef>
          <a:spcPct val="0"/>
        </a:spcBef>
        <a:spcAft>
          <a:spcPct val="0"/>
        </a:spcAft>
        <a:defRPr sz="3600">
          <a:solidFill>
            <a:schemeClr val="tx1"/>
          </a:solidFill>
          <a:latin typeface="Arial" pitchFamily="34" charset="0"/>
          <a:ea typeface="ＭＳ Ｐゴシック" charset="0"/>
        </a:defRPr>
      </a:lvl3pPr>
      <a:lvl4pPr algn="ctr" rtl="0" eaLnBrk="1" fontAlgn="base" hangingPunct="1">
        <a:spcBef>
          <a:spcPct val="0"/>
        </a:spcBef>
        <a:spcAft>
          <a:spcPct val="0"/>
        </a:spcAft>
        <a:defRPr sz="3600">
          <a:solidFill>
            <a:schemeClr val="tx1"/>
          </a:solidFill>
          <a:latin typeface="Arial" pitchFamily="34" charset="0"/>
          <a:ea typeface="ＭＳ Ｐゴシック" charset="0"/>
        </a:defRPr>
      </a:lvl4pPr>
      <a:lvl5pPr algn="ctr" rtl="0" eaLnBrk="1" fontAlgn="base" hangingPunct="1">
        <a:spcBef>
          <a:spcPct val="0"/>
        </a:spcBef>
        <a:spcAft>
          <a:spcPct val="0"/>
        </a:spcAft>
        <a:defRPr sz="3600">
          <a:solidFill>
            <a:schemeClr val="tx1"/>
          </a:solidFill>
          <a:latin typeface="Arial" pitchFamily="34" charset="0"/>
          <a:ea typeface="ＭＳ Ｐゴシック" charset="0"/>
        </a:defRPr>
      </a:lvl5pPr>
      <a:lvl6pPr marL="457200" algn="l" rtl="0" eaLnBrk="1" fontAlgn="base" hangingPunct="1">
        <a:spcBef>
          <a:spcPct val="0"/>
        </a:spcBef>
        <a:spcAft>
          <a:spcPct val="0"/>
        </a:spcAft>
        <a:defRPr sz="4400">
          <a:solidFill>
            <a:schemeClr val="tx2"/>
          </a:solidFill>
          <a:latin typeface="Arial" pitchFamily="34" charset="0"/>
        </a:defRPr>
      </a:lvl6pPr>
      <a:lvl7pPr marL="914400" algn="l" rtl="0" eaLnBrk="1" fontAlgn="base" hangingPunct="1">
        <a:spcBef>
          <a:spcPct val="0"/>
        </a:spcBef>
        <a:spcAft>
          <a:spcPct val="0"/>
        </a:spcAft>
        <a:defRPr sz="4400">
          <a:solidFill>
            <a:schemeClr val="tx2"/>
          </a:solidFill>
          <a:latin typeface="Arial" pitchFamily="34" charset="0"/>
        </a:defRPr>
      </a:lvl7pPr>
      <a:lvl8pPr marL="1371600" algn="l" rtl="0" eaLnBrk="1" fontAlgn="base" hangingPunct="1">
        <a:spcBef>
          <a:spcPct val="0"/>
        </a:spcBef>
        <a:spcAft>
          <a:spcPct val="0"/>
        </a:spcAft>
        <a:defRPr sz="4400">
          <a:solidFill>
            <a:schemeClr val="tx2"/>
          </a:solidFill>
          <a:latin typeface="Arial" pitchFamily="34" charset="0"/>
        </a:defRPr>
      </a:lvl8pPr>
      <a:lvl9pPr marL="1828800" algn="l" rtl="0" eaLnBrk="1" fontAlgn="base" hangingPunct="1">
        <a:spcBef>
          <a:spcPct val="0"/>
        </a:spcBef>
        <a:spcAft>
          <a:spcPct val="0"/>
        </a:spcAft>
        <a:defRPr sz="4400">
          <a:solidFill>
            <a:schemeClr val="tx2"/>
          </a:solidFill>
          <a:latin typeface="Arial" pitchFamily="34" charset="0"/>
        </a:defRPr>
      </a:lvl9pPr>
    </p:titleStyle>
    <p:bodyStyle>
      <a:lvl1pPr marL="342900" indent="-342900" algn="l" rtl="0" eaLnBrk="1" fontAlgn="base" hangingPunct="1">
        <a:spcBef>
          <a:spcPct val="20000"/>
        </a:spcBef>
        <a:spcAft>
          <a:spcPct val="0"/>
        </a:spcAft>
        <a:buSzPct val="75000"/>
        <a:buBlip>
          <a:blip r:embed="rId16"/>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17"/>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18"/>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g"/></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5" descr="C:\Users\Admin\Desktop\VIT new 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25" y="5486400"/>
            <a:ext cx="2952750"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ctrTitle"/>
          </p:nvPr>
        </p:nvSpPr>
        <p:spPr/>
        <p:txBody>
          <a:bodyPr/>
          <a:lstStyle/>
          <a:p>
            <a:r>
              <a:rPr lang="en-US" altLang="en-US" b="1" dirty="0">
                <a:solidFill>
                  <a:srgbClr val="C00000"/>
                </a:solidFill>
                <a:latin typeface="CG Omega" pitchFamily="34" charset="0"/>
              </a:rPr>
              <a:t>BCSE206L   FOUNDATIONS OF DATA SCIENCE</a:t>
            </a:r>
            <a:br>
              <a:rPr lang="en-US" altLang="en-US" b="1" dirty="0">
                <a:solidFill>
                  <a:srgbClr val="C00000"/>
                </a:solidFill>
                <a:latin typeface="CG Omega" pitchFamily="34" charset="0"/>
              </a:rPr>
            </a:br>
            <a:endParaRPr lang="en-US" dirty="0"/>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43157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
          <p:cNvSpPr>
            <a:spLocks noChangeArrowheads="1"/>
          </p:cNvSpPr>
          <p:nvPr/>
        </p:nvSpPr>
        <p:spPr bwMode="auto">
          <a:xfrm>
            <a:off x="381000" y="1981200"/>
            <a:ext cx="8763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lgn="ctr" eaLnBrk="1" hangingPunct="1">
              <a:lnSpc>
                <a:spcPct val="150000"/>
              </a:lnSpc>
              <a:defRPr/>
            </a:pPr>
            <a:r>
              <a:rPr lang="en-US" altLang="en-US" b="1" u="sng" dirty="0">
                <a:solidFill>
                  <a:srgbClr val="009900"/>
                </a:solidFill>
                <a:latin typeface="Century Gothic" pitchFamily="34" charset="0"/>
              </a:rPr>
              <a:t>Module – 1 </a:t>
            </a:r>
          </a:p>
          <a:p>
            <a:pPr algn="ctr" eaLnBrk="1" hangingPunct="1">
              <a:lnSpc>
                <a:spcPct val="150000"/>
              </a:lnSpc>
              <a:defRPr/>
            </a:pPr>
            <a:endParaRPr lang="en-US" altLang="en-US" sz="1000" b="1" u="sng" dirty="0">
              <a:latin typeface="Century Gothic" pitchFamily="34" charset="0"/>
            </a:endParaRPr>
          </a:p>
          <a:p>
            <a:pPr algn="ctr" eaLnBrk="1" hangingPunct="1">
              <a:lnSpc>
                <a:spcPct val="150000"/>
              </a:lnSpc>
              <a:defRPr/>
            </a:pPr>
            <a:r>
              <a:rPr lang="en-US" altLang="en-US" sz="2500" b="1" dirty="0">
                <a:solidFill>
                  <a:srgbClr val="C00000"/>
                </a:solidFill>
                <a:latin typeface="Century Gothic" pitchFamily="34" charset="0"/>
              </a:rPr>
              <a:t>DATA SCIENCE CONTEXT</a:t>
            </a:r>
          </a:p>
        </p:txBody>
      </p:sp>
      <p:sp>
        <p:nvSpPr>
          <p:cNvPr id="14339" name="Slide Number Placeholder 3"/>
          <p:cNvSpPr>
            <a:spLocks noGrp="1"/>
          </p:cNvSpPr>
          <p:nvPr>
            <p:ph type="sldNum" sz="quarter" idx="4294967295"/>
          </p:nvPr>
        </p:nvSpPr>
        <p:spPr>
          <a:xfrm>
            <a:off x="7864475" y="6224588"/>
            <a:ext cx="1279525" cy="365125"/>
          </a:xfrm>
          <a:prstGeom prst="rect">
            <a:avLst/>
          </a:prstGeom>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8E6EE9A7-7D1D-4B55-9F13-3A7704DE06A4}" type="slidenum">
              <a:rPr lang="en-US" altLang="en-US" smtClean="0"/>
              <a:pPr/>
              <a:t>2</a:t>
            </a:fld>
            <a:endParaRPr lang="en-US" altLang="en-US"/>
          </a:p>
        </p:txBody>
      </p:sp>
      <p:sp>
        <p:nvSpPr>
          <p:cNvPr id="6149" name="Rectangle 6"/>
          <p:cNvSpPr>
            <a:spLocks noChangeArrowheads="1"/>
          </p:cNvSpPr>
          <p:nvPr/>
        </p:nvSpPr>
        <p:spPr bwMode="auto">
          <a:xfrm>
            <a:off x="708025" y="3810000"/>
            <a:ext cx="7804150" cy="2246769"/>
          </a:xfrm>
          <a:prstGeom prst="rect">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marL="342900" indent="-342900">
              <a:buFont typeface="Wingdings" panose="05000000000000000000" pitchFamily="2" charset="2"/>
              <a:buChar char="v"/>
            </a:pPr>
            <a:r>
              <a:rPr lang="en-IN" sz="2000" dirty="0">
                <a:solidFill>
                  <a:srgbClr val="009900"/>
                </a:solidFill>
              </a:rPr>
              <a:t>What is Data Science</a:t>
            </a:r>
          </a:p>
          <a:p>
            <a:pPr marL="342900" indent="-342900">
              <a:buFont typeface="Wingdings" panose="05000000000000000000" pitchFamily="2" charset="2"/>
              <a:buChar char="v"/>
            </a:pPr>
            <a:endParaRPr lang="en-IN" sz="2000" dirty="0">
              <a:solidFill>
                <a:srgbClr val="009900"/>
              </a:solidFill>
            </a:endParaRPr>
          </a:p>
          <a:p>
            <a:pPr marL="342900" indent="-342900">
              <a:buFont typeface="Wingdings" panose="05000000000000000000" pitchFamily="2" charset="2"/>
              <a:buChar char="v"/>
            </a:pPr>
            <a:r>
              <a:rPr lang="en-IN" sz="2000" dirty="0">
                <a:solidFill>
                  <a:srgbClr val="FF0000"/>
                </a:solidFill>
              </a:rPr>
              <a:t>Data Science Process</a:t>
            </a:r>
          </a:p>
          <a:p>
            <a:pPr marL="342900" indent="-342900">
              <a:buFont typeface="Wingdings" panose="05000000000000000000" pitchFamily="2" charset="2"/>
              <a:buChar char="v"/>
            </a:pPr>
            <a:endParaRPr lang="en-IN" sz="2000" dirty="0">
              <a:solidFill>
                <a:srgbClr val="009900"/>
              </a:solidFill>
            </a:endParaRPr>
          </a:p>
          <a:p>
            <a:pPr marL="342900" indent="-342900">
              <a:buFont typeface="Wingdings" panose="05000000000000000000" pitchFamily="2" charset="2"/>
              <a:buChar char="v"/>
            </a:pPr>
            <a:r>
              <a:rPr lang="en-IN" sz="2000" dirty="0">
                <a:solidFill>
                  <a:srgbClr val="6600CC"/>
                </a:solidFill>
              </a:rPr>
              <a:t>BI and Data Science</a:t>
            </a:r>
            <a:r>
              <a:rPr lang="en-IN" sz="2000" dirty="0">
                <a:solidFill>
                  <a:srgbClr val="009900"/>
                </a:solidFill>
              </a:rPr>
              <a:t>	</a:t>
            </a:r>
          </a:p>
          <a:p>
            <a:pPr marL="342900" indent="-342900">
              <a:buFont typeface="Wingdings" panose="05000000000000000000" pitchFamily="2" charset="2"/>
              <a:buChar char="v"/>
            </a:pPr>
            <a:endParaRPr lang="en-IN" sz="2000" dirty="0">
              <a:solidFill>
                <a:srgbClr val="009900"/>
              </a:solidFill>
            </a:endParaRPr>
          </a:p>
          <a:p>
            <a:pPr marL="342900" indent="-342900">
              <a:buFont typeface="Wingdings" panose="05000000000000000000" pitchFamily="2" charset="2"/>
              <a:buChar char="v"/>
            </a:pPr>
            <a:r>
              <a:rPr lang="en-IN" sz="2000" dirty="0">
                <a:solidFill>
                  <a:schemeClr val="accent3">
                    <a:lumMod val="75000"/>
                  </a:schemeClr>
                </a:solidFill>
              </a:rPr>
              <a:t>Tools and Skills</a:t>
            </a:r>
            <a:r>
              <a:rPr lang="en-IN" sz="2000" dirty="0">
                <a:solidFill>
                  <a:srgbClr val="009900"/>
                </a:solidFill>
              </a:rPr>
              <a:t>	</a:t>
            </a:r>
          </a:p>
        </p:txBody>
      </p:sp>
    </p:spTree>
    <p:extLst>
      <p:ext uri="{BB962C8B-B14F-4D97-AF65-F5344CB8AC3E}">
        <p14:creationId xmlns:p14="http://schemas.microsoft.com/office/powerpoint/2010/main" val="3906946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b="1" dirty="0">
                <a:solidFill>
                  <a:srgbClr val="C00000"/>
                </a:solidFill>
                <a:latin typeface="Century Gothic" pitchFamily="34" charset="0"/>
              </a:rPr>
              <a:t>DATA SCIENCE CONTEXT</a:t>
            </a:r>
            <a:br>
              <a:rPr lang="en-US" altLang="en-US" b="1" dirty="0">
                <a:solidFill>
                  <a:srgbClr val="C00000"/>
                </a:solidFill>
                <a:latin typeface="Century Gothic" pitchFamily="34" charset="0"/>
              </a:rPr>
            </a:br>
            <a:endParaRPr lang="en-US" dirty="0"/>
          </a:p>
        </p:txBody>
      </p:sp>
      <p:sp>
        <p:nvSpPr>
          <p:cNvPr id="5" name="Content Placeholder 4"/>
          <p:cNvSpPr>
            <a:spLocks noGrp="1"/>
          </p:cNvSpPr>
          <p:nvPr>
            <p:ph idx="1"/>
          </p:nvPr>
        </p:nvSpPr>
        <p:spPr/>
        <p:txBody>
          <a:bodyPr/>
          <a:lstStyle/>
          <a:p>
            <a:pPr>
              <a:buFont typeface="Wingdings" panose="05000000000000000000" pitchFamily="2" charset="2"/>
              <a:buChar char="v"/>
            </a:pPr>
            <a:r>
              <a:rPr lang="en-IN" dirty="0">
                <a:solidFill>
                  <a:srgbClr val="009900"/>
                </a:solidFill>
              </a:rPr>
              <a:t>What is Data Science</a:t>
            </a:r>
          </a:p>
          <a:p>
            <a:pPr>
              <a:buFont typeface="Wingdings" panose="05000000000000000000" pitchFamily="2" charset="2"/>
              <a:buChar char="v"/>
            </a:pPr>
            <a:r>
              <a:rPr lang="en-IN" dirty="0">
                <a:solidFill>
                  <a:srgbClr val="FF0000"/>
                </a:solidFill>
              </a:rPr>
              <a:t>Data Science Process</a:t>
            </a:r>
          </a:p>
          <a:p>
            <a:pPr>
              <a:buFont typeface="Wingdings" panose="05000000000000000000" pitchFamily="2" charset="2"/>
              <a:buChar char="v"/>
            </a:pPr>
            <a:r>
              <a:rPr lang="en-IN" dirty="0">
                <a:solidFill>
                  <a:srgbClr val="6600CC"/>
                </a:solidFill>
              </a:rPr>
              <a:t>BI and Data Science</a:t>
            </a:r>
            <a:r>
              <a:rPr lang="en-IN" dirty="0">
                <a:solidFill>
                  <a:srgbClr val="009900"/>
                </a:solidFill>
              </a:rPr>
              <a:t>	</a:t>
            </a:r>
          </a:p>
          <a:p>
            <a:pPr>
              <a:buFont typeface="Wingdings" panose="05000000000000000000" pitchFamily="2" charset="2"/>
              <a:buChar char="v"/>
            </a:pPr>
            <a:r>
              <a:rPr lang="en-IN" dirty="0">
                <a:solidFill>
                  <a:schemeClr val="accent3">
                    <a:lumMod val="75000"/>
                  </a:schemeClr>
                </a:solidFill>
              </a:rPr>
              <a:t>Tools and Skills</a:t>
            </a:r>
            <a:endParaRPr lang="en-US" dirty="0"/>
          </a:p>
        </p:txBody>
      </p:sp>
    </p:spTree>
    <p:extLst>
      <p:ext uri="{BB962C8B-B14F-4D97-AF65-F5344CB8AC3E}">
        <p14:creationId xmlns:p14="http://schemas.microsoft.com/office/powerpoint/2010/main" val="1487908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a:t>Outline</a:t>
            </a:r>
          </a:p>
        </p:txBody>
      </p:sp>
      <p:sp>
        <p:nvSpPr>
          <p:cNvPr id="10243" name="Content Placeholder 2"/>
          <p:cNvSpPr>
            <a:spLocks noGrp="1"/>
          </p:cNvSpPr>
          <p:nvPr>
            <p:ph idx="1"/>
          </p:nvPr>
        </p:nvSpPr>
        <p:spPr/>
        <p:txBody>
          <a:bodyPr/>
          <a:lstStyle/>
          <a:p>
            <a:r>
              <a:rPr lang="en-US" altLang="en-US"/>
              <a:t>Data, Big Data and Challenges</a:t>
            </a:r>
          </a:p>
          <a:p>
            <a:r>
              <a:rPr lang="en-US" altLang="en-US"/>
              <a:t>Data Science</a:t>
            </a:r>
          </a:p>
          <a:p>
            <a:pPr lvl="1"/>
            <a:r>
              <a:rPr lang="en-US" altLang="en-US"/>
              <a:t>Introduction</a:t>
            </a:r>
          </a:p>
          <a:p>
            <a:pPr lvl="1"/>
            <a:r>
              <a:rPr lang="en-US" altLang="en-US"/>
              <a:t>Why Data Science</a:t>
            </a:r>
          </a:p>
          <a:p>
            <a:r>
              <a:rPr lang="en-US" altLang="en-US"/>
              <a:t>Data Scientists</a:t>
            </a:r>
          </a:p>
          <a:p>
            <a:pPr lvl="1"/>
            <a:r>
              <a:rPr lang="en-US" altLang="en-US"/>
              <a:t>What do they do?</a:t>
            </a:r>
          </a:p>
          <a:p>
            <a:r>
              <a:rPr lang="en-US" altLang="en-US"/>
              <a:t>Major/Concentration in Data Science</a:t>
            </a:r>
          </a:p>
          <a:p>
            <a:pPr lvl="1"/>
            <a:r>
              <a:rPr lang="en-US" altLang="en-US"/>
              <a:t>What courses to take.</a:t>
            </a:r>
            <a:endParaRPr lang="en-US" altLang="en-US" dirty="0"/>
          </a:p>
        </p:txBody>
      </p:sp>
    </p:spTree>
    <p:extLst>
      <p:ext uri="{BB962C8B-B14F-4D97-AF65-F5344CB8AC3E}">
        <p14:creationId xmlns:p14="http://schemas.microsoft.com/office/powerpoint/2010/main" val="459771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Science</a:t>
            </a:r>
            <a:endParaRPr lang="en-US" dirty="0"/>
          </a:p>
        </p:txBody>
      </p:sp>
      <p:sp>
        <p:nvSpPr>
          <p:cNvPr id="3" name="Content Placeholder 2"/>
          <p:cNvSpPr>
            <a:spLocks noGrp="1"/>
          </p:cNvSpPr>
          <p:nvPr>
            <p:ph idx="1"/>
          </p:nvPr>
        </p:nvSpPr>
        <p:spPr>
          <a:xfrm>
            <a:off x="457200" y="1295400"/>
            <a:ext cx="8229600" cy="4724400"/>
          </a:xfrm>
        </p:spPr>
        <p:txBody>
          <a:bodyPr/>
          <a:lstStyle/>
          <a:p>
            <a:r>
              <a:rPr lang="en-US" sz="2400" dirty="0"/>
              <a:t>is a combination of multiple disciplines that uses statistics, data analysis, and machine learning to analyze data and to extract knowledge and insights from it.</a:t>
            </a:r>
          </a:p>
          <a:p>
            <a:pPr lvl="1"/>
            <a:r>
              <a:rPr lang="en-US" sz="2400" dirty="0"/>
              <a:t>is about data gathering, analysis and decision-making.</a:t>
            </a:r>
          </a:p>
          <a:p>
            <a:pPr lvl="1"/>
            <a:r>
              <a:rPr lang="en-US" sz="2400" dirty="0"/>
              <a:t>is about finding patterns in data, through analysis, and make future predictions.</a:t>
            </a:r>
          </a:p>
          <a:p>
            <a:r>
              <a:rPr lang="en-US" sz="2400" dirty="0"/>
              <a:t>By using Data Science, companies are able to make:</a:t>
            </a:r>
          </a:p>
          <a:p>
            <a:pPr lvl="1"/>
            <a:r>
              <a:rPr lang="en-US" sz="2400" dirty="0"/>
              <a:t>Better decisions (should we choose A or B)</a:t>
            </a:r>
          </a:p>
          <a:p>
            <a:pPr lvl="1"/>
            <a:r>
              <a:rPr lang="en-US" sz="2400" dirty="0"/>
              <a:t>Predictive analysis (what will happen next?)</a:t>
            </a:r>
          </a:p>
          <a:p>
            <a:pPr lvl="1"/>
            <a:r>
              <a:rPr lang="en-US" sz="2400" dirty="0"/>
              <a:t>Pattern discoveries (find pattern, or maybe hidden information in the data)</a:t>
            </a:r>
          </a:p>
        </p:txBody>
      </p:sp>
      <p:sp>
        <p:nvSpPr>
          <p:cNvPr id="4" name="Slide Number Placeholder 3"/>
          <p:cNvSpPr>
            <a:spLocks noGrp="1"/>
          </p:cNvSpPr>
          <p:nvPr>
            <p:ph type="sldNum" sz="quarter" idx="4294967295"/>
          </p:nvPr>
        </p:nvSpPr>
        <p:spPr>
          <a:xfrm>
            <a:off x="7864475" y="6224588"/>
            <a:ext cx="1279525" cy="365125"/>
          </a:xfrm>
          <a:prstGeom prst="rect">
            <a:avLst/>
          </a:prstGeom>
        </p:spPr>
        <p:txBody>
          <a:bodyPr/>
          <a:lstStyle/>
          <a:p>
            <a:fld id="{F4D18B09-6FF3-4F83-907F-EA74177A711D}" type="slidenum">
              <a:rPr lang="en-US" altLang="en-US" smtClean="0"/>
              <a:pPr/>
              <a:t>5</a:t>
            </a:fld>
            <a:endParaRPr lang="en-US" altLang="en-US" dirty="0"/>
          </a:p>
        </p:txBody>
      </p:sp>
    </p:spTree>
    <p:extLst>
      <p:ext uri="{BB962C8B-B14F-4D97-AF65-F5344CB8AC3E}">
        <p14:creationId xmlns:p14="http://schemas.microsoft.com/office/powerpoint/2010/main" val="894282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a:t>What is Data Science?</a:t>
            </a:r>
            <a:endParaRPr lang="en-US" altLang="en-US" dirty="0"/>
          </a:p>
        </p:txBody>
      </p:sp>
      <p:sp>
        <p:nvSpPr>
          <p:cNvPr id="3" name="Content Placeholder 2"/>
          <p:cNvSpPr>
            <a:spLocks noGrp="1"/>
          </p:cNvSpPr>
          <p:nvPr>
            <p:ph idx="1"/>
          </p:nvPr>
        </p:nvSpPr>
        <p:spPr/>
        <p:txBody>
          <a:bodyPr/>
          <a:lstStyle/>
          <a:p>
            <a:r>
              <a:rPr lang="en-US"/>
              <a:t>An area that manages, manipulates, extracts, and interprets knowledge from tremendous amount of data</a:t>
            </a:r>
          </a:p>
          <a:p>
            <a:r>
              <a:rPr lang="en-US"/>
              <a:t>Data science (DS) is a multidisciplinary field of study with goal to address the challenges in big data</a:t>
            </a:r>
          </a:p>
          <a:p>
            <a:r>
              <a:rPr lang="en-US"/>
              <a:t>Data science principles apply to all data – big and small</a:t>
            </a:r>
            <a:endParaRPr lang="en-US" dirty="0"/>
          </a:p>
        </p:txBody>
      </p:sp>
    </p:spTree>
    <p:extLst>
      <p:ext uri="{BB962C8B-B14F-4D97-AF65-F5344CB8AC3E}">
        <p14:creationId xmlns:p14="http://schemas.microsoft.com/office/powerpoint/2010/main" val="3464447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Data Science?</a:t>
            </a:r>
            <a:endParaRPr lang="en-US" dirty="0"/>
          </a:p>
        </p:txBody>
      </p:sp>
      <p:sp>
        <p:nvSpPr>
          <p:cNvPr id="3" name="Content Placeholder 2"/>
          <p:cNvSpPr>
            <a:spLocks noGrp="1"/>
          </p:cNvSpPr>
          <p:nvPr>
            <p:ph idx="1"/>
          </p:nvPr>
        </p:nvSpPr>
        <p:spPr>
          <a:xfrm>
            <a:off x="457200" y="990600"/>
            <a:ext cx="8229600" cy="4953000"/>
          </a:xfrm>
        </p:spPr>
        <p:txBody>
          <a:bodyPr/>
          <a:lstStyle/>
          <a:p>
            <a:r>
              <a:rPr lang="en-US" sz="2400" dirty="0"/>
              <a:t>Theories and techniques from many fields and disciplines are used to investigate and analyze a large amount of data to help decision makers in many industries such as science, engineering, economics, politics, finance, and education</a:t>
            </a:r>
          </a:p>
          <a:p>
            <a:pPr lvl="1"/>
            <a:r>
              <a:rPr lang="en-US" sz="2400" dirty="0"/>
              <a:t>Computer Science</a:t>
            </a:r>
          </a:p>
          <a:p>
            <a:pPr lvl="2"/>
            <a:r>
              <a:rPr lang="en-US" dirty="0"/>
              <a:t>Pattern recognition, visualization, data warehousing, High performance computing, Databases, AI</a:t>
            </a:r>
          </a:p>
          <a:p>
            <a:pPr lvl="1"/>
            <a:r>
              <a:rPr lang="en-US" sz="2400" dirty="0"/>
              <a:t>Mathematics</a:t>
            </a:r>
          </a:p>
          <a:p>
            <a:pPr lvl="2"/>
            <a:r>
              <a:rPr lang="en-US" dirty="0"/>
              <a:t>Mathematical Modeling</a:t>
            </a:r>
          </a:p>
          <a:p>
            <a:pPr lvl="1"/>
            <a:r>
              <a:rPr lang="en-US" sz="2400" dirty="0"/>
              <a:t>Statistics</a:t>
            </a:r>
          </a:p>
          <a:p>
            <a:pPr lvl="2"/>
            <a:r>
              <a:rPr lang="en-US" dirty="0"/>
              <a:t>Statistical and Stochastic modeling, Probability.</a:t>
            </a:r>
          </a:p>
        </p:txBody>
      </p:sp>
    </p:spTree>
    <p:extLst>
      <p:ext uri="{BB962C8B-B14F-4D97-AF65-F5344CB8AC3E}">
        <p14:creationId xmlns:p14="http://schemas.microsoft.com/office/powerpoint/2010/main" val="863320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To Do With These Data?</a:t>
            </a:r>
            <a:endParaRPr lang="en-US" dirty="0"/>
          </a:p>
        </p:txBody>
      </p:sp>
      <p:sp>
        <p:nvSpPr>
          <p:cNvPr id="3" name="Content Placeholder 2"/>
          <p:cNvSpPr>
            <a:spLocks noGrp="1"/>
          </p:cNvSpPr>
          <p:nvPr>
            <p:ph idx="1"/>
          </p:nvPr>
        </p:nvSpPr>
        <p:spPr/>
        <p:txBody>
          <a:bodyPr/>
          <a:lstStyle/>
          <a:p>
            <a:r>
              <a:rPr lang="en-US"/>
              <a:t>Aggregation and Statistics </a:t>
            </a:r>
          </a:p>
          <a:p>
            <a:pPr lvl="1"/>
            <a:r>
              <a:rPr lang="en-US"/>
              <a:t>Data warehousing and OLAP</a:t>
            </a:r>
          </a:p>
          <a:p>
            <a:r>
              <a:rPr lang="en-US"/>
              <a:t>Indexing, Searching, and Querying</a:t>
            </a:r>
          </a:p>
          <a:p>
            <a:pPr lvl="1"/>
            <a:r>
              <a:rPr lang="en-US"/>
              <a:t>Keyword based search </a:t>
            </a:r>
          </a:p>
          <a:p>
            <a:pPr lvl="1"/>
            <a:r>
              <a:rPr lang="en-US"/>
              <a:t>Pattern matching (XML/RDF)</a:t>
            </a:r>
          </a:p>
          <a:p>
            <a:r>
              <a:rPr lang="en-US"/>
              <a:t>Knowledge discovery</a:t>
            </a:r>
          </a:p>
          <a:p>
            <a:pPr lvl="1"/>
            <a:r>
              <a:rPr lang="en-US"/>
              <a:t>Data Mining</a:t>
            </a:r>
          </a:p>
          <a:p>
            <a:pPr lvl="1"/>
            <a:r>
              <a:rPr lang="en-US"/>
              <a:t>Statistical Modeling</a:t>
            </a:r>
          </a:p>
          <a:p>
            <a:endParaRPr lang="en-US" dirty="0"/>
          </a:p>
        </p:txBody>
      </p:sp>
    </p:spTree>
    <p:extLst>
      <p:ext uri="{BB962C8B-B14F-4D97-AF65-F5344CB8AC3E}">
        <p14:creationId xmlns:p14="http://schemas.microsoft.com/office/powerpoint/2010/main" val="3983929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Science Relevant</a:t>
            </a:r>
            <a:endParaRPr lang="en-US" dirty="0"/>
          </a:p>
        </p:txBody>
      </p:sp>
      <p:sp>
        <p:nvSpPr>
          <p:cNvPr id="3" name="Content Placeholder 2"/>
          <p:cNvSpPr>
            <a:spLocks noGrp="1"/>
          </p:cNvSpPr>
          <p:nvPr>
            <p:ph idx="1"/>
          </p:nvPr>
        </p:nvSpPr>
        <p:spPr>
          <a:xfrm>
            <a:off x="457200" y="762000"/>
            <a:ext cx="8382000" cy="5791200"/>
          </a:xfrm>
        </p:spPr>
        <p:txBody>
          <a:bodyPr/>
          <a:lstStyle/>
          <a:p>
            <a:r>
              <a:rPr lang="en-US"/>
              <a:t>Data Science is used in many industries in the world today, e.g. banking, consultancy, healthcare, and manufacturing.</a:t>
            </a:r>
          </a:p>
          <a:p>
            <a:pPr lvl="1"/>
            <a:r>
              <a:rPr lang="en-US"/>
              <a:t>Examples of where Data Science is needed:</a:t>
            </a:r>
          </a:p>
          <a:p>
            <a:pPr lvl="2"/>
            <a:r>
              <a:rPr lang="en-US"/>
              <a:t>For route planning: To discover the best routes to ship</a:t>
            </a:r>
          </a:p>
          <a:p>
            <a:pPr lvl="2"/>
            <a:r>
              <a:rPr lang="en-US"/>
              <a:t>To foresee delays for flight/ship/train etc. (through predictive analysis)</a:t>
            </a:r>
          </a:p>
          <a:p>
            <a:pPr lvl="2"/>
            <a:r>
              <a:rPr lang="en-US"/>
              <a:t>To create promotional offers</a:t>
            </a:r>
          </a:p>
          <a:p>
            <a:pPr lvl="2"/>
            <a:r>
              <a:rPr lang="en-US"/>
              <a:t>To find the best suited time to deliver goods</a:t>
            </a:r>
          </a:p>
          <a:p>
            <a:pPr lvl="2"/>
            <a:r>
              <a:rPr lang="en-US"/>
              <a:t>To forecast the next years revenue for a company</a:t>
            </a:r>
          </a:p>
          <a:p>
            <a:pPr lvl="2"/>
            <a:r>
              <a:rPr lang="en-US"/>
              <a:t>To analyze health benefit of training</a:t>
            </a:r>
          </a:p>
          <a:p>
            <a:pPr lvl="2"/>
            <a:r>
              <a:rPr lang="en-US"/>
              <a:t>To predict who will win elections</a:t>
            </a:r>
          </a:p>
          <a:p>
            <a:endParaRPr lang="en-US" dirty="0"/>
          </a:p>
        </p:txBody>
      </p:sp>
      <p:sp>
        <p:nvSpPr>
          <p:cNvPr id="4" name="Slide Number Placeholder 3"/>
          <p:cNvSpPr>
            <a:spLocks noGrp="1"/>
          </p:cNvSpPr>
          <p:nvPr>
            <p:ph type="sldNum" sz="quarter" idx="4294967295"/>
          </p:nvPr>
        </p:nvSpPr>
        <p:spPr>
          <a:xfrm>
            <a:off x="7864475" y="6224588"/>
            <a:ext cx="1279525" cy="365125"/>
          </a:xfrm>
          <a:prstGeom prst="rect">
            <a:avLst/>
          </a:prstGeom>
        </p:spPr>
        <p:txBody>
          <a:bodyPr/>
          <a:lstStyle/>
          <a:p>
            <a:fld id="{F4D18B09-6FF3-4F83-907F-EA74177A711D}" type="slidenum">
              <a:rPr lang="en-US" altLang="en-US" smtClean="0"/>
              <a:pPr/>
              <a:t>9</a:t>
            </a:fld>
            <a:endParaRPr lang="en-US" altLang="en-US"/>
          </a:p>
        </p:txBody>
      </p:sp>
    </p:spTree>
    <p:extLst>
      <p:ext uri="{BB962C8B-B14F-4D97-AF65-F5344CB8AC3E}">
        <p14:creationId xmlns:p14="http://schemas.microsoft.com/office/powerpoint/2010/main" val="394731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Data Science</a:t>
            </a:r>
            <a:endParaRPr lang="en-US" altLang="en-US" dirty="0"/>
          </a:p>
        </p:txBody>
      </p:sp>
      <p:pic>
        <p:nvPicPr>
          <p:cNvPr id="5" name="Picture 2" descr="[image%255B3%255D.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41702" y="1295400"/>
            <a:ext cx="4460596" cy="3962400"/>
          </a:xfrm>
        </p:spPr>
      </p:pic>
    </p:spTree>
    <p:extLst>
      <p:ext uri="{BB962C8B-B14F-4D97-AF65-F5344CB8AC3E}">
        <p14:creationId xmlns:p14="http://schemas.microsoft.com/office/powerpoint/2010/main" val="425596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Data Science</a:t>
            </a:r>
            <a:endParaRPr lang="en-US" altLang="en-US" dirty="0"/>
          </a:p>
        </p:txBody>
      </p:sp>
      <p:pic>
        <p:nvPicPr>
          <p:cNvPr id="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30400" y="1295400"/>
            <a:ext cx="5283200" cy="3962400"/>
          </a:xfrm>
        </p:spPr>
      </p:pic>
    </p:spTree>
    <p:extLst>
      <p:ext uri="{BB962C8B-B14F-4D97-AF65-F5344CB8AC3E}">
        <p14:creationId xmlns:p14="http://schemas.microsoft.com/office/powerpoint/2010/main" val="407551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12</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400" b="1" dirty="0">
                <a:solidFill>
                  <a:srgbClr val="FF0000"/>
                </a:solidFill>
                <a:latin typeface="CG Omega" pitchFamily="34" charset="0"/>
              </a:rPr>
              <a:t>What is Data Science?</a:t>
            </a:r>
          </a:p>
        </p:txBody>
      </p:sp>
      <p:sp>
        <p:nvSpPr>
          <p:cNvPr id="2" name="Rectangle 1"/>
          <p:cNvSpPr/>
          <p:nvPr/>
        </p:nvSpPr>
        <p:spPr>
          <a:xfrm>
            <a:off x="438150" y="755789"/>
            <a:ext cx="8248650" cy="3877985"/>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Data Science can be explained as the entire process of gathering actionable insights from raw data.</a:t>
            </a:r>
          </a:p>
          <a:p>
            <a:pPr marL="342900" indent="-342900" algn="just">
              <a:lnSpc>
                <a:spcPct val="150000"/>
              </a:lnSpc>
              <a:buFont typeface="Wingdings" panose="05000000000000000000" pitchFamily="2" charset="2"/>
              <a:buChar char="v"/>
            </a:pPr>
            <a:r>
              <a:rPr lang="en-IN" sz="2050" dirty="0">
                <a:latin typeface="Arial" panose="020B0604020202020204" pitchFamily="34" charset="0"/>
                <a:cs typeface="Arial" panose="020B0604020202020204" pitchFamily="34" charset="0"/>
              </a:rPr>
              <a:t>It combines math and statistics, specialized programming, advanced analytics, artificial intelligence (AI), and machine learning with specific subject matter expertise to uncover actionable insights hidden in an organization’s data. </a:t>
            </a:r>
          </a:p>
          <a:p>
            <a:pPr marL="342900" indent="-342900" algn="just">
              <a:lnSpc>
                <a:spcPct val="150000"/>
              </a:lnSpc>
              <a:buFont typeface="Wingdings" panose="05000000000000000000" pitchFamily="2" charset="2"/>
              <a:buChar char="v"/>
            </a:pPr>
            <a:r>
              <a:rPr lang="en-IN" sz="2050" dirty="0">
                <a:latin typeface="Arial" panose="020B0604020202020204" pitchFamily="34" charset="0"/>
                <a:cs typeface="Arial" panose="020B0604020202020204" pitchFamily="34" charset="0"/>
              </a:rPr>
              <a:t>These insights can be used to guide decision making and strategic planning.</a:t>
            </a:r>
            <a:endParaRPr lang="en-GB" sz="2050" dirty="0">
              <a:latin typeface="Arial" panose="020B0604020202020204" pitchFamily="34" charset="0"/>
              <a:cs typeface="Arial" panose="020B0604020202020204"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962" y="4191000"/>
            <a:ext cx="5667375" cy="2242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0115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074"/>
                                        </p:tgtEl>
                                        <p:attrNameLst>
                                          <p:attrName>style.visibility</p:attrName>
                                        </p:attrNameLst>
                                      </p:cBhvr>
                                      <p:to>
                                        <p:strVal val="visible"/>
                                      </p:to>
                                    </p:set>
                                    <p:animEffect transition="in" filter="wipe(down)">
                                      <p:cBhvr>
                                        <p:cTn id="28"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Applications</a:t>
            </a:r>
            <a:endParaRPr lang="en-US" dirty="0"/>
          </a:p>
        </p:txBody>
      </p:sp>
      <p:sp>
        <p:nvSpPr>
          <p:cNvPr id="3" name="Content Placeholder 2"/>
          <p:cNvSpPr>
            <a:spLocks noGrp="1"/>
          </p:cNvSpPr>
          <p:nvPr>
            <p:ph idx="1"/>
          </p:nvPr>
        </p:nvSpPr>
        <p:spPr/>
        <p:txBody>
          <a:bodyPr/>
          <a:lstStyle/>
          <a:p>
            <a:r>
              <a:rPr lang="en-US"/>
              <a:t>Data Science can be applied in nearly every part of a business where data is available. Examples are:</a:t>
            </a:r>
          </a:p>
          <a:p>
            <a:pPr lvl="1"/>
            <a:r>
              <a:rPr lang="en-US"/>
              <a:t>Consumer goods </a:t>
            </a:r>
          </a:p>
          <a:p>
            <a:pPr lvl="1"/>
            <a:r>
              <a:rPr lang="en-US"/>
              <a:t>Stock markets</a:t>
            </a:r>
          </a:p>
          <a:p>
            <a:pPr lvl="1"/>
            <a:r>
              <a:rPr lang="en-US"/>
              <a:t>Industry</a:t>
            </a:r>
          </a:p>
          <a:p>
            <a:pPr lvl="1"/>
            <a:r>
              <a:rPr lang="en-US"/>
              <a:t> Politics</a:t>
            </a:r>
          </a:p>
          <a:p>
            <a:pPr lvl="1"/>
            <a:r>
              <a:rPr lang="en-US"/>
              <a:t>Logistic companies</a:t>
            </a:r>
          </a:p>
          <a:p>
            <a:pPr lvl="1"/>
            <a:r>
              <a:rPr lang="en-US"/>
              <a:t>E-commerce</a:t>
            </a:r>
          </a:p>
          <a:p>
            <a:endParaRPr lang="en-US" dirty="0"/>
          </a:p>
        </p:txBody>
      </p:sp>
      <p:sp>
        <p:nvSpPr>
          <p:cNvPr id="4" name="Slide Number Placeholder 3"/>
          <p:cNvSpPr>
            <a:spLocks noGrp="1"/>
          </p:cNvSpPr>
          <p:nvPr>
            <p:ph type="sldNum" sz="quarter" idx="4294967295"/>
          </p:nvPr>
        </p:nvSpPr>
        <p:spPr>
          <a:xfrm>
            <a:off x="7864475" y="6224588"/>
            <a:ext cx="1279525" cy="365125"/>
          </a:xfrm>
          <a:prstGeom prst="rect">
            <a:avLst/>
          </a:prstGeom>
        </p:spPr>
        <p:txBody>
          <a:bodyPr/>
          <a:lstStyle/>
          <a:p>
            <a:fld id="{F4D18B09-6FF3-4F83-907F-EA74177A711D}" type="slidenum">
              <a:rPr lang="en-US" altLang="en-US" smtClean="0"/>
              <a:pPr/>
              <a:t>13</a:t>
            </a:fld>
            <a:endParaRPr lang="en-US" altLang="en-US"/>
          </a:p>
        </p:txBody>
      </p:sp>
    </p:spTree>
    <p:extLst>
      <p:ext uri="{BB962C8B-B14F-4D97-AF65-F5344CB8AC3E}">
        <p14:creationId xmlns:p14="http://schemas.microsoft.com/office/powerpoint/2010/main" val="481352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All Around</a:t>
            </a:r>
            <a:endParaRPr lang="en-US" dirty="0"/>
          </a:p>
        </p:txBody>
      </p:sp>
      <p:sp>
        <p:nvSpPr>
          <p:cNvPr id="3" name="Content Placeholder 2"/>
          <p:cNvSpPr>
            <a:spLocks noGrp="1"/>
          </p:cNvSpPr>
          <p:nvPr>
            <p:ph idx="1"/>
          </p:nvPr>
        </p:nvSpPr>
        <p:spPr/>
        <p:txBody>
          <a:bodyPr/>
          <a:lstStyle/>
          <a:p>
            <a:r>
              <a:rPr lang="en-US"/>
              <a:t>Lots of data is being collected </a:t>
            </a:r>
            <a:br>
              <a:rPr lang="en-US"/>
            </a:br>
            <a:r>
              <a:rPr lang="en-US"/>
              <a:t>and warehoused </a:t>
            </a:r>
          </a:p>
          <a:p>
            <a:pPr lvl="1"/>
            <a:r>
              <a:rPr lang="en-US"/>
              <a:t>Web data, e-commerce</a:t>
            </a:r>
          </a:p>
          <a:p>
            <a:pPr lvl="1"/>
            <a:r>
              <a:rPr lang="en-US"/>
              <a:t>Financial transactions, bank/credit transactions</a:t>
            </a:r>
          </a:p>
          <a:p>
            <a:pPr lvl="1"/>
            <a:r>
              <a:rPr lang="en-US"/>
              <a:t>Online trading and purchasing</a:t>
            </a:r>
          </a:p>
          <a:p>
            <a:pPr lvl="1"/>
            <a:r>
              <a:rPr lang="en-US"/>
              <a:t>Social Network</a:t>
            </a: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34200" y="1524000"/>
            <a:ext cx="1840230" cy="16002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4876800"/>
            <a:ext cx="2425700" cy="1631834"/>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8650" y="4944052"/>
            <a:ext cx="2495550" cy="1497330"/>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74264" y="3429000"/>
            <a:ext cx="2220252" cy="1328928"/>
          </a:xfrm>
          <a:prstGeom prst="rect">
            <a:avLst/>
          </a:prstGeom>
        </p:spPr>
      </p:pic>
    </p:spTree>
    <p:extLst>
      <p:ext uri="{BB962C8B-B14F-4D97-AF65-F5344CB8AC3E}">
        <p14:creationId xmlns:p14="http://schemas.microsoft.com/office/powerpoint/2010/main" val="2196057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Much Data Do We have?</a:t>
            </a:r>
            <a:endParaRPr lang="en-US" dirty="0"/>
          </a:p>
        </p:txBody>
      </p:sp>
      <p:sp>
        <p:nvSpPr>
          <p:cNvPr id="3" name="Content Placeholder 2"/>
          <p:cNvSpPr>
            <a:spLocks noGrp="1"/>
          </p:cNvSpPr>
          <p:nvPr>
            <p:ph idx="1"/>
          </p:nvPr>
        </p:nvSpPr>
        <p:spPr/>
        <p:txBody>
          <a:bodyPr/>
          <a:lstStyle/>
          <a:p>
            <a:r>
              <a:rPr lang="en-US"/>
              <a:t>Google processes 20 PB a day (2008)</a:t>
            </a:r>
          </a:p>
          <a:p>
            <a:r>
              <a:rPr lang="en-US"/>
              <a:t>Facebook has 60 TB of daily logs</a:t>
            </a:r>
          </a:p>
          <a:p>
            <a:r>
              <a:rPr lang="en-US"/>
              <a:t>eBay has 6.5 PB of user data + 50 TB/day (5/2009)</a:t>
            </a:r>
          </a:p>
          <a:p>
            <a:r>
              <a:rPr lang="en-US"/>
              <a:t>1000 genomes project: 200 TB</a:t>
            </a:r>
          </a:p>
          <a:p>
            <a:endParaRPr lang="en-US"/>
          </a:p>
          <a:p>
            <a:endParaRPr lang="en-US"/>
          </a:p>
          <a:p>
            <a:r>
              <a:rPr lang="en-US"/>
              <a:t>Cost of 1 TB of disk: $35</a:t>
            </a:r>
          </a:p>
          <a:p>
            <a:r>
              <a:rPr lang="en-US"/>
              <a:t>Time to read 1 TB disk: 3 hrs </a:t>
            </a:r>
          </a:p>
          <a:p>
            <a:r>
              <a:rPr lang="en-US"/>
              <a:t>      (100 MB/s)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9233" y="4069142"/>
            <a:ext cx="4449661" cy="2790256"/>
          </a:xfrm>
          <a:prstGeom prst="rect">
            <a:avLst/>
          </a:prstGeom>
        </p:spPr>
      </p:pic>
    </p:spTree>
    <p:extLst>
      <p:ext uri="{BB962C8B-B14F-4D97-AF65-F5344CB8AC3E}">
        <p14:creationId xmlns:p14="http://schemas.microsoft.com/office/powerpoint/2010/main" val="1412561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Big Data</a:t>
            </a:r>
            <a:endParaRPr lang="en-US" altLang="en-US" dirty="0"/>
          </a:p>
        </p:txBody>
      </p:sp>
      <p:sp>
        <p:nvSpPr>
          <p:cNvPr id="3" name="Content Placeholder 2"/>
          <p:cNvSpPr>
            <a:spLocks noGrp="1"/>
          </p:cNvSpPr>
          <p:nvPr>
            <p:ph idx="1"/>
          </p:nvPr>
        </p:nvSpPr>
        <p:spPr/>
        <p:txBody>
          <a:bodyPr/>
          <a:lstStyle/>
          <a:p>
            <a:pPr lvl="1"/>
            <a:r>
              <a:rPr lang="en-US" altLang="en-US"/>
              <a:t>Big Data </a:t>
            </a:r>
            <a:r>
              <a:rPr lang="en-US"/>
              <a:t>is any data that is expensive to manage and hard to extract value from </a:t>
            </a:r>
          </a:p>
          <a:p>
            <a:pPr lvl="1"/>
            <a:r>
              <a:rPr lang="en-US" altLang="en-US"/>
              <a:t>Volume</a:t>
            </a:r>
          </a:p>
          <a:p>
            <a:pPr lvl="2"/>
            <a:r>
              <a:rPr lang="en-US" altLang="en-US"/>
              <a:t>The size of the data</a:t>
            </a:r>
          </a:p>
          <a:p>
            <a:pPr lvl="1"/>
            <a:r>
              <a:rPr lang="en-US" altLang="en-US"/>
              <a:t>Velocity</a:t>
            </a:r>
          </a:p>
          <a:p>
            <a:pPr lvl="2"/>
            <a:r>
              <a:rPr lang="en-US"/>
              <a:t>The latency of data processing relative to the growing demand for interactivity</a:t>
            </a:r>
          </a:p>
          <a:p>
            <a:pPr lvl="1"/>
            <a:r>
              <a:rPr lang="en-US" altLang="en-US"/>
              <a:t>Variety and Complexity</a:t>
            </a:r>
          </a:p>
          <a:p>
            <a:pPr lvl="2"/>
            <a:r>
              <a:rPr lang="en-US"/>
              <a:t>the diversity of sources, formats, quality, structures.</a:t>
            </a:r>
          </a:p>
          <a:p>
            <a:pPr lvl="2"/>
            <a:endParaRPr lang="en-US" altLang="en-US" dirty="0"/>
          </a:p>
        </p:txBody>
      </p:sp>
    </p:spTree>
    <p:extLst>
      <p:ext uri="{BB962C8B-B14F-4D97-AF65-F5344CB8AC3E}">
        <p14:creationId xmlns:p14="http://schemas.microsoft.com/office/powerpoint/2010/main" val="1629584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Big Data</a:t>
            </a:r>
            <a:endParaRPr lang="en-US" dirty="0"/>
          </a:p>
        </p:txBody>
      </p:sp>
      <p:sp>
        <p:nvSpPr>
          <p:cNvPr id="9" name="Content Placeholder 8"/>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082879"/>
            <a:ext cx="7418449" cy="5410200"/>
          </a:xfrm>
          <a:prstGeom prst="rect">
            <a:avLst/>
          </a:prstGeom>
        </p:spPr>
      </p:pic>
    </p:spTree>
    <p:extLst>
      <p:ext uri="{BB962C8B-B14F-4D97-AF65-F5344CB8AC3E}">
        <p14:creationId xmlns:p14="http://schemas.microsoft.com/office/powerpoint/2010/main" val="3285928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Data We Have</a:t>
            </a:r>
            <a:endParaRPr lang="en-US" dirty="0"/>
          </a:p>
        </p:txBody>
      </p:sp>
      <p:sp>
        <p:nvSpPr>
          <p:cNvPr id="3" name="Content Placeholder 2"/>
          <p:cNvSpPr>
            <a:spLocks noGrp="1"/>
          </p:cNvSpPr>
          <p:nvPr>
            <p:ph idx="1"/>
          </p:nvPr>
        </p:nvSpPr>
        <p:spPr/>
        <p:txBody>
          <a:bodyPr/>
          <a:lstStyle/>
          <a:p>
            <a:r>
              <a:rPr lang="en-US"/>
              <a:t>Relational Data (Tables/Transaction/Legacy Data)</a:t>
            </a:r>
          </a:p>
          <a:p>
            <a:r>
              <a:rPr lang="en-US"/>
              <a:t>Text Data (Web)</a:t>
            </a:r>
          </a:p>
          <a:p>
            <a:r>
              <a:rPr lang="en-US"/>
              <a:t>Semi-structured Data (XML) </a:t>
            </a:r>
          </a:p>
          <a:p>
            <a:r>
              <a:rPr lang="en-US"/>
              <a:t>Graph Data</a:t>
            </a:r>
          </a:p>
          <a:p>
            <a:r>
              <a:rPr lang="en-US"/>
              <a:t>Social Network, Semantic Web (RDF), … </a:t>
            </a:r>
          </a:p>
          <a:p>
            <a:r>
              <a:rPr lang="en-US"/>
              <a:t>Streaming Data </a:t>
            </a:r>
          </a:p>
          <a:p>
            <a:r>
              <a:rPr lang="en-US"/>
              <a:t>You can afford to scan the data once</a:t>
            </a:r>
          </a:p>
          <a:p>
            <a:endParaRPr lang="en-US" dirty="0"/>
          </a:p>
        </p:txBody>
      </p:sp>
    </p:spTree>
    <p:extLst>
      <p:ext uri="{BB962C8B-B14F-4D97-AF65-F5344CB8AC3E}">
        <p14:creationId xmlns:p14="http://schemas.microsoft.com/office/powerpoint/2010/main" val="1474550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19</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400" b="1" dirty="0">
                <a:solidFill>
                  <a:srgbClr val="FF0000"/>
                </a:solidFill>
                <a:latin typeface="CG Omega" pitchFamily="34" charset="0"/>
              </a:rPr>
              <a:t>Need for Data Science</a:t>
            </a:r>
          </a:p>
        </p:txBody>
      </p:sp>
      <p:sp>
        <p:nvSpPr>
          <p:cNvPr id="2" name="Rectangle 1"/>
          <p:cNvSpPr/>
          <p:nvPr/>
        </p:nvSpPr>
        <p:spPr>
          <a:xfrm>
            <a:off x="438150" y="755789"/>
            <a:ext cx="8248650" cy="5297604"/>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Today lots of data are generated as we do our day-to-day activity via various electronic gadgets.</a:t>
            </a:r>
          </a:p>
          <a:p>
            <a:pPr marL="342900" indent="-342900" algn="just">
              <a:lnSpc>
                <a:spcPct val="150000"/>
              </a:lnSpc>
              <a:buFont typeface="Wingdings" panose="05000000000000000000" pitchFamily="2" charset="2"/>
              <a:buChar char="v"/>
            </a:pPr>
            <a:r>
              <a:rPr lang="en-IN" sz="2050" dirty="0">
                <a:latin typeface="Arial" panose="020B0604020202020204" pitchFamily="34" charset="0"/>
                <a:cs typeface="Arial" panose="020B0604020202020204" pitchFamily="34" charset="0"/>
              </a:rPr>
              <a:t>The problem is that we are not able to analyze due to inefficient scientific insights such as </a:t>
            </a:r>
          </a:p>
          <a:p>
            <a:pPr marL="800100" lvl="1" indent="-342900" algn="just">
              <a:lnSpc>
                <a:spcPct val="150000"/>
              </a:lnSpc>
              <a:buFont typeface="Wingdings" panose="05000000000000000000" pitchFamily="2" charset="2"/>
              <a:buChar char="Ø"/>
            </a:pPr>
            <a:r>
              <a:rPr lang="en-IN" sz="2050" dirty="0">
                <a:latin typeface="Arial" panose="020B0604020202020204" pitchFamily="34" charset="0"/>
                <a:cs typeface="Arial" panose="020B0604020202020204" pitchFamily="34" charset="0"/>
              </a:rPr>
              <a:t>Sales forecasting for coming months / seasonal time / year</a:t>
            </a:r>
          </a:p>
          <a:p>
            <a:pPr marL="800100" lvl="1" indent="-342900" algn="just">
              <a:lnSpc>
                <a:spcPct val="150000"/>
              </a:lnSpc>
              <a:buFont typeface="Wingdings" panose="05000000000000000000" pitchFamily="2" charset="2"/>
              <a:buChar char="Ø"/>
            </a:pPr>
            <a:r>
              <a:rPr lang="en-IN" sz="2050" dirty="0">
                <a:latin typeface="Arial" panose="020B0604020202020204" pitchFamily="34" charset="0"/>
                <a:cs typeface="Arial" panose="020B0604020202020204" pitchFamily="34" charset="0"/>
              </a:rPr>
              <a:t>Predict if person wearing a red shirt and have age between 25 and 30, will be interested in the product or not etc.</a:t>
            </a:r>
          </a:p>
          <a:p>
            <a:pPr marL="342900" indent="-342900" algn="just">
              <a:lnSpc>
                <a:spcPct val="150000"/>
              </a:lnSpc>
              <a:buFont typeface="Wingdings" panose="05000000000000000000" pitchFamily="2" charset="2"/>
              <a:buChar char="v"/>
            </a:pPr>
            <a:r>
              <a:rPr lang="en-IN" sz="2050" dirty="0">
                <a:latin typeface="Arial" panose="020B0604020202020204" pitchFamily="34" charset="0"/>
                <a:cs typeface="Arial" panose="020B0604020202020204" pitchFamily="34" charset="0"/>
              </a:rPr>
              <a:t>We are creating data, but we are not utilizing it for </a:t>
            </a:r>
            <a:r>
              <a:rPr lang="en-IN" sz="2050" dirty="0" err="1">
                <a:latin typeface="Arial" panose="020B0604020202020204" pitchFamily="34" charset="0"/>
                <a:cs typeface="Arial" panose="020B0604020202020204" pitchFamily="34" charset="0"/>
              </a:rPr>
              <a:t>behavioral</a:t>
            </a:r>
            <a:r>
              <a:rPr lang="en-IN" sz="2050" dirty="0">
                <a:latin typeface="Arial" panose="020B0604020202020204" pitchFamily="34" charset="0"/>
                <a:cs typeface="Arial" panose="020B0604020202020204" pitchFamily="34" charset="0"/>
              </a:rPr>
              <a:t> analysis or decision making or predictions.</a:t>
            </a:r>
          </a:p>
          <a:p>
            <a:pPr marL="342900" indent="-342900" algn="just">
              <a:lnSpc>
                <a:spcPct val="150000"/>
              </a:lnSpc>
              <a:buFont typeface="Wingdings" panose="05000000000000000000" pitchFamily="2" charset="2"/>
              <a:buChar char="v"/>
            </a:pPr>
            <a:r>
              <a:rPr lang="en-IN" sz="2050" dirty="0">
                <a:latin typeface="Arial" panose="020B0604020202020204" pitchFamily="34" charset="0"/>
                <a:cs typeface="Arial" panose="020B0604020202020204" pitchFamily="34" charset="0"/>
              </a:rPr>
              <a:t>Data Science helps in recognizing the process of data analysis, data patterns and </a:t>
            </a:r>
            <a:r>
              <a:rPr lang="en-IN" sz="2050" dirty="0" err="1">
                <a:latin typeface="Arial" panose="020B0604020202020204" pitchFamily="34" charset="0"/>
                <a:cs typeface="Arial" panose="020B0604020202020204" pitchFamily="34" charset="0"/>
              </a:rPr>
              <a:t>behaviors</a:t>
            </a:r>
            <a:r>
              <a:rPr lang="en-IN" sz="2050" dirty="0">
                <a:latin typeface="Arial" panose="020B0604020202020204" pitchFamily="34" charset="0"/>
                <a:cs typeface="Arial" panose="020B0604020202020204" pitchFamily="34" charset="0"/>
              </a:rPr>
              <a:t> patterns for increasing sale.</a:t>
            </a:r>
            <a:endParaRPr lang="en-GB" sz="205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436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20</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400" b="1" dirty="0">
                <a:solidFill>
                  <a:srgbClr val="FF0000"/>
                </a:solidFill>
                <a:latin typeface="CG Omega" pitchFamily="34" charset="0"/>
              </a:rPr>
              <a:t>Need for Data Science</a:t>
            </a:r>
          </a:p>
        </p:txBody>
      </p:sp>
      <p:sp>
        <p:nvSpPr>
          <p:cNvPr id="2" name="Rectangle 1"/>
          <p:cNvSpPr/>
          <p:nvPr/>
        </p:nvSpPr>
        <p:spPr>
          <a:xfrm>
            <a:off x="438150" y="755789"/>
            <a:ext cx="8248650" cy="507062"/>
          </a:xfrm>
          <a:prstGeom prst="rect">
            <a:avLst/>
          </a:prstGeom>
        </p:spPr>
        <p:txBody>
          <a:bodyPr wrap="square">
            <a:spAutoFit/>
          </a:bodyPr>
          <a:lstStyle/>
          <a:p>
            <a:pPr marL="342900" indent="-342900">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Data Science plays huge role in many applications such as :</a:t>
            </a:r>
            <a:endParaRPr lang="en-GB" sz="2050" dirty="0">
              <a:solidFill>
                <a:srgbClr val="FF0000"/>
              </a:solidFill>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 y="1818564"/>
            <a:ext cx="3648075"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2475" y="1427328"/>
            <a:ext cx="4124325" cy="4897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513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barn(inVertical)">
                                      <p:cBhvr>
                                        <p:cTn id="14" dur="500"/>
                                        <p:tgtEl>
                                          <p:spTgt spid="1026"/>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027"/>
                                        </p:tgtEl>
                                        <p:attrNameLst>
                                          <p:attrName>style.visibility</p:attrName>
                                        </p:attrNameLst>
                                      </p:cBhvr>
                                      <p:to>
                                        <p:strVal val="visible"/>
                                      </p:to>
                                    </p:set>
                                    <p:animEffect transition="in" filter="barn(inVertical)">
                                      <p:cBhvr>
                                        <p:cTn id="19"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21</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400" b="1" dirty="0">
                <a:solidFill>
                  <a:srgbClr val="FF0000"/>
                </a:solidFill>
                <a:latin typeface="CG Omega" pitchFamily="34" charset="0"/>
              </a:rPr>
              <a:t>Need for Data Science</a:t>
            </a:r>
          </a:p>
        </p:txBody>
      </p:sp>
      <p:sp>
        <p:nvSpPr>
          <p:cNvPr id="2" name="Rectangle 1"/>
          <p:cNvSpPr/>
          <p:nvPr/>
        </p:nvSpPr>
        <p:spPr>
          <a:xfrm>
            <a:off x="438150" y="755789"/>
            <a:ext cx="8248650" cy="507062"/>
          </a:xfrm>
          <a:prstGeom prst="rect">
            <a:avLst/>
          </a:prstGeom>
        </p:spPr>
        <p:txBody>
          <a:bodyPr wrap="square">
            <a:spAutoFit/>
          </a:bodyPr>
          <a:lstStyle/>
          <a:p>
            <a:pPr marL="342900" indent="-342900">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Data Science plays huge role in many applications such as :</a:t>
            </a:r>
            <a:endParaRPr lang="en-GB" sz="2050" dirty="0">
              <a:solidFill>
                <a:srgbClr val="FF0000"/>
              </a:solidFill>
              <a:latin typeface="Arial" panose="020B0604020202020204" pitchFamily="34" charset="0"/>
              <a:cs typeface="Arial" panose="020B0604020202020204"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187" y="1524000"/>
            <a:ext cx="3842413"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2475" y="1524000"/>
            <a:ext cx="4124325"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47267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050"/>
                                        </p:tgtEl>
                                        <p:attrNameLst>
                                          <p:attrName>style.visibility</p:attrName>
                                        </p:attrNameLst>
                                      </p:cBhvr>
                                      <p:to>
                                        <p:strVal val="visible"/>
                                      </p:to>
                                    </p:set>
                                    <p:animEffect transition="in" filter="barn(inVertical)">
                                      <p:cBhvr>
                                        <p:cTn id="14" dur="500"/>
                                        <p:tgtEl>
                                          <p:spTgt spid="2050"/>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051"/>
                                        </p:tgtEl>
                                        <p:attrNameLst>
                                          <p:attrName>style.visibility</p:attrName>
                                        </p:attrNameLst>
                                      </p:cBhvr>
                                      <p:to>
                                        <p:strVal val="visible"/>
                                      </p:to>
                                    </p:set>
                                    <p:animEffect transition="in" filter="barn(inVertical)">
                                      <p:cBhvr>
                                        <p:cTn id="19"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22</a:t>
            </a:fld>
            <a:endParaRPr lang="en-US" altLang="en-US"/>
          </a:p>
        </p:txBody>
      </p:sp>
      <p:sp>
        <p:nvSpPr>
          <p:cNvPr id="4101" name="Slide Number Placeholder 3"/>
          <p:cNvSpPr txBox="1">
            <a:spLocks/>
          </p:cNvSpPr>
          <p:nvPr/>
        </p:nvSpPr>
        <p:spPr bwMode="auto">
          <a:xfrm>
            <a:off x="6858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400" b="1" dirty="0">
                <a:solidFill>
                  <a:srgbClr val="FF0000"/>
                </a:solidFill>
                <a:latin typeface="CG Omega" pitchFamily="34" charset="0"/>
              </a:rPr>
              <a:t>Need for Data Science - </a:t>
            </a:r>
            <a:r>
              <a:rPr lang="en-US" altLang="en-US" sz="2400" b="1" dirty="0">
                <a:solidFill>
                  <a:srgbClr val="FF0000"/>
                </a:solidFill>
                <a:cs typeface="Arial" panose="020B0604020202020204" pitchFamily="34" charset="0"/>
              </a:rPr>
              <a:t>DOMAINS	</a:t>
            </a:r>
          </a:p>
        </p:txBody>
      </p:sp>
      <p:sp>
        <p:nvSpPr>
          <p:cNvPr id="2" name="Rectangle 1"/>
          <p:cNvSpPr/>
          <p:nvPr/>
        </p:nvSpPr>
        <p:spPr>
          <a:xfrm>
            <a:off x="438150" y="755789"/>
            <a:ext cx="8248650" cy="6093976"/>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Lifestyle related (ex: </a:t>
            </a:r>
            <a:r>
              <a:rPr lang="en-IN" altLang="en-US" sz="2000" dirty="0" err="1">
                <a:latin typeface="Arial" panose="020B0604020202020204" pitchFamily="34" charset="0"/>
                <a:cs typeface="Arial" panose="020B0604020202020204" pitchFamily="34" charset="0"/>
              </a:rPr>
              <a:t>alexa</a:t>
            </a:r>
            <a:r>
              <a:rPr lang="en-IN" altLang="en-US" sz="2000" dirty="0">
                <a:latin typeface="Arial" panose="020B0604020202020204" pitchFamily="34" charset="0"/>
                <a:cs typeface="Arial" panose="020B0604020202020204" pitchFamily="34" charset="0"/>
              </a:rPr>
              <a:t>), </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public spaces (ex: effective use of QR and sensing technology)</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Uplifting of rural lifestyle by technology</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Technical (industrial issues)</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Robot Navigation</a:t>
            </a:r>
          </a:p>
          <a:p>
            <a:pPr marL="342900" indent="-342900" algn="just">
              <a:lnSpc>
                <a:spcPct val="150000"/>
              </a:lnSpc>
              <a:buFont typeface="Wingdings" panose="05000000000000000000" pitchFamily="2" charset="2"/>
              <a:buChar char="v"/>
            </a:pPr>
            <a:r>
              <a:rPr lang="en-IN" altLang="en-US" sz="2000" b="1" dirty="0">
                <a:latin typeface="Arial" panose="020B0604020202020204" pitchFamily="34" charset="0"/>
                <a:cs typeface="Arial" panose="020B0604020202020204" pitchFamily="34" charset="0"/>
              </a:rPr>
              <a:t>Route Finding</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Climate change </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Vision Intelligence</a:t>
            </a:r>
          </a:p>
          <a:p>
            <a:pPr marL="342900" indent="-342900" algn="just">
              <a:lnSpc>
                <a:spcPct val="150000"/>
              </a:lnSpc>
              <a:buFont typeface="Wingdings" panose="05000000000000000000" pitchFamily="2" charset="2"/>
              <a:buChar char="v"/>
            </a:pPr>
            <a:r>
              <a:rPr lang="en-IN" altLang="en-US" sz="2000" b="1" dirty="0">
                <a:latin typeface="Arial" panose="020B0604020202020204" pitchFamily="34" charset="0"/>
                <a:cs typeface="Arial" panose="020B0604020202020204" pitchFamily="34" charset="0"/>
              </a:rPr>
              <a:t>Healthcare</a:t>
            </a:r>
            <a:r>
              <a:rPr lang="en-IN" altLang="en-US" sz="2000" dirty="0">
                <a:latin typeface="Arial" panose="020B0604020202020204" pitchFamily="34" charset="0"/>
                <a:cs typeface="Arial" panose="020B0604020202020204" pitchFamily="34" charset="0"/>
              </a:rPr>
              <a:t> / Medical Imaging / Internet of Medical Things</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Social Network Analysis for Politics / Security / Violence etc.</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Space / Defence</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Remote Sensing</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Animal Care </a:t>
            </a:r>
          </a:p>
        </p:txBody>
      </p:sp>
    </p:spTree>
    <p:extLst>
      <p:ext uri="{BB962C8B-B14F-4D97-AF65-F5344CB8AC3E}">
        <p14:creationId xmlns:p14="http://schemas.microsoft.com/office/powerpoint/2010/main" val="251714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Effect transition="in" filter="fade">
                                      <p:cBhvr>
                                        <p:cTn id="56" dur="1000"/>
                                        <p:tgtEl>
                                          <p:spTgt spid="2">
                                            <p:txEl>
                                              <p:pRg st="7" end="7"/>
                                            </p:txEl>
                                          </p:spTgt>
                                        </p:tgtEl>
                                      </p:cBhvr>
                                    </p:animEffect>
                                    <p:anim calcmode="lin" valueType="num">
                                      <p:cBhvr>
                                        <p:cTn id="5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2">
                                            <p:txEl>
                                              <p:pRg st="8" end="8"/>
                                            </p:txEl>
                                          </p:spTgt>
                                        </p:tgtEl>
                                        <p:attrNameLst>
                                          <p:attrName>style.visibility</p:attrName>
                                        </p:attrNameLst>
                                      </p:cBhvr>
                                      <p:to>
                                        <p:strVal val="visible"/>
                                      </p:to>
                                    </p:set>
                                    <p:animEffect transition="in" filter="fade">
                                      <p:cBhvr>
                                        <p:cTn id="63" dur="1000"/>
                                        <p:tgtEl>
                                          <p:spTgt spid="2">
                                            <p:txEl>
                                              <p:pRg st="8" end="8"/>
                                            </p:txEl>
                                          </p:spTgt>
                                        </p:tgtEl>
                                      </p:cBhvr>
                                    </p:animEffect>
                                    <p:anim calcmode="lin" valueType="num">
                                      <p:cBhvr>
                                        <p:cTn id="6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2">
                                            <p:txEl>
                                              <p:pRg st="9" end="9"/>
                                            </p:txEl>
                                          </p:spTgt>
                                        </p:tgtEl>
                                        <p:attrNameLst>
                                          <p:attrName>style.visibility</p:attrName>
                                        </p:attrNameLst>
                                      </p:cBhvr>
                                      <p:to>
                                        <p:strVal val="visible"/>
                                      </p:to>
                                    </p:set>
                                    <p:animEffect transition="in" filter="fade">
                                      <p:cBhvr>
                                        <p:cTn id="70" dur="1000"/>
                                        <p:tgtEl>
                                          <p:spTgt spid="2">
                                            <p:txEl>
                                              <p:pRg st="9" end="9"/>
                                            </p:txEl>
                                          </p:spTgt>
                                        </p:tgtEl>
                                      </p:cBhvr>
                                    </p:animEffect>
                                    <p:anim calcmode="lin" valueType="num">
                                      <p:cBhvr>
                                        <p:cTn id="71"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2">
                                            <p:txEl>
                                              <p:pRg st="10" end="10"/>
                                            </p:txEl>
                                          </p:spTgt>
                                        </p:tgtEl>
                                        <p:attrNameLst>
                                          <p:attrName>style.visibility</p:attrName>
                                        </p:attrNameLst>
                                      </p:cBhvr>
                                      <p:to>
                                        <p:strVal val="visible"/>
                                      </p:to>
                                    </p:set>
                                    <p:animEffect transition="in" filter="fade">
                                      <p:cBhvr>
                                        <p:cTn id="77" dur="1000"/>
                                        <p:tgtEl>
                                          <p:spTgt spid="2">
                                            <p:txEl>
                                              <p:pRg st="10" end="10"/>
                                            </p:txEl>
                                          </p:spTgt>
                                        </p:tgtEl>
                                      </p:cBhvr>
                                    </p:animEffect>
                                    <p:anim calcmode="lin" valueType="num">
                                      <p:cBhvr>
                                        <p:cTn id="78"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2">
                                            <p:txEl>
                                              <p:pRg st="11" end="11"/>
                                            </p:txEl>
                                          </p:spTgt>
                                        </p:tgtEl>
                                        <p:attrNameLst>
                                          <p:attrName>style.visibility</p:attrName>
                                        </p:attrNameLst>
                                      </p:cBhvr>
                                      <p:to>
                                        <p:strVal val="visible"/>
                                      </p:to>
                                    </p:set>
                                    <p:animEffect transition="in" filter="fade">
                                      <p:cBhvr>
                                        <p:cTn id="84" dur="1000"/>
                                        <p:tgtEl>
                                          <p:spTgt spid="2">
                                            <p:txEl>
                                              <p:pRg st="11" end="11"/>
                                            </p:txEl>
                                          </p:spTgt>
                                        </p:tgtEl>
                                      </p:cBhvr>
                                    </p:animEffect>
                                    <p:anim calcmode="lin" valueType="num">
                                      <p:cBhvr>
                                        <p:cTn id="85"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2">
                                            <p:txEl>
                                              <p:pRg st="12" end="12"/>
                                            </p:txEl>
                                          </p:spTgt>
                                        </p:tgtEl>
                                        <p:attrNameLst>
                                          <p:attrName>style.visibility</p:attrName>
                                        </p:attrNameLst>
                                      </p:cBhvr>
                                      <p:to>
                                        <p:strVal val="visible"/>
                                      </p:to>
                                    </p:set>
                                    <p:animEffect transition="in" filter="fade">
                                      <p:cBhvr>
                                        <p:cTn id="91" dur="1000"/>
                                        <p:tgtEl>
                                          <p:spTgt spid="2">
                                            <p:txEl>
                                              <p:pRg st="12" end="12"/>
                                            </p:txEl>
                                          </p:spTgt>
                                        </p:tgtEl>
                                      </p:cBhvr>
                                    </p:animEffect>
                                    <p:anim calcmode="lin" valueType="num">
                                      <p:cBhvr>
                                        <p:cTn id="92"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23</a:t>
            </a:fld>
            <a:endParaRPr lang="en-US" altLang="en-US"/>
          </a:p>
        </p:txBody>
      </p:sp>
      <p:sp>
        <p:nvSpPr>
          <p:cNvPr id="2" name="Rectangle 1"/>
          <p:cNvSpPr/>
          <p:nvPr/>
        </p:nvSpPr>
        <p:spPr>
          <a:xfrm>
            <a:off x="438150" y="755789"/>
            <a:ext cx="8248650" cy="5575309"/>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00" b="1" dirty="0">
                <a:latin typeface="Arial" panose="020B0604020202020204" pitchFamily="34" charset="0"/>
                <a:cs typeface="Arial" panose="020B0604020202020204" pitchFamily="34" charset="0"/>
              </a:rPr>
              <a:t>Education</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Automotive</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Women / Child</a:t>
            </a:r>
          </a:p>
          <a:p>
            <a:pPr marL="342900" indent="-342900" algn="just">
              <a:lnSpc>
                <a:spcPct val="150000"/>
              </a:lnSpc>
              <a:buFont typeface="Wingdings" panose="05000000000000000000" pitchFamily="2" charset="2"/>
              <a:buChar char="v"/>
            </a:pPr>
            <a:r>
              <a:rPr lang="en-IN" altLang="en-US" sz="2000" b="1" dirty="0">
                <a:latin typeface="Arial" panose="020B0604020202020204" pitchFamily="34" charset="0"/>
                <a:cs typeface="Arial" panose="020B0604020202020204" pitchFamily="34" charset="0"/>
              </a:rPr>
              <a:t>Smart Agriculture</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Sports</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Security / Fraud Detection</a:t>
            </a:r>
          </a:p>
          <a:p>
            <a:pPr marL="342900" indent="-342900" algn="just">
              <a:lnSpc>
                <a:spcPct val="150000"/>
              </a:lnSpc>
              <a:buFont typeface="Wingdings" panose="05000000000000000000" pitchFamily="2" charset="2"/>
              <a:buChar char="v"/>
            </a:pPr>
            <a:r>
              <a:rPr lang="en-IN" altLang="en-US" sz="2000" b="1" dirty="0">
                <a:latin typeface="Arial" panose="020B0604020202020204" pitchFamily="34" charset="0"/>
                <a:cs typeface="Arial" panose="020B0604020202020204" pitchFamily="34" charset="0"/>
              </a:rPr>
              <a:t>Pollution</a:t>
            </a:r>
            <a:r>
              <a:rPr lang="en-IN" altLang="en-US" sz="2000" dirty="0">
                <a:latin typeface="Arial" panose="020B0604020202020204" pitchFamily="34" charset="0"/>
                <a:cs typeface="Arial" panose="020B0604020202020204" pitchFamily="34" charset="0"/>
              </a:rPr>
              <a:t> (Ocean Clean up, Garbage Management)</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Neuroscience / genetics (Dementia or Alzheimer / Brain decoding)</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Natural Calamities</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Device Management / Machine Translation</a:t>
            </a:r>
          </a:p>
          <a:p>
            <a:pPr marL="342900" indent="-342900" algn="just">
              <a:lnSpc>
                <a:spcPct val="150000"/>
              </a:lnSpc>
              <a:buFont typeface="Wingdings" panose="05000000000000000000" pitchFamily="2" charset="2"/>
              <a:buChar char="v"/>
            </a:pPr>
            <a:r>
              <a:rPr lang="en-IN" altLang="en-US" sz="2000" dirty="0">
                <a:latin typeface="Arial" panose="020B0604020202020204" pitchFamily="34" charset="0"/>
                <a:cs typeface="Arial" panose="020B0604020202020204" pitchFamily="34" charset="0"/>
              </a:rPr>
              <a:t>Next generation Drug Development (cancer / obesity / heart disease etc.)</a:t>
            </a:r>
          </a:p>
        </p:txBody>
      </p:sp>
      <p:sp>
        <p:nvSpPr>
          <p:cNvPr id="5" name="Slide Number Placeholder 3"/>
          <p:cNvSpPr txBox="1">
            <a:spLocks/>
          </p:cNvSpPr>
          <p:nvPr/>
        </p:nvSpPr>
        <p:spPr bwMode="auto">
          <a:xfrm>
            <a:off x="6858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400" b="1" dirty="0">
                <a:solidFill>
                  <a:srgbClr val="FF0000"/>
                </a:solidFill>
                <a:latin typeface="CG Omega" pitchFamily="34" charset="0"/>
              </a:rPr>
              <a:t>Need for Data Science - </a:t>
            </a:r>
            <a:r>
              <a:rPr lang="en-US" altLang="en-US" sz="2400" b="1" dirty="0">
                <a:solidFill>
                  <a:srgbClr val="FF0000"/>
                </a:solidFill>
                <a:cs typeface="Arial" panose="020B0604020202020204" pitchFamily="34" charset="0"/>
              </a:rPr>
              <a:t>DOMAINS	</a:t>
            </a:r>
          </a:p>
        </p:txBody>
      </p:sp>
    </p:spTree>
    <p:extLst>
      <p:ext uri="{BB962C8B-B14F-4D97-AF65-F5344CB8AC3E}">
        <p14:creationId xmlns:p14="http://schemas.microsoft.com/office/powerpoint/2010/main" val="604375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Effect transition="in" filter="fade">
                                      <p:cBhvr>
                                        <p:cTn id="56" dur="1000"/>
                                        <p:tgtEl>
                                          <p:spTgt spid="2">
                                            <p:txEl>
                                              <p:pRg st="7" end="7"/>
                                            </p:txEl>
                                          </p:spTgt>
                                        </p:tgtEl>
                                      </p:cBhvr>
                                    </p:animEffect>
                                    <p:anim calcmode="lin" valueType="num">
                                      <p:cBhvr>
                                        <p:cTn id="5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2">
                                            <p:txEl>
                                              <p:pRg st="8" end="8"/>
                                            </p:txEl>
                                          </p:spTgt>
                                        </p:tgtEl>
                                        <p:attrNameLst>
                                          <p:attrName>style.visibility</p:attrName>
                                        </p:attrNameLst>
                                      </p:cBhvr>
                                      <p:to>
                                        <p:strVal val="visible"/>
                                      </p:to>
                                    </p:set>
                                    <p:animEffect transition="in" filter="fade">
                                      <p:cBhvr>
                                        <p:cTn id="63" dur="1000"/>
                                        <p:tgtEl>
                                          <p:spTgt spid="2">
                                            <p:txEl>
                                              <p:pRg st="8" end="8"/>
                                            </p:txEl>
                                          </p:spTgt>
                                        </p:tgtEl>
                                      </p:cBhvr>
                                    </p:animEffect>
                                    <p:anim calcmode="lin" valueType="num">
                                      <p:cBhvr>
                                        <p:cTn id="6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2">
                                            <p:txEl>
                                              <p:pRg st="9" end="9"/>
                                            </p:txEl>
                                          </p:spTgt>
                                        </p:tgtEl>
                                        <p:attrNameLst>
                                          <p:attrName>style.visibility</p:attrName>
                                        </p:attrNameLst>
                                      </p:cBhvr>
                                      <p:to>
                                        <p:strVal val="visible"/>
                                      </p:to>
                                    </p:set>
                                    <p:animEffect transition="in" filter="fade">
                                      <p:cBhvr>
                                        <p:cTn id="70" dur="1000"/>
                                        <p:tgtEl>
                                          <p:spTgt spid="2">
                                            <p:txEl>
                                              <p:pRg st="9" end="9"/>
                                            </p:txEl>
                                          </p:spTgt>
                                        </p:tgtEl>
                                      </p:cBhvr>
                                    </p:animEffect>
                                    <p:anim calcmode="lin" valueType="num">
                                      <p:cBhvr>
                                        <p:cTn id="71"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2">
                                            <p:txEl>
                                              <p:pRg st="10" end="10"/>
                                            </p:txEl>
                                          </p:spTgt>
                                        </p:tgtEl>
                                        <p:attrNameLst>
                                          <p:attrName>style.visibility</p:attrName>
                                        </p:attrNameLst>
                                      </p:cBhvr>
                                      <p:to>
                                        <p:strVal val="visible"/>
                                      </p:to>
                                    </p:set>
                                    <p:animEffect transition="in" filter="fade">
                                      <p:cBhvr>
                                        <p:cTn id="77" dur="1000"/>
                                        <p:tgtEl>
                                          <p:spTgt spid="2">
                                            <p:txEl>
                                              <p:pRg st="10" end="10"/>
                                            </p:txEl>
                                          </p:spTgt>
                                        </p:tgtEl>
                                      </p:cBhvr>
                                    </p:animEffect>
                                    <p:anim calcmode="lin" valueType="num">
                                      <p:cBhvr>
                                        <p:cTn id="78"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24</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400" b="1" dirty="0">
                <a:solidFill>
                  <a:srgbClr val="FF0000"/>
                </a:solidFill>
                <a:latin typeface="CG Omega" pitchFamily="34" charset="0"/>
              </a:rPr>
              <a:t>Data Science Life Cycle / Process</a:t>
            </a:r>
          </a:p>
        </p:txBody>
      </p:sp>
      <p:sp>
        <p:nvSpPr>
          <p:cNvPr id="2" name="Rectangle 1"/>
          <p:cNvSpPr/>
          <p:nvPr/>
        </p:nvSpPr>
        <p:spPr>
          <a:xfrm>
            <a:off x="438150" y="755789"/>
            <a:ext cx="8248650" cy="980268"/>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data science lifecycle outlines the complete steps that successful data science projects follow. </a:t>
            </a:r>
            <a:endParaRPr lang="en-GB" sz="2050" dirty="0">
              <a:latin typeface="Arial" panose="020B0604020202020204" pitchFamily="34" charset="0"/>
              <a:cs typeface="Arial" panose="020B0604020202020204" pitchFamily="34" charset="0"/>
            </a:endParaRPr>
          </a:p>
        </p:txBody>
      </p:sp>
      <p:pic>
        <p:nvPicPr>
          <p:cNvPr id="4" name="Picture 2" descr="TDSP lifecycl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8150" y="1843282"/>
            <a:ext cx="8401050" cy="4557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9238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25</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400" b="1" dirty="0">
                <a:solidFill>
                  <a:srgbClr val="FF0000"/>
                </a:solidFill>
                <a:latin typeface="CG Omega" pitchFamily="34" charset="0"/>
              </a:rPr>
              <a:t>Data Science Life Cycle / Process</a:t>
            </a:r>
          </a:p>
        </p:txBody>
      </p:sp>
      <p:sp>
        <p:nvSpPr>
          <p:cNvPr id="2" name="Rectangle 1"/>
          <p:cNvSpPr/>
          <p:nvPr/>
        </p:nvSpPr>
        <p:spPr>
          <a:xfrm>
            <a:off x="438150" y="755789"/>
            <a:ext cx="8248650" cy="3877985"/>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There are various steps in data science. </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first step is asking the right question and exploring the data. </a:t>
            </a:r>
            <a:r>
              <a:rPr lang="en-IN" altLang="en-US" sz="2050" dirty="0">
                <a:solidFill>
                  <a:srgbClr val="FF0000"/>
                </a:solidFill>
                <a:latin typeface="Arial" panose="020B0604020202020204" pitchFamily="34" charset="0"/>
                <a:cs typeface="Arial" panose="020B0604020202020204" pitchFamily="34" charset="0"/>
              </a:rPr>
              <a:t>You must know exactly the problem that needs to be solved</a:t>
            </a:r>
            <a:r>
              <a:rPr lang="en-IN" altLang="en-US" sz="2050" dirty="0">
                <a:latin typeface="Arial" panose="020B0604020202020204" pitchFamily="34" charset="0"/>
                <a:cs typeface="Arial" panose="020B0604020202020204" pitchFamily="34" charset="0"/>
              </a:rPr>
              <a:t>. The problem can be understood by asking the right questions. </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As per the available data for input, the data may be incomplete for which, exploratory analysis can be done. Or data cleansing can be done on raw data for accurate data input which is a part of exploratory analysis. Then, you need to do modeling.</a:t>
            </a:r>
            <a:endParaRPr lang="en-GB" sz="2050" dirty="0">
              <a:latin typeface="Arial" panose="020B0604020202020204" pitchFamily="34" charset="0"/>
              <a:cs typeface="Arial" panose="020B0604020202020204" pitchFamily="34"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607616"/>
            <a:ext cx="8153400" cy="1927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625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26</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400" b="1" dirty="0">
                <a:solidFill>
                  <a:srgbClr val="FF0000"/>
                </a:solidFill>
                <a:latin typeface="CG Omega" pitchFamily="34" charset="0"/>
              </a:rPr>
              <a:t>Data Science Life Cycle / Process</a:t>
            </a:r>
          </a:p>
        </p:txBody>
      </p:sp>
      <p:sp>
        <p:nvSpPr>
          <p:cNvPr id="2" name="Rectangle 1"/>
          <p:cNvSpPr/>
          <p:nvPr/>
        </p:nvSpPr>
        <p:spPr>
          <a:xfrm>
            <a:off x="438150" y="755789"/>
            <a:ext cx="8248650" cy="4824398"/>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Let us say that if you have to perform machine learning, you need to decide which algorithm to use, and through which model, and then you need to train the model accordingly. </a:t>
            </a:r>
          </a:p>
          <a:p>
            <a:pPr marL="342900" indent="-342900" algn="just">
              <a:lnSpc>
                <a:spcPct val="150000"/>
              </a:lnSpc>
              <a:buFont typeface="Wingdings" panose="05000000000000000000" pitchFamily="2" charset="2"/>
              <a:buChar char="v"/>
            </a:pPr>
            <a:endParaRPr lang="en-IN" altLang="en-US" sz="205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This is the modeling process, which then runs your data through the model. </a:t>
            </a:r>
          </a:p>
          <a:p>
            <a:pPr marL="342900" indent="-342900" algn="just">
              <a:lnSpc>
                <a:spcPct val="150000"/>
              </a:lnSpc>
              <a:buFont typeface="Wingdings" panose="05000000000000000000" pitchFamily="2" charset="2"/>
              <a:buChar char="v"/>
            </a:pPr>
            <a:endParaRPr lang="en-IN" altLang="en-US" sz="205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Then through this process, you come out to the final results of this exercise which includes visualizing the results and preparing a way to communicate the results to the people concerned.</a:t>
            </a:r>
          </a:p>
        </p:txBody>
      </p:sp>
    </p:spTree>
    <p:extLst>
      <p:ext uri="{BB962C8B-B14F-4D97-AF65-F5344CB8AC3E}">
        <p14:creationId xmlns:p14="http://schemas.microsoft.com/office/powerpoint/2010/main" val="3424150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27</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IN" altLang="en-US" sz="2400" b="1" dirty="0">
                <a:solidFill>
                  <a:srgbClr val="FF0000"/>
                </a:solidFill>
                <a:latin typeface="CG Omega" pitchFamily="34" charset="0"/>
              </a:rPr>
              <a:t>Business Intelligence and Data Science</a:t>
            </a:r>
            <a:endParaRPr lang="en-US" altLang="en-US" sz="2400" b="1" dirty="0">
              <a:solidFill>
                <a:srgbClr val="FF0000"/>
              </a:solidFill>
              <a:latin typeface="CG Omega" pitchFamily="34" charset="0"/>
            </a:endParaRPr>
          </a:p>
        </p:txBody>
      </p:sp>
      <p:sp>
        <p:nvSpPr>
          <p:cNvPr id="2" name="Rectangle 1"/>
          <p:cNvSpPr/>
          <p:nvPr/>
        </p:nvSpPr>
        <p:spPr>
          <a:xfrm>
            <a:off x="438150" y="755789"/>
            <a:ext cx="8248650" cy="4765920"/>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Business intelligence is one of the initial phases where people want to make some sense out of data. </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Earlier the manufacturing and selling was managed through enterprise resource planning ERP system or customer relation-ship management (CRM) systems. </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For creating business intelligence through data science, structured data were used. </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ERP or CRM system works on relational data-base system, RDBMS such as Oracle, SQL and MySQL which use structured data inputs.</a:t>
            </a:r>
          </a:p>
        </p:txBody>
      </p:sp>
    </p:spTree>
    <p:extLst>
      <p:ext uri="{BB962C8B-B14F-4D97-AF65-F5344CB8AC3E}">
        <p14:creationId xmlns:p14="http://schemas.microsoft.com/office/powerpoint/2010/main" val="157066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28</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IN" altLang="en-US" sz="2400" b="1" dirty="0">
                <a:solidFill>
                  <a:srgbClr val="FF0000"/>
                </a:solidFill>
                <a:latin typeface="CG Omega" pitchFamily="34" charset="0"/>
              </a:rPr>
              <a:t>Business Intelligence vs. Data Science</a:t>
            </a:r>
            <a:endParaRPr lang="en-US" altLang="en-US" sz="2400" b="1" dirty="0">
              <a:solidFill>
                <a:srgbClr val="FF0000"/>
              </a:solidFill>
              <a:latin typeface="CG Omega" pitchFamily="34" charset="0"/>
            </a:endParaRPr>
          </a:p>
        </p:txBody>
      </p:sp>
      <p:sp>
        <p:nvSpPr>
          <p:cNvPr id="2" name="Rectangle 1"/>
          <p:cNvSpPr/>
          <p:nvPr/>
        </p:nvSpPr>
        <p:spPr>
          <a:xfrm>
            <a:off x="438150" y="755789"/>
            <a:ext cx="8248650" cy="4824398"/>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business intelligence uses structured data that reports on dashboards. Data science in addition to structured data also uses a lot of unstructured data, for example, Web or comments. </a:t>
            </a:r>
          </a:p>
          <a:p>
            <a:pPr marL="800100" lvl="1" indent="-342900" algn="just">
              <a:lnSpc>
                <a:spcPct val="150000"/>
              </a:lnSpc>
              <a:buFont typeface="Wingdings" panose="05000000000000000000" pitchFamily="2" charset="2"/>
              <a:buChar char="Ø"/>
            </a:pPr>
            <a:r>
              <a:rPr lang="en-IN" altLang="en-US" sz="2050" dirty="0">
                <a:latin typeface="Arial" panose="020B0604020202020204" pitchFamily="34" charset="0"/>
                <a:cs typeface="Arial" panose="020B0604020202020204" pitchFamily="34" charset="0"/>
              </a:rPr>
              <a:t>If we are talking about customer feedback, it may be structured if gathered in formatted rubrics or may be unstructured if scripted for performance analysis. That is, data sources may be in different formats.</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Business intelligence is analytical in the sense that you have some data, and you are just trying to present the truth out of it. In the case of data science, we go beyond that.</a:t>
            </a:r>
          </a:p>
        </p:txBody>
      </p:sp>
    </p:spTree>
    <p:extLst>
      <p:ext uri="{BB962C8B-B14F-4D97-AF65-F5344CB8AC3E}">
        <p14:creationId xmlns:p14="http://schemas.microsoft.com/office/powerpoint/2010/main" val="1212063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29</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IN" altLang="en-US" sz="2400" b="1" dirty="0">
                <a:solidFill>
                  <a:srgbClr val="FF0000"/>
                </a:solidFill>
                <a:latin typeface="CG Omega" pitchFamily="34" charset="0"/>
              </a:rPr>
              <a:t>Business Intelligence vs. Data Science</a:t>
            </a:r>
            <a:endParaRPr lang="en-US" altLang="en-US" sz="2400" b="1" dirty="0">
              <a:solidFill>
                <a:srgbClr val="FF0000"/>
              </a:solidFill>
              <a:latin typeface="CG Omega" pitchFamily="34" charset="0"/>
            </a:endParaRPr>
          </a:p>
        </p:txBody>
      </p:sp>
      <p:sp>
        <p:nvSpPr>
          <p:cNvPr id="2" name="Rectangle 1"/>
          <p:cNvSpPr/>
          <p:nvPr/>
        </p:nvSpPr>
        <p:spPr>
          <a:xfrm>
            <a:off x="438150" y="755789"/>
            <a:ext cx="8248650" cy="3819507"/>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Business intelligence uses many statistics such as correlations and regressions to predict what will be the sales maybe in the future. In the case of data science, skills are many more as compared to business intelligence.</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focus of business intelligence is pretty much on historical data. In data science, you take historical data, but you also combine it with some other required information and you also try to predict the future.</a:t>
            </a:r>
          </a:p>
        </p:txBody>
      </p:sp>
    </p:spTree>
    <p:extLst>
      <p:ext uri="{BB962C8B-B14F-4D97-AF65-F5344CB8AC3E}">
        <p14:creationId xmlns:p14="http://schemas.microsoft.com/office/powerpoint/2010/main" val="3552790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Scientist</a:t>
            </a:r>
            <a:endParaRPr lang="en-US" dirty="0"/>
          </a:p>
        </p:txBody>
      </p:sp>
      <p:sp>
        <p:nvSpPr>
          <p:cNvPr id="3" name="Content Placeholder 2"/>
          <p:cNvSpPr>
            <a:spLocks noGrp="1"/>
          </p:cNvSpPr>
          <p:nvPr>
            <p:ph idx="1"/>
          </p:nvPr>
        </p:nvSpPr>
        <p:spPr/>
        <p:txBody>
          <a:bodyPr/>
          <a:lstStyle/>
          <a:p>
            <a:r>
              <a:rPr lang="en-US"/>
              <a:t>A Data Scientist requires expertise in several backgrounds:</a:t>
            </a:r>
          </a:p>
          <a:p>
            <a:pPr lvl="1"/>
            <a:r>
              <a:rPr lang="en-US"/>
              <a:t>Machine Learning</a:t>
            </a:r>
          </a:p>
          <a:p>
            <a:pPr lvl="1"/>
            <a:r>
              <a:rPr lang="en-US"/>
              <a:t>Statistics</a:t>
            </a:r>
          </a:p>
          <a:p>
            <a:pPr lvl="1"/>
            <a:r>
              <a:rPr lang="en-US"/>
              <a:t>Programming (Python or R)</a:t>
            </a:r>
          </a:p>
          <a:p>
            <a:pPr lvl="1"/>
            <a:r>
              <a:rPr lang="en-US"/>
              <a:t>Mathematics</a:t>
            </a:r>
          </a:p>
          <a:p>
            <a:pPr lvl="1"/>
            <a:r>
              <a:rPr lang="en-US"/>
              <a:t>Databases</a:t>
            </a:r>
            <a:endParaRPr lang="en-US" dirty="0"/>
          </a:p>
        </p:txBody>
      </p:sp>
      <p:sp>
        <p:nvSpPr>
          <p:cNvPr id="4" name="Slide Number Placeholder 3"/>
          <p:cNvSpPr>
            <a:spLocks noGrp="1"/>
          </p:cNvSpPr>
          <p:nvPr>
            <p:ph type="sldNum" sz="quarter" idx="4294967295"/>
          </p:nvPr>
        </p:nvSpPr>
        <p:spPr>
          <a:xfrm>
            <a:off x="7864475" y="6224588"/>
            <a:ext cx="1279525" cy="365125"/>
          </a:xfrm>
          <a:prstGeom prst="rect">
            <a:avLst/>
          </a:prstGeom>
        </p:spPr>
        <p:txBody>
          <a:bodyPr/>
          <a:lstStyle/>
          <a:p>
            <a:fld id="{F4D18B09-6FF3-4F83-907F-EA74177A711D}" type="slidenum">
              <a:rPr lang="en-US" altLang="en-US" smtClean="0"/>
              <a:pPr/>
              <a:t>30</a:t>
            </a:fld>
            <a:endParaRPr lang="en-US" altLang="en-US"/>
          </a:p>
        </p:txBody>
      </p:sp>
    </p:spTree>
    <p:extLst>
      <p:ext uri="{BB962C8B-B14F-4D97-AF65-F5344CB8AC3E}">
        <p14:creationId xmlns:p14="http://schemas.microsoft.com/office/powerpoint/2010/main" val="35159533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Scientist role</a:t>
            </a:r>
            <a:endParaRPr lang="en-US" dirty="0"/>
          </a:p>
        </p:txBody>
      </p:sp>
      <p:sp>
        <p:nvSpPr>
          <p:cNvPr id="3" name="Content Placeholder 2"/>
          <p:cNvSpPr>
            <a:spLocks noGrp="1"/>
          </p:cNvSpPr>
          <p:nvPr>
            <p:ph idx="1"/>
          </p:nvPr>
        </p:nvSpPr>
        <p:spPr/>
        <p:txBody>
          <a:bodyPr/>
          <a:lstStyle/>
          <a:p>
            <a:r>
              <a:rPr lang="en-US"/>
              <a:t>A Data Scientist must find patterns within the data. Before he/she can find the patterns, he/she must organize the data in a standard format.</a:t>
            </a:r>
          </a:p>
          <a:p>
            <a:pPr lvl="1"/>
            <a:r>
              <a:rPr lang="en-US"/>
              <a:t>Here is how a Data Scientist works:</a:t>
            </a:r>
          </a:p>
          <a:p>
            <a:pPr lvl="1"/>
            <a:r>
              <a:rPr lang="en-US"/>
              <a:t>Ask the right questions - To understand the business problem.</a:t>
            </a:r>
          </a:p>
          <a:p>
            <a:pPr lvl="1"/>
            <a:r>
              <a:rPr lang="en-US"/>
              <a:t>Explore and collect data - From database, web logs, customer feedback, etc.</a:t>
            </a:r>
          </a:p>
          <a:p>
            <a:pPr lvl="1"/>
            <a:r>
              <a:rPr lang="en-US"/>
              <a:t>Extract the data - Transform the data to a standardized format.</a:t>
            </a:r>
          </a:p>
          <a:p>
            <a:pPr lvl="1"/>
            <a:r>
              <a:rPr lang="en-US"/>
              <a:t>Clean the data - Remove erroneous values from the data.</a:t>
            </a:r>
          </a:p>
          <a:p>
            <a:pPr lvl="1"/>
            <a:r>
              <a:rPr lang="en-US"/>
              <a:t>Find and replace missing values - Check for missing values and replace them with a suitable value (e.g. an average value).</a:t>
            </a:r>
          </a:p>
          <a:p>
            <a:pPr lvl="1"/>
            <a:r>
              <a:rPr lang="en-US"/>
              <a:t>Normalize data - Scale the values in a practical range (e.g. 140 cm is smaller than 1,8 m. However, the number 140 is larger than 1,8. - so scaling is important).</a:t>
            </a:r>
          </a:p>
          <a:p>
            <a:pPr lvl="1"/>
            <a:r>
              <a:rPr lang="en-US"/>
              <a:t>Analyze data, find patterns and make future predictions.</a:t>
            </a:r>
          </a:p>
          <a:p>
            <a:pPr lvl="1"/>
            <a:r>
              <a:rPr lang="en-US"/>
              <a:t>Represent the result - Present the result with useful insights in a way the "company" can understand.</a:t>
            </a:r>
            <a:endParaRPr lang="en-US" dirty="0"/>
          </a:p>
        </p:txBody>
      </p:sp>
      <p:sp>
        <p:nvSpPr>
          <p:cNvPr id="4" name="Slide Number Placeholder 3"/>
          <p:cNvSpPr>
            <a:spLocks noGrp="1"/>
          </p:cNvSpPr>
          <p:nvPr>
            <p:ph type="sldNum" sz="quarter" idx="4294967295"/>
          </p:nvPr>
        </p:nvSpPr>
        <p:spPr>
          <a:xfrm>
            <a:off x="7864475" y="6224588"/>
            <a:ext cx="1279525" cy="365125"/>
          </a:xfrm>
          <a:prstGeom prst="rect">
            <a:avLst/>
          </a:prstGeom>
        </p:spPr>
        <p:txBody>
          <a:bodyPr/>
          <a:lstStyle/>
          <a:p>
            <a:fld id="{F4D18B09-6FF3-4F83-907F-EA74177A711D}" type="slidenum">
              <a:rPr lang="en-US" altLang="en-US" smtClean="0"/>
              <a:pPr/>
              <a:t>31</a:t>
            </a:fld>
            <a:endParaRPr lang="en-US" altLang="en-US"/>
          </a:p>
        </p:txBody>
      </p:sp>
    </p:spTree>
    <p:extLst>
      <p:ext uri="{BB962C8B-B14F-4D97-AF65-F5344CB8AC3E}">
        <p14:creationId xmlns:p14="http://schemas.microsoft.com/office/powerpoint/2010/main" val="4041585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a:t>Concentration in Data Science</a:t>
            </a:r>
            <a:endParaRPr lang="en-US" altLang="en-US" dirty="0"/>
          </a:p>
        </p:txBody>
      </p:sp>
      <p:sp>
        <p:nvSpPr>
          <p:cNvPr id="3" name="Content Placeholder 2"/>
          <p:cNvSpPr>
            <a:spLocks noGrp="1"/>
          </p:cNvSpPr>
          <p:nvPr>
            <p:ph idx="1"/>
          </p:nvPr>
        </p:nvSpPr>
        <p:spPr/>
        <p:txBody>
          <a:bodyPr/>
          <a:lstStyle/>
          <a:p>
            <a:r>
              <a:rPr lang="en-US"/>
              <a:t>Mathematics and Applied Mathematics</a:t>
            </a:r>
          </a:p>
          <a:p>
            <a:r>
              <a:rPr lang="en-US"/>
              <a:t>Applied Statistics/Data Analysis</a:t>
            </a:r>
          </a:p>
          <a:p>
            <a:r>
              <a:rPr lang="en-US"/>
              <a:t>Solid Programming Skills (R, Python, Julia, SQL)</a:t>
            </a:r>
          </a:p>
          <a:p>
            <a:r>
              <a:rPr lang="en-US"/>
              <a:t>Data Mining</a:t>
            </a:r>
          </a:p>
          <a:p>
            <a:r>
              <a:rPr lang="en-US"/>
              <a:t>Data Base Storage and Management</a:t>
            </a:r>
          </a:p>
          <a:p>
            <a:r>
              <a:rPr lang="en-US"/>
              <a:t>Machine Learning and discovery</a:t>
            </a:r>
          </a:p>
          <a:p>
            <a:endParaRPr lang="en-US"/>
          </a:p>
          <a:p>
            <a:endParaRPr lang="en-US"/>
          </a:p>
          <a:p>
            <a:endParaRPr lang="en-US"/>
          </a:p>
          <a:p>
            <a:endParaRPr lang="en-US" dirty="0"/>
          </a:p>
        </p:txBody>
      </p:sp>
    </p:spTree>
    <p:extLst>
      <p:ext uri="{BB962C8B-B14F-4D97-AF65-F5344CB8AC3E}">
        <p14:creationId xmlns:p14="http://schemas.microsoft.com/office/powerpoint/2010/main" val="41904778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Scientists</a:t>
            </a:r>
            <a:endParaRPr lang="en-US" dirty="0"/>
          </a:p>
        </p:txBody>
      </p:sp>
      <p:sp>
        <p:nvSpPr>
          <p:cNvPr id="3" name="Content Placeholder 2"/>
          <p:cNvSpPr>
            <a:spLocks noGrp="1"/>
          </p:cNvSpPr>
          <p:nvPr>
            <p:ph idx="1"/>
          </p:nvPr>
        </p:nvSpPr>
        <p:spPr/>
        <p:txBody>
          <a:bodyPr/>
          <a:lstStyle/>
          <a:p>
            <a:r>
              <a:rPr lang="en-US"/>
              <a:t>Data scientists are the key to realizing the opportunities presented by big data. They bring structure to it, find compelling patterns in it, and advise executives on the implications for products, processes, and decisions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4419600"/>
            <a:ext cx="2714625" cy="1685925"/>
          </a:xfrm>
          <a:prstGeom prst="rect">
            <a:avLst/>
          </a:prstGeom>
        </p:spPr>
      </p:pic>
    </p:spTree>
    <p:extLst>
      <p:ext uri="{BB962C8B-B14F-4D97-AF65-F5344CB8AC3E}">
        <p14:creationId xmlns:p14="http://schemas.microsoft.com/office/powerpoint/2010/main" val="37877957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Scientists</a:t>
            </a:r>
            <a:endParaRPr lang="en-US" dirty="0"/>
          </a:p>
        </p:txBody>
      </p:sp>
      <p:sp>
        <p:nvSpPr>
          <p:cNvPr id="3" name="Content Placeholder 2"/>
          <p:cNvSpPr>
            <a:spLocks noGrp="1"/>
          </p:cNvSpPr>
          <p:nvPr>
            <p:ph idx="1"/>
          </p:nvPr>
        </p:nvSpPr>
        <p:spPr/>
        <p:txBody>
          <a:bodyPr/>
          <a:lstStyle/>
          <a:p>
            <a:r>
              <a:rPr lang="en-US"/>
              <a:t>Data Scientist</a:t>
            </a:r>
          </a:p>
          <a:p>
            <a:pPr lvl="1"/>
            <a:r>
              <a:rPr lang="en-US"/>
              <a:t>The Sexiest Job of the 21st Century</a:t>
            </a:r>
          </a:p>
          <a:p>
            <a:r>
              <a:rPr lang="en-US"/>
              <a:t>They find stories, extract knowledge. They are not reporters </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09999" y="3561588"/>
            <a:ext cx="4262255" cy="2839212"/>
          </a:xfrm>
          <a:prstGeom prst="rect">
            <a:avLst/>
          </a:prstGeom>
        </p:spPr>
      </p:pic>
    </p:spTree>
    <p:extLst>
      <p:ext uri="{BB962C8B-B14F-4D97-AF65-F5344CB8AC3E}">
        <p14:creationId xmlns:p14="http://schemas.microsoft.com/office/powerpoint/2010/main" val="18469748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What do Data Scientists do</a:t>
            </a:r>
            <a:r>
              <a:rPr lang="en-US" altLang="en-US"/>
              <a:t>?</a:t>
            </a:r>
            <a:endParaRPr lang="en-US" altLang="en-US" dirty="0"/>
          </a:p>
        </p:txBody>
      </p:sp>
      <p:sp>
        <p:nvSpPr>
          <p:cNvPr id="3" name="Content Placeholder 2"/>
          <p:cNvSpPr>
            <a:spLocks noGrp="1"/>
          </p:cNvSpPr>
          <p:nvPr>
            <p:ph idx="1"/>
          </p:nvPr>
        </p:nvSpPr>
        <p:spPr/>
        <p:txBody>
          <a:bodyPr/>
          <a:lstStyle/>
          <a:p>
            <a:r>
              <a:rPr lang="en-US"/>
              <a:t>National Security</a:t>
            </a:r>
          </a:p>
          <a:p>
            <a:r>
              <a:rPr lang="en-US"/>
              <a:t>Cyber Security</a:t>
            </a:r>
          </a:p>
          <a:p>
            <a:r>
              <a:rPr lang="en-US"/>
              <a:t>Business Analytics</a:t>
            </a:r>
          </a:p>
          <a:p>
            <a:r>
              <a:rPr lang="en-US"/>
              <a:t>Engineering </a:t>
            </a:r>
          </a:p>
          <a:p>
            <a:r>
              <a:rPr lang="en-US"/>
              <a:t>Healthcare </a:t>
            </a:r>
          </a:p>
          <a:p>
            <a:r>
              <a:rPr lang="en-US"/>
              <a:t>And more ….</a:t>
            </a:r>
          </a:p>
          <a:p>
            <a:endParaRPr lang="en-US"/>
          </a:p>
          <a:p>
            <a:endParaRPr lang="en-US"/>
          </a:p>
          <a:p>
            <a:endParaRPr lang="en-US"/>
          </a:p>
          <a:p>
            <a:endParaRPr lang="en-US"/>
          </a:p>
          <a:p>
            <a:endParaRPr lang="en-US" dirty="0"/>
          </a:p>
        </p:txBody>
      </p:sp>
    </p:spTree>
    <p:extLst>
      <p:ext uri="{BB962C8B-B14F-4D97-AF65-F5344CB8AC3E}">
        <p14:creationId xmlns:p14="http://schemas.microsoft.com/office/powerpoint/2010/main" val="2032583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36</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pt-BR" altLang="en-US" sz="2400" b="1" dirty="0">
                <a:solidFill>
                  <a:srgbClr val="FF0000"/>
                </a:solidFill>
                <a:latin typeface="CG Omega" pitchFamily="34" charset="0"/>
              </a:rPr>
              <a:t>Prerequisites for a Data Scientist</a:t>
            </a:r>
            <a:endParaRPr lang="en-US" altLang="en-US" sz="2400" b="1" dirty="0">
              <a:solidFill>
                <a:srgbClr val="FF0000"/>
              </a:solidFill>
              <a:latin typeface="CG Omega" pitchFamily="34" charset="0"/>
            </a:endParaRPr>
          </a:p>
        </p:txBody>
      </p:sp>
      <p:sp>
        <p:nvSpPr>
          <p:cNvPr id="2" name="Rectangle 1"/>
          <p:cNvSpPr/>
          <p:nvPr/>
        </p:nvSpPr>
        <p:spPr>
          <a:xfrm>
            <a:off x="438150" y="755789"/>
            <a:ext cx="8248650" cy="5297604"/>
          </a:xfrm>
          <a:prstGeom prst="rect">
            <a:avLst/>
          </a:prstGeom>
        </p:spPr>
        <p:txBody>
          <a:bodyPr wrap="square">
            <a:spAutoFit/>
          </a:bodyPr>
          <a:lstStyle/>
          <a:p>
            <a:pPr algn="ctr">
              <a:lnSpc>
                <a:spcPct val="150000"/>
              </a:lnSpc>
            </a:pPr>
            <a:r>
              <a:rPr lang="en-IN" altLang="en-US" sz="2050" dirty="0">
                <a:solidFill>
                  <a:srgbClr val="6600CC"/>
                </a:solidFill>
                <a:latin typeface="Arial" panose="020B0604020202020204" pitchFamily="34" charset="0"/>
                <a:cs typeface="Arial" panose="020B0604020202020204" pitchFamily="34" charset="0"/>
              </a:rPr>
              <a:t>There’s a joke that says a data scientist is someone who knows more statistics than a computer scientist and more computer science than a statistician. </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Typically a data scientist is given a problem, i.e., business problem, and he needs to solve it. To do that, he asks the question as to what is the problem that needs to be solved, which is the first thing he gets from a problem. </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next thing is to gather the data that is required to solve the problem, so he searches for data from anywhere. In the enterprise, very often the data is not provided in the structured format that he would like to have.</a:t>
            </a:r>
          </a:p>
        </p:txBody>
      </p:sp>
    </p:spTree>
    <p:extLst>
      <p:ext uri="{BB962C8B-B14F-4D97-AF65-F5344CB8AC3E}">
        <p14:creationId xmlns:p14="http://schemas.microsoft.com/office/powerpoint/2010/main" val="33127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37</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pt-BR" altLang="en-US" sz="2400" b="1" dirty="0">
                <a:solidFill>
                  <a:srgbClr val="FF0000"/>
                </a:solidFill>
                <a:latin typeface="CG Omega" pitchFamily="34" charset="0"/>
              </a:rPr>
              <a:t>Prerequisites for a Data Scientist</a:t>
            </a:r>
            <a:endParaRPr lang="en-US" altLang="en-US" sz="2400" b="1" dirty="0">
              <a:solidFill>
                <a:srgbClr val="FF0000"/>
              </a:solidFill>
              <a:latin typeface="CG Omega" pitchFamily="34" charset="0"/>
            </a:endParaRPr>
          </a:p>
        </p:txBody>
      </p:sp>
      <p:sp>
        <p:nvSpPr>
          <p:cNvPr id="2" name="Rectangle 1"/>
          <p:cNvSpPr/>
          <p:nvPr/>
        </p:nvSpPr>
        <p:spPr>
          <a:xfrm>
            <a:off x="438150" y="755789"/>
            <a:ext cx="8248650" cy="5770811"/>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first step is to get possible raw data in any format. The data may be enterprise data or public data. The raw data collected and converted into required format for analysis. </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cleaned and formatted data used as an input to statistical model through machine learning mechanisms for communicating analytics results to stakeholders. </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role of data scientist is to gather data, process data in required format, manipulates as per requirements and feed for analysis.</a:t>
            </a:r>
          </a:p>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analysis helps to build mathematical models or machine learning models which are used to present system </a:t>
            </a:r>
            <a:r>
              <a:rPr lang="en-IN" altLang="en-US" sz="2050" dirty="0" err="1">
                <a:latin typeface="Arial" panose="020B0604020202020204" pitchFamily="34" charset="0"/>
                <a:cs typeface="Arial" panose="020B0604020202020204" pitchFamily="34" charset="0"/>
              </a:rPr>
              <a:t>behavior</a:t>
            </a:r>
            <a:r>
              <a:rPr lang="en-IN" altLang="en-US" sz="2050" dirty="0">
                <a:latin typeface="Arial" panose="020B0604020202020204" pitchFamily="34" charset="0"/>
                <a:cs typeface="Arial" panose="020B0604020202020204" pitchFamily="34" charset="0"/>
              </a:rPr>
              <a:t> to concern stake-holders.</a:t>
            </a:r>
          </a:p>
          <a:p>
            <a:pPr algn="ctr">
              <a:lnSpc>
                <a:spcPct val="150000"/>
              </a:lnSpc>
            </a:pPr>
            <a:r>
              <a:rPr lang="en-IN" altLang="en-US" sz="2050" dirty="0">
                <a:solidFill>
                  <a:srgbClr val="6600CC"/>
                </a:solidFill>
                <a:latin typeface="Arial" panose="020B0604020202020204" pitchFamily="34" charset="0"/>
                <a:cs typeface="Arial" panose="020B0604020202020204" pitchFamily="34" charset="0"/>
              </a:rPr>
              <a:t>This is the very high-level view of a day in the life of a data scientist. </a:t>
            </a:r>
          </a:p>
        </p:txBody>
      </p:sp>
    </p:spTree>
    <p:extLst>
      <p:ext uri="{BB962C8B-B14F-4D97-AF65-F5344CB8AC3E}">
        <p14:creationId xmlns:p14="http://schemas.microsoft.com/office/powerpoint/2010/main" val="3172482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38</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pt-BR" altLang="en-US" sz="2400" b="1" dirty="0">
                <a:solidFill>
                  <a:srgbClr val="FF0000"/>
                </a:solidFill>
                <a:latin typeface="CG Omega" pitchFamily="34" charset="0"/>
              </a:rPr>
              <a:t>Prerequisites for a Data Scientist</a:t>
            </a:r>
            <a:endParaRPr lang="en-US" altLang="en-US" sz="2400" b="1" dirty="0">
              <a:solidFill>
                <a:srgbClr val="FF0000"/>
              </a:solidFill>
              <a:latin typeface="CG Omega" pitchFamily="34" charset="0"/>
            </a:endParaRPr>
          </a:p>
        </p:txBody>
      </p:sp>
      <p:sp>
        <p:nvSpPr>
          <p:cNvPr id="2" name="Rectangle 1"/>
          <p:cNvSpPr/>
          <p:nvPr/>
        </p:nvSpPr>
        <p:spPr>
          <a:xfrm>
            <a:off x="438150" y="755789"/>
            <a:ext cx="8248650" cy="5770811"/>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There are three essential things required to be a data scientist.</a:t>
            </a:r>
          </a:p>
          <a:p>
            <a:pPr marL="800100" lvl="1" indent="-342900" algn="just">
              <a:lnSpc>
                <a:spcPct val="150000"/>
              </a:lnSpc>
              <a:buFont typeface="Wingdings" panose="05000000000000000000" pitchFamily="2" charset="2"/>
              <a:buChar char="Ø"/>
            </a:pPr>
            <a:r>
              <a:rPr lang="en-IN" altLang="en-US" sz="2050" dirty="0">
                <a:solidFill>
                  <a:srgbClr val="6600CC"/>
                </a:solidFill>
                <a:latin typeface="Arial" panose="020B0604020202020204" pitchFamily="34" charset="0"/>
                <a:cs typeface="Arial" panose="020B0604020202020204" pitchFamily="34" charset="0"/>
              </a:rPr>
              <a:t>Curiosity.</a:t>
            </a:r>
          </a:p>
          <a:p>
            <a:pPr marL="800100" lvl="1" indent="-342900" algn="just">
              <a:lnSpc>
                <a:spcPct val="150000"/>
              </a:lnSpc>
              <a:buFont typeface="Wingdings" panose="05000000000000000000" pitchFamily="2" charset="2"/>
              <a:buChar char="Ø"/>
            </a:pPr>
            <a:r>
              <a:rPr lang="en-IN" altLang="en-US" sz="2050" dirty="0">
                <a:solidFill>
                  <a:srgbClr val="6600CC"/>
                </a:solidFill>
                <a:latin typeface="Arial" panose="020B0604020202020204" pitchFamily="34" charset="0"/>
                <a:cs typeface="Arial" panose="020B0604020202020204" pitchFamily="34" charset="0"/>
              </a:rPr>
              <a:t>Common sense</a:t>
            </a:r>
          </a:p>
          <a:p>
            <a:pPr marL="800100" lvl="1" indent="-342900" algn="just">
              <a:lnSpc>
                <a:spcPct val="150000"/>
              </a:lnSpc>
              <a:buFont typeface="Wingdings" panose="05000000000000000000" pitchFamily="2" charset="2"/>
              <a:buChar char="Ø"/>
            </a:pPr>
            <a:r>
              <a:rPr lang="en-IN" altLang="en-US" sz="2050" dirty="0">
                <a:solidFill>
                  <a:srgbClr val="6600CC"/>
                </a:solidFill>
                <a:latin typeface="Arial" panose="020B0604020202020204" pitchFamily="34" charset="0"/>
                <a:cs typeface="Arial" panose="020B0604020202020204" pitchFamily="34" charset="0"/>
              </a:rPr>
              <a:t>Communication skills</a:t>
            </a:r>
          </a:p>
          <a:p>
            <a:pPr marL="342900" indent="-342900" algn="just">
              <a:lnSpc>
                <a:spcPct val="150000"/>
              </a:lnSpc>
              <a:buFont typeface="Wingdings" panose="05000000000000000000" pitchFamily="2" charset="2"/>
              <a:buChar char="v"/>
            </a:pPr>
            <a:endParaRPr lang="en-IN" altLang="en-US" sz="205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v"/>
            </a:pPr>
            <a:r>
              <a:rPr lang="en-IN" altLang="en-US" sz="2050" dirty="0">
                <a:solidFill>
                  <a:srgbClr val="009900"/>
                </a:solidFill>
                <a:latin typeface="Arial" panose="020B0604020202020204" pitchFamily="34" charset="0"/>
                <a:cs typeface="Arial" panose="020B0604020202020204" pitchFamily="34" charset="0"/>
              </a:rPr>
              <a:t>Curiosity: </a:t>
            </a:r>
            <a:r>
              <a:rPr lang="en-IN" altLang="en-US" sz="2050" dirty="0">
                <a:latin typeface="Arial" panose="020B0604020202020204" pitchFamily="34" charset="0"/>
                <a:cs typeface="Arial" panose="020B0604020202020204" pitchFamily="34" charset="0"/>
              </a:rPr>
              <a:t>The first step in data science is asking the question what is the problem you are trying to solve; if you ask the right question, then you will get the right answer. This is very crucial step, since it directly impact on project success.</a:t>
            </a:r>
          </a:p>
          <a:p>
            <a:pPr marL="342900" indent="-342900" algn="just">
              <a:lnSpc>
                <a:spcPct val="150000"/>
              </a:lnSpc>
              <a:buFont typeface="Wingdings" panose="05000000000000000000" pitchFamily="2" charset="2"/>
              <a:buChar char="v"/>
            </a:pPr>
            <a:r>
              <a:rPr lang="en-IN" altLang="en-US" sz="2050" dirty="0">
                <a:solidFill>
                  <a:srgbClr val="009900"/>
                </a:solidFill>
                <a:latin typeface="Arial" panose="020B0604020202020204" pitchFamily="34" charset="0"/>
                <a:cs typeface="Arial" panose="020B0604020202020204" pitchFamily="34" charset="0"/>
              </a:rPr>
              <a:t>Common Sense: </a:t>
            </a:r>
            <a:r>
              <a:rPr lang="en-IN" altLang="en-US" sz="2050" dirty="0">
                <a:latin typeface="Arial" panose="020B0604020202020204" pitchFamily="34" charset="0"/>
                <a:cs typeface="Arial" panose="020B0604020202020204" pitchFamily="34" charset="0"/>
              </a:rPr>
              <a:t>The data scientist needs to be creative in solving problems at hand. In many cases, you may not have sufficient data to conclude; hence, you need to fulfil this gap intelligently.</a:t>
            </a:r>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399" y="1371600"/>
            <a:ext cx="4724401" cy="129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95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6148"/>
                                        </p:tgtEl>
                                        <p:attrNameLst>
                                          <p:attrName>style.visibility</p:attrName>
                                        </p:attrNameLst>
                                      </p:cBhvr>
                                      <p:to>
                                        <p:strVal val="visible"/>
                                      </p:to>
                                    </p:set>
                                    <p:animEffect transition="in" filter="barn(inVertical)">
                                      <p:cBhvr>
                                        <p:cTn id="14" dur="500"/>
                                        <p:tgtEl>
                                          <p:spTgt spid="6148"/>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fade">
                                      <p:cBhvr>
                                        <p:cTn id="26" dur="1000"/>
                                        <p:tgtEl>
                                          <p:spTgt spid="2">
                                            <p:txEl>
                                              <p:pRg st="2" end="2"/>
                                            </p:txEl>
                                          </p:spTgt>
                                        </p:tgtEl>
                                      </p:cBhvr>
                                    </p:animEffect>
                                    <p:anim calcmode="lin" valueType="num">
                                      <p:cBhvr>
                                        <p:cTn id="27"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fade">
                                      <p:cBhvr>
                                        <p:cTn id="33" dur="1000"/>
                                        <p:tgtEl>
                                          <p:spTgt spid="2">
                                            <p:txEl>
                                              <p:pRg st="3" end="3"/>
                                            </p:txEl>
                                          </p:spTgt>
                                        </p:tgtEl>
                                      </p:cBhvr>
                                    </p:animEffect>
                                    <p:anim calcmode="lin" valueType="num">
                                      <p:cBhvr>
                                        <p:cTn id="34"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
                                            <p:txEl>
                                              <p:pRg st="5" end="5"/>
                                            </p:txEl>
                                          </p:spTgt>
                                        </p:tgtEl>
                                        <p:attrNameLst>
                                          <p:attrName>style.visibility</p:attrName>
                                        </p:attrNameLst>
                                      </p:cBhvr>
                                      <p:to>
                                        <p:strVal val="visible"/>
                                      </p:to>
                                    </p:set>
                                    <p:animEffect transition="in" filter="fade">
                                      <p:cBhvr>
                                        <p:cTn id="40" dur="1000"/>
                                        <p:tgtEl>
                                          <p:spTgt spid="2">
                                            <p:txEl>
                                              <p:pRg st="5" end="5"/>
                                            </p:txEl>
                                          </p:spTgt>
                                        </p:tgtEl>
                                      </p:cBhvr>
                                    </p:animEffect>
                                    <p:anim calcmode="lin" valueType="num">
                                      <p:cBhvr>
                                        <p:cTn id="41"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animEffect transition="in" filter="fade">
                                      <p:cBhvr>
                                        <p:cTn id="47" dur="1000"/>
                                        <p:tgtEl>
                                          <p:spTgt spid="2">
                                            <p:txEl>
                                              <p:pRg st="6" end="6"/>
                                            </p:txEl>
                                          </p:spTgt>
                                        </p:tgtEl>
                                      </p:cBhvr>
                                    </p:animEffect>
                                    <p:anim calcmode="lin" valueType="num">
                                      <p:cBhvr>
                                        <p:cTn id="48"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39</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pt-BR" altLang="en-US" sz="2400" b="1" dirty="0">
                <a:solidFill>
                  <a:srgbClr val="FF0000"/>
                </a:solidFill>
                <a:latin typeface="CG Omega" pitchFamily="34" charset="0"/>
              </a:rPr>
              <a:t>Prerequisites for a Data Scientist</a:t>
            </a:r>
            <a:endParaRPr lang="en-US" altLang="en-US" sz="2400" b="1" dirty="0">
              <a:solidFill>
                <a:srgbClr val="FF0000"/>
              </a:solidFill>
              <a:latin typeface="CG Omega" pitchFamily="34" charset="0"/>
            </a:endParaRPr>
          </a:p>
        </p:txBody>
      </p:sp>
      <p:sp>
        <p:nvSpPr>
          <p:cNvPr id="2" name="Rectangle 1"/>
          <p:cNvSpPr/>
          <p:nvPr/>
        </p:nvSpPr>
        <p:spPr>
          <a:xfrm>
            <a:off x="438150" y="755789"/>
            <a:ext cx="8248650" cy="2458365"/>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solidFill>
                  <a:srgbClr val="009900"/>
                </a:solidFill>
                <a:latin typeface="Arial" panose="020B0604020202020204" pitchFamily="34" charset="0"/>
                <a:cs typeface="Arial" panose="020B0604020202020204" pitchFamily="34" charset="0"/>
              </a:rPr>
              <a:t>Communication Skills: </a:t>
            </a:r>
            <a:r>
              <a:rPr lang="en-IN" altLang="en-US" sz="2050" dirty="0">
                <a:latin typeface="Arial" panose="020B0604020202020204" pitchFamily="34" charset="0"/>
                <a:cs typeface="Arial" panose="020B0604020202020204" pitchFamily="34" charset="0"/>
              </a:rPr>
              <a:t>After doing all the analysis, if you are unable to communicate the results in the right way, the whole exercise will fail. Communication is the key trait for data scientists. You may be technically brilliant, but if you are unable to communicate the result in the proper way, it will not help.</a:t>
            </a:r>
          </a:p>
        </p:txBody>
      </p:sp>
    </p:spTree>
    <p:extLst>
      <p:ext uri="{BB962C8B-B14F-4D97-AF65-F5344CB8AC3E}">
        <p14:creationId xmlns:p14="http://schemas.microsoft.com/office/powerpoint/2010/main" val="164735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40</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pt-BR" altLang="en-US" sz="2400" b="1" dirty="0">
                <a:solidFill>
                  <a:srgbClr val="FF0000"/>
                </a:solidFill>
                <a:latin typeface="CG Omega" pitchFamily="34" charset="0"/>
              </a:rPr>
              <a:t>Components of Data Science</a:t>
            </a:r>
            <a:endParaRPr lang="en-US" altLang="en-US" sz="2400" b="1" dirty="0">
              <a:solidFill>
                <a:srgbClr val="FF0000"/>
              </a:solidFill>
              <a:latin typeface="CG Omega" pitchFamily="34" charset="0"/>
            </a:endParaRPr>
          </a:p>
        </p:txBody>
      </p:sp>
      <p:sp>
        <p:nvSpPr>
          <p:cNvPr id="2" name="Rectangle 1"/>
          <p:cNvSpPr/>
          <p:nvPr/>
        </p:nvSpPr>
        <p:spPr>
          <a:xfrm>
            <a:off x="438150" y="755789"/>
            <a:ext cx="8248650" cy="6244017"/>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different components for data science are as follows:</a:t>
            </a:r>
          </a:p>
          <a:p>
            <a:pPr marL="800100" lvl="1" indent="-342900" algn="just">
              <a:lnSpc>
                <a:spcPct val="150000"/>
              </a:lnSpc>
              <a:buFont typeface="Wingdings" panose="05000000000000000000" pitchFamily="2" charset="2"/>
              <a:buChar char="Ø"/>
            </a:pPr>
            <a:r>
              <a:rPr lang="en-IN" sz="2000" b="1" dirty="0"/>
              <a:t>Machine Learning </a:t>
            </a:r>
            <a:r>
              <a:rPr lang="en-IN" sz="2000" dirty="0"/>
              <a:t>– Machine learning is the backbone of data science. Data science involves quite a bit of learning the basics of statistics to design a learning algorithm.</a:t>
            </a:r>
          </a:p>
          <a:p>
            <a:pPr marL="800100" lvl="1" indent="-342900" algn="just">
              <a:lnSpc>
                <a:spcPct val="150000"/>
              </a:lnSpc>
              <a:buFont typeface="Wingdings" panose="05000000000000000000" pitchFamily="2" charset="2"/>
              <a:buChar char="Ø"/>
            </a:pPr>
            <a:r>
              <a:rPr lang="en-IN" sz="2000" b="1" dirty="0"/>
              <a:t>Modeling </a:t>
            </a:r>
            <a:r>
              <a:rPr lang="en-IN" sz="2000" dirty="0"/>
              <a:t>– Modeling is also a part of machine learning in a way, but you need to be good at identifying what are the algorithms that are more suitable to solve the given problems, which model can be used, and how to train this model. </a:t>
            </a:r>
          </a:p>
          <a:p>
            <a:pPr marL="800100" lvl="1" indent="-342900" algn="just">
              <a:lnSpc>
                <a:spcPct val="150000"/>
              </a:lnSpc>
              <a:buFont typeface="Wingdings" panose="05000000000000000000" pitchFamily="2" charset="2"/>
              <a:buChar char="Ø"/>
            </a:pPr>
            <a:r>
              <a:rPr lang="en-IN" sz="2000" b="1" dirty="0"/>
              <a:t>Statistics and Probabilities </a:t>
            </a:r>
            <a:r>
              <a:rPr lang="en-IN" sz="2000" dirty="0"/>
              <a:t>– The statistics and probabilities are like the core foundation of data science. The data scientist must be prominent in statistics and probability theories, so that he can formulate the problems for processing the required results. </a:t>
            </a:r>
            <a:endParaRPr lang="en-I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7964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41</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pt-BR" altLang="en-US" sz="2400" b="1" dirty="0">
                <a:solidFill>
                  <a:srgbClr val="FF0000"/>
                </a:solidFill>
                <a:latin typeface="CG Omega" pitchFamily="34" charset="0"/>
              </a:rPr>
              <a:t>Components of Data Science</a:t>
            </a:r>
            <a:endParaRPr lang="en-US" altLang="en-US" sz="2400" b="1" dirty="0">
              <a:solidFill>
                <a:srgbClr val="FF0000"/>
              </a:solidFill>
              <a:latin typeface="CG Omega" pitchFamily="34" charset="0"/>
            </a:endParaRPr>
          </a:p>
        </p:txBody>
      </p:sp>
      <p:sp>
        <p:nvSpPr>
          <p:cNvPr id="2" name="Rectangle 1"/>
          <p:cNvSpPr/>
          <p:nvPr/>
        </p:nvSpPr>
        <p:spPr>
          <a:xfrm>
            <a:off x="438150" y="755789"/>
            <a:ext cx="8248650" cy="5182188"/>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The different components for data science are as follows:</a:t>
            </a:r>
          </a:p>
          <a:p>
            <a:pPr marL="800100" lvl="1" indent="-342900" algn="just">
              <a:lnSpc>
                <a:spcPct val="150000"/>
              </a:lnSpc>
              <a:buFont typeface="Wingdings" panose="05000000000000000000" pitchFamily="2" charset="2"/>
              <a:buChar char="Ø"/>
            </a:pPr>
            <a:r>
              <a:rPr lang="en-IN" sz="2000" b="1" dirty="0"/>
              <a:t>Programming Language - </a:t>
            </a:r>
            <a:r>
              <a:rPr lang="en-IN" sz="2000" dirty="0"/>
              <a:t>For the data science projects, basic programming skills and some fundamental knowledge of databases is required. The most common program-</a:t>
            </a:r>
            <a:r>
              <a:rPr lang="en-IN" sz="2000" dirty="0" err="1"/>
              <a:t>ming</a:t>
            </a:r>
            <a:r>
              <a:rPr lang="en-IN" sz="2000" dirty="0"/>
              <a:t> languages are Python, R, MATLAB, and Octave. In particular, Python is becoming a very popular programming language in data science because of its ease of learning and the multiple libraries that it supports. </a:t>
            </a:r>
          </a:p>
          <a:p>
            <a:pPr marL="800100" lvl="1" indent="-342900" algn="just">
              <a:lnSpc>
                <a:spcPct val="150000"/>
              </a:lnSpc>
              <a:buFont typeface="Wingdings" panose="05000000000000000000" pitchFamily="2" charset="2"/>
              <a:buChar char="Ø"/>
            </a:pPr>
            <a:r>
              <a:rPr lang="en-IN" sz="2000" b="1" dirty="0"/>
              <a:t>Database -</a:t>
            </a:r>
            <a:r>
              <a:rPr lang="en-IN" sz="2000" dirty="0"/>
              <a:t> fundamentals of database is another important aspect to learn for handling databases and extract required information from raw data. </a:t>
            </a:r>
          </a:p>
        </p:txBody>
      </p:sp>
    </p:spTree>
    <p:extLst>
      <p:ext uri="{BB962C8B-B14F-4D97-AF65-F5344CB8AC3E}">
        <p14:creationId xmlns:p14="http://schemas.microsoft.com/office/powerpoint/2010/main" val="2322723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42</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pt-BR" altLang="en-US" sz="2400" b="1" dirty="0">
                <a:solidFill>
                  <a:srgbClr val="FF0000"/>
                </a:solidFill>
                <a:latin typeface="CG Omega" pitchFamily="34" charset="0"/>
              </a:rPr>
              <a:t>Tools and Skills</a:t>
            </a:r>
            <a:endParaRPr lang="en-US" altLang="en-US" sz="2400" b="1" dirty="0">
              <a:solidFill>
                <a:srgbClr val="FF0000"/>
              </a:solidFill>
              <a:latin typeface="CG Omega" pitchFamily="34"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714826"/>
            <a:ext cx="8534401" cy="5762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05634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09A47C49-C2BC-4818-9805-E7E00C66C719}" type="slidenum">
              <a:rPr lang="en-US" altLang="en-US" smtClean="0"/>
              <a:pPr/>
              <a:t>43</a:t>
            </a:fld>
            <a:endParaRPr lang="en-US" altLang="en-US"/>
          </a:p>
        </p:txBody>
      </p:sp>
      <p:sp>
        <p:nvSpPr>
          <p:cNvPr id="4101" name="Slide Number Placeholder 3"/>
          <p:cNvSpPr txBox="1">
            <a:spLocks/>
          </p:cNvSpPr>
          <p:nvPr/>
        </p:nvSpPr>
        <p:spPr bwMode="auto">
          <a:xfrm>
            <a:off x="533400" y="228600"/>
            <a:ext cx="8001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pt-BR" altLang="en-US" sz="2400" b="1" dirty="0">
                <a:solidFill>
                  <a:srgbClr val="FF0000"/>
                </a:solidFill>
                <a:latin typeface="CG Omega" pitchFamily="34" charset="0"/>
              </a:rPr>
              <a:t>Sample Public Data repositories</a:t>
            </a:r>
            <a:endParaRPr lang="en-US" altLang="en-US" sz="2400" b="1" dirty="0">
              <a:solidFill>
                <a:srgbClr val="FF0000"/>
              </a:solidFill>
              <a:latin typeface="CG Omega" pitchFamily="34" charset="0"/>
            </a:endParaRPr>
          </a:p>
        </p:txBody>
      </p:sp>
      <p:sp>
        <p:nvSpPr>
          <p:cNvPr id="2" name="Rectangle 1"/>
          <p:cNvSpPr/>
          <p:nvPr/>
        </p:nvSpPr>
        <p:spPr>
          <a:xfrm>
            <a:off x="438150" y="755789"/>
            <a:ext cx="8248650" cy="3335528"/>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altLang="en-US" sz="2050" dirty="0">
                <a:latin typeface="Arial" panose="020B0604020202020204" pitchFamily="34" charset="0"/>
                <a:cs typeface="Arial" panose="020B0604020202020204" pitchFamily="34" charset="0"/>
              </a:rPr>
              <a:t>Awesome Public Datasets</a:t>
            </a:r>
          </a:p>
          <a:p>
            <a:pPr marL="342900" indent="-342900" algn="just">
              <a:lnSpc>
                <a:spcPct val="150000"/>
              </a:lnSpc>
              <a:buFont typeface="Wingdings" panose="05000000000000000000" pitchFamily="2" charset="2"/>
              <a:buChar char="v"/>
            </a:pPr>
            <a:r>
              <a:rPr lang="en-IN" sz="2000" dirty="0"/>
              <a:t>Data World</a:t>
            </a:r>
          </a:p>
          <a:p>
            <a:pPr marL="342900" indent="-342900" algn="just">
              <a:lnSpc>
                <a:spcPct val="150000"/>
              </a:lnSpc>
              <a:buFont typeface="Wingdings" panose="05000000000000000000" pitchFamily="2" charset="2"/>
              <a:buChar char="v"/>
            </a:pPr>
            <a:r>
              <a:rPr lang="en-IN" sz="2000" dirty="0"/>
              <a:t>Google Data Set Search</a:t>
            </a:r>
          </a:p>
          <a:p>
            <a:pPr marL="342900" indent="-342900" algn="just">
              <a:lnSpc>
                <a:spcPct val="150000"/>
              </a:lnSpc>
              <a:buFont typeface="Wingdings" panose="05000000000000000000" pitchFamily="2" charset="2"/>
              <a:buChar char="v"/>
            </a:pPr>
            <a:r>
              <a:rPr lang="en-IN" sz="2000" dirty="0"/>
              <a:t>Kaggle</a:t>
            </a:r>
          </a:p>
          <a:p>
            <a:pPr marL="342900" indent="-342900" algn="just">
              <a:lnSpc>
                <a:spcPct val="150000"/>
              </a:lnSpc>
              <a:buFont typeface="Wingdings" panose="05000000000000000000" pitchFamily="2" charset="2"/>
              <a:buChar char="v"/>
            </a:pPr>
            <a:r>
              <a:rPr lang="en-IN" sz="2000" dirty="0"/>
              <a:t>UCI Machine Learning Repository</a:t>
            </a:r>
          </a:p>
          <a:p>
            <a:pPr marL="342900" indent="-342900" algn="just">
              <a:lnSpc>
                <a:spcPct val="150000"/>
              </a:lnSpc>
              <a:buFont typeface="Wingdings" panose="05000000000000000000" pitchFamily="2" charset="2"/>
              <a:buChar char="v"/>
            </a:pPr>
            <a:r>
              <a:rPr lang="en-IN" sz="2000" dirty="0"/>
              <a:t>United States Government</a:t>
            </a:r>
          </a:p>
          <a:p>
            <a:pPr marL="342900" indent="-342900" algn="just">
              <a:lnSpc>
                <a:spcPct val="150000"/>
              </a:lnSpc>
              <a:buFont typeface="Wingdings" panose="05000000000000000000" pitchFamily="2" charset="2"/>
              <a:buChar char="v"/>
            </a:pPr>
            <a:r>
              <a:rPr lang="en-IN" sz="2000" dirty="0"/>
              <a:t>IEEE </a:t>
            </a:r>
            <a:r>
              <a:rPr lang="en-IN" sz="2000" dirty="0" err="1"/>
              <a:t>DataPort</a:t>
            </a:r>
            <a:r>
              <a:rPr lang="en-IN" sz="2000"/>
              <a:t> ,    etc</a:t>
            </a:r>
            <a:r>
              <a:rPr lang="en-IN" sz="2000" dirty="0"/>
              <a:t>….</a:t>
            </a:r>
          </a:p>
        </p:txBody>
      </p:sp>
    </p:spTree>
    <p:extLst>
      <p:ext uri="{BB962C8B-B14F-4D97-AF65-F5344CB8AC3E}">
        <p14:creationId xmlns:p14="http://schemas.microsoft.com/office/powerpoint/2010/main" val="421094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en-US" altLang="en-US"/>
              <a:t>Thank You for Your Attention !</a:t>
            </a:r>
            <a:endParaRPr lang="en-IN" altLang="en-US"/>
          </a:p>
        </p:txBody>
      </p:sp>
      <p:sp>
        <p:nvSpPr>
          <p:cNvPr id="47106" name="Slide Number Placeholder 4"/>
          <p:cNvSpPr>
            <a:spLocks noGrp="1"/>
          </p:cNvSpPr>
          <p:nvPr>
            <p:ph type="sldNum" sz="quarter" idx="4294967295"/>
          </p:nvPr>
        </p:nvSpPr>
        <p:spPr>
          <a:xfrm>
            <a:off x="7864475" y="6224588"/>
            <a:ext cx="1279525" cy="365125"/>
          </a:xfrm>
          <a:prstGeom prst="rect">
            <a:avLst/>
          </a:prstGeom>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6F8BC4DB-3ABA-43EA-ABC2-2A73634A4BB7}" type="slidenum">
              <a:rPr lang="en-US" altLang="en-US" smtClean="0"/>
              <a:pPr/>
              <a:t>44</a:t>
            </a:fld>
            <a:endParaRPr lang="en-US" altLang="en-US"/>
          </a:p>
        </p:txBody>
      </p:sp>
    </p:spTree>
    <p:extLst>
      <p:ext uri="{BB962C8B-B14F-4D97-AF65-F5344CB8AC3E}">
        <p14:creationId xmlns:p14="http://schemas.microsoft.com/office/powerpoint/2010/main" val="54451617"/>
      </p:ext>
    </p:extLst>
  </p:cSld>
  <p:clrMapOvr>
    <a:masterClrMapping/>
  </p:clrMapOvr>
</p:sld>
</file>

<file path=ppt/theme/theme1.xml><?xml version="1.0" encoding="utf-8"?>
<a:theme xmlns:a="http://schemas.openxmlformats.org/drawingml/2006/main" name="DataScienc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42227</TotalTime>
  <Words>2569</Words>
  <Application>Microsoft Office PowerPoint</Application>
  <PresentationFormat>On-screen Show (4:3)</PresentationFormat>
  <Paragraphs>283</Paragraphs>
  <Slides>44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Century Gothic</vt:lpstr>
      <vt:lpstr>CG Omega</vt:lpstr>
      <vt:lpstr>Wingdings</vt:lpstr>
      <vt:lpstr>DataScience</vt:lpstr>
      <vt:lpstr>BCSE206L   FOUNDATIONS OF DATA SCIENCE </vt:lpstr>
      <vt:lpstr>PowerPoint Presentation</vt:lpstr>
      <vt:lpstr>DATA SCIENCE CONTEXT </vt:lpstr>
      <vt:lpstr>Outline</vt:lpstr>
      <vt:lpstr>Data Science</vt:lpstr>
      <vt:lpstr>What is Data Science?</vt:lpstr>
      <vt:lpstr>What is Data Science?</vt:lpstr>
      <vt:lpstr>What To Do With These Data?</vt:lpstr>
      <vt:lpstr>Data Science Relevant</vt:lpstr>
      <vt:lpstr>Data Science</vt:lpstr>
      <vt:lpstr>Data Science</vt:lpstr>
      <vt:lpstr>PowerPoint Presentation</vt:lpstr>
      <vt:lpstr>Applications</vt:lpstr>
      <vt:lpstr>Data All Around</vt:lpstr>
      <vt:lpstr>How Much Data Do We have?</vt:lpstr>
      <vt:lpstr>Big Data</vt:lpstr>
      <vt:lpstr>Big Data</vt:lpstr>
      <vt:lpstr>Types of Data We Have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Scientist</vt:lpstr>
      <vt:lpstr>Data Scientist role</vt:lpstr>
      <vt:lpstr>Concentration in Data Science</vt:lpstr>
      <vt:lpstr>Data Scientists</vt:lpstr>
      <vt:lpstr>Data Scientists</vt:lpstr>
      <vt:lpstr>What do Data Scientists 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Attention !</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Overview of C++</dc:title>
  <dc:creator>Admin</dc:creator>
  <cp:lastModifiedBy>KALYANARAMAN P</cp:lastModifiedBy>
  <cp:revision>451</cp:revision>
  <dcterms:created xsi:type="dcterms:W3CDTF">2007-06-09T15:54:09Z</dcterms:created>
  <dcterms:modified xsi:type="dcterms:W3CDTF">2024-12-17T09:49:51Z</dcterms:modified>
</cp:coreProperties>
</file>