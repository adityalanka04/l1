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9"/>
  </p:notesMasterIdLst>
  <p:sldIdLst>
    <p:sldId id="258"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7" r:id="rId29"/>
    <p:sldId id="285" r:id="rId30"/>
    <p:sldId id="286" r:id="rId31"/>
    <p:sldId id="288" r:id="rId32"/>
    <p:sldId id="289" r:id="rId33"/>
    <p:sldId id="290" r:id="rId34"/>
    <p:sldId id="291" r:id="rId35"/>
    <p:sldId id="292" r:id="rId36"/>
    <p:sldId id="293" r:id="rId37"/>
    <p:sldId id="294" r:id="rId38"/>
    <p:sldId id="295" r:id="rId39"/>
    <p:sldId id="296" r:id="rId40"/>
    <p:sldId id="686" r:id="rId41"/>
    <p:sldId id="721" r:id="rId42"/>
    <p:sldId id="722" r:id="rId43"/>
    <p:sldId id="723" r:id="rId44"/>
    <p:sldId id="724" r:id="rId45"/>
    <p:sldId id="732" r:id="rId46"/>
    <p:sldId id="726" r:id="rId47"/>
    <p:sldId id="734" r:id="rId48"/>
    <p:sldId id="725" r:id="rId49"/>
    <p:sldId id="729" r:id="rId50"/>
    <p:sldId id="741" r:id="rId51"/>
    <p:sldId id="652" r:id="rId52"/>
    <p:sldId id="688" r:id="rId53"/>
    <p:sldId id="690" r:id="rId54"/>
    <p:sldId id="691" r:id="rId55"/>
    <p:sldId id="654" r:id="rId56"/>
    <p:sldId id="655" r:id="rId57"/>
    <p:sldId id="707" r:id="rId58"/>
    <p:sldId id="656" r:id="rId59"/>
    <p:sldId id="694" r:id="rId60"/>
    <p:sldId id="695" r:id="rId61"/>
    <p:sldId id="658" r:id="rId62"/>
    <p:sldId id="696" r:id="rId63"/>
    <p:sldId id="692" r:id="rId64"/>
    <p:sldId id="697" r:id="rId65"/>
    <p:sldId id="660" r:id="rId66"/>
    <p:sldId id="661" r:id="rId67"/>
    <p:sldId id="698" r:id="rId68"/>
    <p:sldId id="708" r:id="rId69"/>
    <p:sldId id="706" r:id="rId70"/>
    <p:sldId id="680" r:id="rId71"/>
    <p:sldId id="677" r:id="rId72"/>
    <p:sldId id="678" r:id="rId73"/>
    <p:sldId id="681" r:id="rId74"/>
    <p:sldId id="682" r:id="rId75"/>
    <p:sldId id="699" r:id="rId76"/>
    <p:sldId id="700" r:id="rId77"/>
    <p:sldId id="701" r:id="rId78"/>
    <p:sldId id="742" r:id="rId79"/>
    <p:sldId id="743" r:id="rId80"/>
    <p:sldId id="744" r:id="rId81"/>
    <p:sldId id="663" r:id="rId82"/>
    <p:sldId id="664" r:id="rId83"/>
    <p:sldId id="665" r:id="rId84"/>
    <p:sldId id="710" r:id="rId85"/>
    <p:sldId id="711" r:id="rId86"/>
    <p:sldId id="745" r:id="rId87"/>
    <p:sldId id="709" r:id="rId88"/>
    <p:sldId id="712" r:id="rId89"/>
    <p:sldId id="713" r:id="rId90"/>
    <p:sldId id="714" r:id="rId91"/>
    <p:sldId id="715" r:id="rId92"/>
    <p:sldId id="670" r:id="rId93"/>
    <p:sldId id="716" r:id="rId94"/>
    <p:sldId id="717" r:id="rId95"/>
    <p:sldId id="704" r:id="rId96"/>
    <p:sldId id="718" r:id="rId97"/>
    <p:sldId id="672" r:id="rId98"/>
    <p:sldId id="719" r:id="rId99"/>
    <p:sldId id="738" r:id="rId100"/>
    <p:sldId id="673" r:id="rId101"/>
    <p:sldId id="674" r:id="rId102"/>
    <p:sldId id="675" r:id="rId103"/>
    <p:sldId id="746" r:id="rId104"/>
    <p:sldId id="747" r:id="rId105"/>
    <p:sldId id="748" r:id="rId106"/>
    <p:sldId id="749" r:id="rId107"/>
    <p:sldId id="750" r:id="rId10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notesMaster" Target="notesMasters/notesMaster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911665-B3CC-48CD-9B98-55DDB20201E0}" type="datetimeFigureOut">
              <a:rPr lang="en-IN" smtClean="0"/>
              <a:t>06-08-2025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C288A1-2BCD-49D9-A44A-CE50B12530BB}" type="slidenum">
              <a:rPr lang="en-IN" smtClean="0"/>
              <a:t>‹#›</a:t>
            </a:fld>
            <a:endParaRPr lang="en-IN"/>
          </a:p>
        </p:txBody>
      </p:sp>
    </p:spTree>
    <p:extLst>
      <p:ext uri="{BB962C8B-B14F-4D97-AF65-F5344CB8AC3E}">
        <p14:creationId xmlns:p14="http://schemas.microsoft.com/office/powerpoint/2010/main" val="1670593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21360-C66D-E784-3DCA-6E7A66DEDF4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9039A3F-BD56-3287-8131-BC69776A96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42851A8-2D60-2D08-CA70-F9AD1A454B42}"/>
              </a:ext>
            </a:extLst>
          </p:cNvPr>
          <p:cNvSpPr>
            <a:spLocks noGrp="1"/>
          </p:cNvSpPr>
          <p:nvPr>
            <p:ph type="dt" sz="half" idx="10"/>
          </p:nvPr>
        </p:nvSpPr>
        <p:spPr/>
        <p:txBody>
          <a:bodyPr/>
          <a:lstStyle/>
          <a:p>
            <a:fld id="{51F0296C-0A76-42DC-BD0B-8D8BD7092655}" type="datetimeFigureOut">
              <a:rPr lang="en-IN" smtClean="0"/>
              <a:t>06-08-2025</a:t>
            </a:fld>
            <a:endParaRPr lang="en-IN"/>
          </a:p>
        </p:txBody>
      </p:sp>
      <p:sp>
        <p:nvSpPr>
          <p:cNvPr id="5" name="Footer Placeholder 4">
            <a:extLst>
              <a:ext uri="{FF2B5EF4-FFF2-40B4-BE49-F238E27FC236}">
                <a16:creationId xmlns:a16="http://schemas.microsoft.com/office/drawing/2014/main" id="{161B15C6-C3F1-071F-BF99-5D5CE7BD3AA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86E660D-839F-5C6E-2AEF-3DFE7F28F124}"/>
              </a:ext>
            </a:extLst>
          </p:cNvPr>
          <p:cNvSpPr>
            <a:spLocks noGrp="1"/>
          </p:cNvSpPr>
          <p:nvPr>
            <p:ph type="sldNum" sz="quarter" idx="12"/>
          </p:nvPr>
        </p:nvSpPr>
        <p:spPr/>
        <p:txBody>
          <a:bodyPr/>
          <a:lstStyle/>
          <a:p>
            <a:fld id="{015E8645-8CAB-4345-B739-D87DB62A71F0}" type="slidenum">
              <a:rPr lang="en-IN" smtClean="0"/>
              <a:t>‹#›</a:t>
            </a:fld>
            <a:endParaRPr lang="en-IN"/>
          </a:p>
        </p:txBody>
      </p:sp>
    </p:spTree>
    <p:extLst>
      <p:ext uri="{BB962C8B-B14F-4D97-AF65-F5344CB8AC3E}">
        <p14:creationId xmlns:p14="http://schemas.microsoft.com/office/powerpoint/2010/main" val="370838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F4AEF-F647-934D-EE6A-0FEF0B1D9DC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3737BA0-BDD2-7368-9B6C-15CB3DA6BC3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774F08-2AC9-00F7-4A1D-3F1DD09FBBB6}"/>
              </a:ext>
            </a:extLst>
          </p:cNvPr>
          <p:cNvSpPr>
            <a:spLocks noGrp="1"/>
          </p:cNvSpPr>
          <p:nvPr>
            <p:ph type="dt" sz="half" idx="10"/>
          </p:nvPr>
        </p:nvSpPr>
        <p:spPr/>
        <p:txBody>
          <a:bodyPr/>
          <a:lstStyle/>
          <a:p>
            <a:fld id="{51F0296C-0A76-42DC-BD0B-8D8BD7092655}" type="datetimeFigureOut">
              <a:rPr lang="en-IN" smtClean="0"/>
              <a:t>06-08-2025</a:t>
            </a:fld>
            <a:endParaRPr lang="en-IN"/>
          </a:p>
        </p:txBody>
      </p:sp>
      <p:sp>
        <p:nvSpPr>
          <p:cNvPr id="5" name="Footer Placeholder 4">
            <a:extLst>
              <a:ext uri="{FF2B5EF4-FFF2-40B4-BE49-F238E27FC236}">
                <a16:creationId xmlns:a16="http://schemas.microsoft.com/office/drawing/2014/main" id="{47CBB6C8-314D-0F18-993E-855F364467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35DCC4C-7BDC-C557-DF4F-A3EC443424A0}"/>
              </a:ext>
            </a:extLst>
          </p:cNvPr>
          <p:cNvSpPr>
            <a:spLocks noGrp="1"/>
          </p:cNvSpPr>
          <p:nvPr>
            <p:ph type="sldNum" sz="quarter" idx="12"/>
          </p:nvPr>
        </p:nvSpPr>
        <p:spPr/>
        <p:txBody>
          <a:bodyPr/>
          <a:lstStyle/>
          <a:p>
            <a:fld id="{015E8645-8CAB-4345-B739-D87DB62A71F0}" type="slidenum">
              <a:rPr lang="en-IN" smtClean="0"/>
              <a:t>‹#›</a:t>
            </a:fld>
            <a:endParaRPr lang="en-IN"/>
          </a:p>
        </p:txBody>
      </p:sp>
    </p:spTree>
    <p:extLst>
      <p:ext uri="{BB962C8B-B14F-4D97-AF65-F5344CB8AC3E}">
        <p14:creationId xmlns:p14="http://schemas.microsoft.com/office/powerpoint/2010/main" val="20586123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C06D7-4156-826A-0BCE-A11153120C6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324AA74-A9B5-5228-CCF1-84E2C787C92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FB8017E-596D-E508-9444-BE19E1B2132E}"/>
              </a:ext>
            </a:extLst>
          </p:cNvPr>
          <p:cNvSpPr>
            <a:spLocks noGrp="1"/>
          </p:cNvSpPr>
          <p:nvPr>
            <p:ph type="dt" sz="half" idx="10"/>
          </p:nvPr>
        </p:nvSpPr>
        <p:spPr/>
        <p:txBody>
          <a:bodyPr/>
          <a:lstStyle/>
          <a:p>
            <a:fld id="{51F0296C-0A76-42DC-BD0B-8D8BD7092655}" type="datetimeFigureOut">
              <a:rPr lang="en-IN" smtClean="0"/>
              <a:t>06-08-2025</a:t>
            </a:fld>
            <a:endParaRPr lang="en-IN"/>
          </a:p>
        </p:txBody>
      </p:sp>
      <p:sp>
        <p:nvSpPr>
          <p:cNvPr id="5" name="Footer Placeholder 4">
            <a:extLst>
              <a:ext uri="{FF2B5EF4-FFF2-40B4-BE49-F238E27FC236}">
                <a16:creationId xmlns:a16="http://schemas.microsoft.com/office/drawing/2014/main" id="{723CFA4D-C6D7-9F98-158E-577B578666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2C384AD-32D7-1EEF-2305-52D689FB1E47}"/>
              </a:ext>
            </a:extLst>
          </p:cNvPr>
          <p:cNvSpPr>
            <a:spLocks noGrp="1"/>
          </p:cNvSpPr>
          <p:nvPr>
            <p:ph type="sldNum" sz="quarter" idx="12"/>
          </p:nvPr>
        </p:nvSpPr>
        <p:spPr/>
        <p:txBody>
          <a:bodyPr/>
          <a:lstStyle/>
          <a:p>
            <a:fld id="{015E8645-8CAB-4345-B739-D87DB62A71F0}" type="slidenum">
              <a:rPr lang="en-IN" smtClean="0"/>
              <a:t>‹#›</a:t>
            </a:fld>
            <a:endParaRPr lang="en-IN"/>
          </a:p>
        </p:txBody>
      </p:sp>
    </p:spTree>
    <p:extLst>
      <p:ext uri="{BB962C8B-B14F-4D97-AF65-F5344CB8AC3E}">
        <p14:creationId xmlns:p14="http://schemas.microsoft.com/office/powerpoint/2010/main" val="19499141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0BB04-CFEC-A26E-8C8A-B0EC843A2C3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927E1B8-3C33-7287-D6F7-C8BA1B61391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7A0C54C-26C0-6C1C-06ED-D35AA339930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883C157-0E3E-E784-7FB6-E1B2299169CE}"/>
              </a:ext>
            </a:extLst>
          </p:cNvPr>
          <p:cNvSpPr>
            <a:spLocks noGrp="1"/>
          </p:cNvSpPr>
          <p:nvPr>
            <p:ph type="dt" sz="half" idx="10"/>
          </p:nvPr>
        </p:nvSpPr>
        <p:spPr/>
        <p:txBody>
          <a:bodyPr/>
          <a:lstStyle/>
          <a:p>
            <a:fld id="{51F0296C-0A76-42DC-BD0B-8D8BD7092655}" type="datetimeFigureOut">
              <a:rPr lang="en-IN" smtClean="0"/>
              <a:t>06-08-2025</a:t>
            </a:fld>
            <a:endParaRPr lang="en-IN"/>
          </a:p>
        </p:txBody>
      </p:sp>
      <p:sp>
        <p:nvSpPr>
          <p:cNvPr id="6" name="Footer Placeholder 5">
            <a:extLst>
              <a:ext uri="{FF2B5EF4-FFF2-40B4-BE49-F238E27FC236}">
                <a16:creationId xmlns:a16="http://schemas.microsoft.com/office/drawing/2014/main" id="{47DDA659-C7CD-FCC2-DE1A-CC50202A64D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BC6EDE6-17AA-D742-9650-948C2691991C}"/>
              </a:ext>
            </a:extLst>
          </p:cNvPr>
          <p:cNvSpPr>
            <a:spLocks noGrp="1"/>
          </p:cNvSpPr>
          <p:nvPr>
            <p:ph type="sldNum" sz="quarter" idx="12"/>
          </p:nvPr>
        </p:nvSpPr>
        <p:spPr/>
        <p:txBody>
          <a:bodyPr/>
          <a:lstStyle/>
          <a:p>
            <a:fld id="{015E8645-8CAB-4345-B739-D87DB62A71F0}" type="slidenum">
              <a:rPr lang="en-IN" smtClean="0"/>
              <a:t>‹#›</a:t>
            </a:fld>
            <a:endParaRPr lang="en-IN"/>
          </a:p>
        </p:txBody>
      </p:sp>
    </p:spTree>
    <p:extLst>
      <p:ext uri="{BB962C8B-B14F-4D97-AF65-F5344CB8AC3E}">
        <p14:creationId xmlns:p14="http://schemas.microsoft.com/office/powerpoint/2010/main" val="3564659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38AEA-E86A-F7B6-F6FC-A5C69E5B7A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719DE25-25F8-FD89-7333-E8059AFF04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4BC1BB-0A75-D08B-6629-20F2A5051B3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0C03996-99BC-F4E8-9EC5-E93F532CED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3ACA8F8-D674-BECB-C55A-309A1CA7535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E1F3D75-38F1-1528-0502-4EF4F734A46E}"/>
              </a:ext>
            </a:extLst>
          </p:cNvPr>
          <p:cNvSpPr>
            <a:spLocks noGrp="1"/>
          </p:cNvSpPr>
          <p:nvPr>
            <p:ph type="dt" sz="half" idx="10"/>
          </p:nvPr>
        </p:nvSpPr>
        <p:spPr/>
        <p:txBody>
          <a:bodyPr/>
          <a:lstStyle/>
          <a:p>
            <a:fld id="{51F0296C-0A76-42DC-BD0B-8D8BD7092655}" type="datetimeFigureOut">
              <a:rPr lang="en-IN" smtClean="0"/>
              <a:t>06-08-2025</a:t>
            </a:fld>
            <a:endParaRPr lang="en-IN"/>
          </a:p>
        </p:txBody>
      </p:sp>
      <p:sp>
        <p:nvSpPr>
          <p:cNvPr id="8" name="Footer Placeholder 7">
            <a:extLst>
              <a:ext uri="{FF2B5EF4-FFF2-40B4-BE49-F238E27FC236}">
                <a16:creationId xmlns:a16="http://schemas.microsoft.com/office/drawing/2014/main" id="{BCBCD44D-EBB4-1237-A258-67576BB0A9F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A6715E8-9831-61E0-FCE0-A0DC7E0488A2}"/>
              </a:ext>
            </a:extLst>
          </p:cNvPr>
          <p:cNvSpPr>
            <a:spLocks noGrp="1"/>
          </p:cNvSpPr>
          <p:nvPr>
            <p:ph type="sldNum" sz="quarter" idx="12"/>
          </p:nvPr>
        </p:nvSpPr>
        <p:spPr/>
        <p:txBody>
          <a:bodyPr/>
          <a:lstStyle/>
          <a:p>
            <a:fld id="{015E8645-8CAB-4345-B739-D87DB62A71F0}" type="slidenum">
              <a:rPr lang="en-IN" smtClean="0"/>
              <a:t>‹#›</a:t>
            </a:fld>
            <a:endParaRPr lang="en-IN"/>
          </a:p>
        </p:txBody>
      </p:sp>
    </p:spTree>
    <p:extLst>
      <p:ext uri="{BB962C8B-B14F-4D97-AF65-F5344CB8AC3E}">
        <p14:creationId xmlns:p14="http://schemas.microsoft.com/office/powerpoint/2010/main" val="2805101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4A352-6AF6-6A1C-CB7F-09BB4CEA42F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A90E51F-1526-C2A4-624D-0DD2935A3ABF}"/>
              </a:ext>
            </a:extLst>
          </p:cNvPr>
          <p:cNvSpPr>
            <a:spLocks noGrp="1"/>
          </p:cNvSpPr>
          <p:nvPr>
            <p:ph type="dt" sz="half" idx="10"/>
          </p:nvPr>
        </p:nvSpPr>
        <p:spPr/>
        <p:txBody>
          <a:bodyPr/>
          <a:lstStyle/>
          <a:p>
            <a:fld id="{51F0296C-0A76-42DC-BD0B-8D8BD7092655}" type="datetimeFigureOut">
              <a:rPr lang="en-IN" smtClean="0"/>
              <a:t>06-08-2025</a:t>
            </a:fld>
            <a:endParaRPr lang="en-IN"/>
          </a:p>
        </p:txBody>
      </p:sp>
      <p:sp>
        <p:nvSpPr>
          <p:cNvPr id="4" name="Footer Placeholder 3">
            <a:extLst>
              <a:ext uri="{FF2B5EF4-FFF2-40B4-BE49-F238E27FC236}">
                <a16:creationId xmlns:a16="http://schemas.microsoft.com/office/drawing/2014/main" id="{2693BAFD-DF52-1EFD-528E-902CE101005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4034D2B-0388-EEA9-AB33-2246F3F700AE}"/>
              </a:ext>
            </a:extLst>
          </p:cNvPr>
          <p:cNvSpPr>
            <a:spLocks noGrp="1"/>
          </p:cNvSpPr>
          <p:nvPr>
            <p:ph type="sldNum" sz="quarter" idx="12"/>
          </p:nvPr>
        </p:nvSpPr>
        <p:spPr/>
        <p:txBody>
          <a:bodyPr/>
          <a:lstStyle/>
          <a:p>
            <a:fld id="{015E8645-8CAB-4345-B739-D87DB62A71F0}" type="slidenum">
              <a:rPr lang="en-IN" smtClean="0"/>
              <a:t>‹#›</a:t>
            </a:fld>
            <a:endParaRPr lang="en-IN"/>
          </a:p>
        </p:txBody>
      </p:sp>
    </p:spTree>
    <p:extLst>
      <p:ext uri="{BB962C8B-B14F-4D97-AF65-F5344CB8AC3E}">
        <p14:creationId xmlns:p14="http://schemas.microsoft.com/office/powerpoint/2010/main" val="2726081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D58E3F-5D26-3831-2758-F483D6313F0D}"/>
              </a:ext>
            </a:extLst>
          </p:cNvPr>
          <p:cNvSpPr>
            <a:spLocks noGrp="1"/>
          </p:cNvSpPr>
          <p:nvPr>
            <p:ph type="dt" sz="half" idx="10"/>
          </p:nvPr>
        </p:nvSpPr>
        <p:spPr/>
        <p:txBody>
          <a:bodyPr/>
          <a:lstStyle/>
          <a:p>
            <a:fld id="{51F0296C-0A76-42DC-BD0B-8D8BD7092655}" type="datetimeFigureOut">
              <a:rPr lang="en-IN" smtClean="0"/>
              <a:t>06-08-2025</a:t>
            </a:fld>
            <a:endParaRPr lang="en-IN"/>
          </a:p>
        </p:txBody>
      </p:sp>
      <p:sp>
        <p:nvSpPr>
          <p:cNvPr id="3" name="Footer Placeholder 2">
            <a:extLst>
              <a:ext uri="{FF2B5EF4-FFF2-40B4-BE49-F238E27FC236}">
                <a16:creationId xmlns:a16="http://schemas.microsoft.com/office/drawing/2014/main" id="{E355AFC4-D5E3-21AF-DE5A-770493B2B3C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5411C46-E3AF-9682-7028-5CE5D1496B0D}"/>
              </a:ext>
            </a:extLst>
          </p:cNvPr>
          <p:cNvSpPr>
            <a:spLocks noGrp="1"/>
          </p:cNvSpPr>
          <p:nvPr>
            <p:ph type="sldNum" sz="quarter" idx="12"/>
          </p:nvPr>
        </p:nvSpPr>
        <p:spPr/>
        <p:txBody>
          <a:bodyPr/>
          <a:lstStyle/>
          <a:p>
            <a:fld id="{015E8645-8CAB-4345-B739-D87DB62A71F0}" type="slidenum">
              <a:rPr lang="en-IN" smtClean="0"/>
              <a:t>‹#›</a:t>
            </a:fld>
            <a:endParaRPr lang="en-IN"/>
          </a:p>
        </p:txBody>
      </p:sp>
    </p:spTree>
    <p:extLst>
      <p:ext uri="{BB962C8B-B14F-4D97-AF65-F5344CB8AC3E}">
        <p14:creationId xmlns:p14="http://schemas.microsoft.com/office/powerpoint/2010/main" val="5539968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39531-09D6-7EB5-B7A5-226E453E83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88920FE-98D6-D48B-C5A2-07F0024690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0C6AE4D-D5CC-BE86-0BC6-905A9F83E2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203B18-6E0E-0CCE-1325-5F90F27AF365}"/>
              </a:ext>
            </a:extLst>
          </p:cNvPr>
          <p:cNvSpPr>
            <a:spLocks noGrp="1"/>
          </p:cNvSpPr>
          <p:nvPr>
            <p:ph type="dt" sz="half" idx="10"/>
          </p:nvPr>
        </p:nvSpPr>
        <p:spPr/>
        <p:txBody>
          <a:bodyPr/>
          <a:lstStyle/>
          <a:p>
            <a:fld id="{51F0296C-0A76-42DC-BD0B-8D8BD7092655}" type="datetimeFigureOut">
              <a:rPr lang="en-IN" smtClean="0"/>
              <a:t>06-08-2025</a:t>
            </a:fld>
            <a:endParaRPr lang="en-IN"/>
          </a:p>
        </p:txBody>
      </p:sp>
      <p:sp>
        <p:nvSpPr>
          <p:cNvPr id="6" name="Footer Placeholder 5">
            <a:extLst>
              <a:ext uri="{FF2B5EF4-FFF2-40B4-BE49-F238E27FC236}">
                <a16:creationId xmlns:a16="http://schemas.microsoft.com/office/drawing/2014/main" id="{947B2AF8-31FA-4FFD-ACC7-D9064C52283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DFCC722-68AE-14CC-E6EB-0B03F10B1BA4}"/>
              </a:ext>
            </a:extLst>
          </p:cNvPr>
          <p:cNvSpPr>
            <a:spLocks noGrp="1"/>
          </p:cNvSpPr>
          <p:nvPr>
            <p:ph type="sldNum" sz="quarter" idx="12"/>
          </p:nvPr>
        </p:nvSpPr>
        <p:spPr/>
        <p:txBody>
          <a:bodyPr/>
          <a:lstStyle/>
          <a:p>
            <a:fld id="{015E8645-8CAB-4345-B739-D87DB62A71F0}" type="slidenum">
              <a:rPr lang="en-IN" smtClean="0"/>
              <a:t>‹#›</a:t>
            </a:fld>
            <a:endParaRPr lang="en-IN"/>
          </a:p>
        </p:txBody>
      </p:sp>
    </p:spTree>
    <p:extLst>
      <p:ext uri="{BB962C8B-B14F-4D97-AF65-F5344CB8AC3E}">
        <p14:creationId xmlns:p14="http://schemas.microsoft.com/office/powerpoint/2010/main" val="26170161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481A0-E183-9E13-7DA8-48ACDA2283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20A37DC-C413-2462-827A-1418588AAC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D243A11-14B9-3688-EE14-65ECBD14D5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F38EDC-0FAF-668A-7CA3-FD265D8C1BDA}"/>
              </a:ext>
            </a:extLst>
          </p:cNvPr>
          <p:cNvSpPr>
            <a:spLocks noGrp="1"/>
          </p:cNvSpPr>
          <p:nvPr>
            <p:ph type="dt" sz="half" idx="10"/>
          </p:nvPr>
        </p:nvSpPr>
        <p:spPr/>
        <p:txBody>
          <a:bodyPr/>
          <a:lstStyle/>
          <a:p>
            <a:fld id="{51F0296C-0A76-42DC-BD0B-8D8BD7092655}" type="datetimeFigureOut">
              <a:rPr lang="en-IN" smtClean="0"/>
              <a:t>06-08-2025</a:t>
            </a:fld>
            <a:endParaRPr lang="en-IN"/>
          </a:p>
        </p:txBody>
      </p:sp>
      <p:sp>
        <p:nvSpPr>
          <p:cNvPr id="6" name="Footer Placeholder 5">
            <a:extLst>
              <a:ext uri="{FF2B5EF4-FFF2-40B4-BE49-F238E27FC236}">
                <a16:creationId xmlns:a16="http://schemas.microsoft.com/office/drawing/2014/main" id="{78DF4160-4A0E-2A35-5D73-1E120FF3EDB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C92ED09-9BC8-E1B9-5913-8ED437776C9B}"/>
              </a:ext>
            </a:extLst>
          </p:cNvPr>
          <p:cNvSpPr>
            <a:spLocks noGrp="1"/>
          </p:cNvSpPr>
          <p:nvPr>
            <p:ph type="sldNum" sz="quarter" idx="12"/>
          </p:nvPr>
        </p:nvSpPr>
        <p:spPr/>
        <p:txBody>
          <a:bodyPr/>
          <a:lstStyle/>
          <a:p>
            <a:fld id="{015E8645-8CAB-4345-B739-D87DB62A71F0}" type="slidenum">
              <a:rPr lang="en-IN" smtClean="0"/>
              <a:t>‹#›</a:t>
            </a:fld>
            <a:endParaRPr lang="en-IN"/>
          </a:p>
        </p:txBody>
      </p:sp>
    </p:spTree>
    <p:extLst>
      <p:ext uri="{BB962C8B-B14F-4D97-AF65-F5344CB8AC3E}">
        <p14:creationId xmlns:p14="http://schemas.microsoft.com/office/powerpoint/2010/main" val="16526211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18242-2B78-7796-D902-83F0107C272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D8AE391-003E-EE24-A30B-21F8518C82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003FEC-217C-17E2-A5CC-B5F95319819F}"/>
              </a:ext>
            </a:extLst>
          </p:cNvPr>
          <p:cNvSpPr>
            <a:spLocks noGrp="1"/>
          </p:cNvSpPr>
          <p:nvPr>
            <p:ph type="dt" sz="half" idx="10"/>
          </p:nvPr>
        </p:nvSpPr>
        <p:spPr/>
        <p:txBody>
          <a:bodyPr/>
          <a:lstStyle/>
          <a:p>
            <a:fld id="{51F0296C-0A76-42DC-BD0B-8D8BD7092655}" type="datetimeFigureOut">
              <a:rPr lang="en-IN" smtClean="0"/>
              <a:t>06-08-2025</a:t>
            </a:fld>
            <a:endParaRPr lang="en-IN"/>
          </a:p>
        </p:txBody>
      </p:sp>
      <p:sp>
        <p:nvSpPr>
          <p:cNvPr id="5" name="Footer Placeholder 4">
            <a:extLst>
              <a:ext uri="{FF2B5EF4-FFF2-40B4-BE49-F238E27FC236}">
                <a16:creationId xmlns:a16="http://schemas.microsoft.com/office/drawing/2014/main" id="{48B73244-2656-1B5E-92C9-5C6F55BD81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30B0EEB-9CCD-BAC2-6029-8710F0CBAF7F}"/>
              </a:ext>
            </a:extLst>
          </p:cNvPr>
          <p:cNvSpPr>
            <a:spLocks noGrp="1"/>
          </p:cNvSpPr>
          <p:nvPr>
            <p:ph type="sldNum" sz="quarter" idx="12"/>
          </p:nvPr>
        </p:nvSpPr>
        <p:spPr/>
        <p:txBody>
          <a:bodyPr/>
          <a:lstStyle/>
          <a:p>
            <a:fld id="{015E8645-8CAB-4345-B739-D87DB62A71F0}" type="slidenum">
              <a:rPr lang="en-IN" smtClean="0"/>
              <a:t>‹#›</a:t>
            </a:fld>
            <a:endParaRPr lang="en-IN"/>
          </a:p>
        </p:txBody>
      </p:sp>
    </p:spTree>
    <p:extLst>
      <p:ext uri="{BB962C8B-B14F-4D97-AF65-F5344CB8AC3E}">
        <p14:creationId xmlns:p14="http://schemas.microsoft.com/office/powerpoint/2010/main" val="105433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AB4CDE-A59B-9F5D-9DB2-DBF69D45E58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BC7980F-79B7-A7CD-8759-82CE5FD1191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EBBE209-876B-9536-C1B3-E5837CD60EF0}"/>
              </a:ext>
            </a:extLst>
          </p:cNvPr>
          <p:cNvSpPr>
            <a:spLocks noGrp="1"/>
          </p:cNvSpPr>
          <p:nvPr>
            <p:ph type="dt" sz="half" idx="10"/>
          </p:nvPr>
        </p:nvSpPr>
        <p:spPr/>
        <p:txBody>
          <a:bodyPr/>
          <a:lstStyle/>
          <a:p>
            <a:fld id="{51F0296C-0A76-42DC-BD0B-8D8BD7092655}" type="datetimeFigureOut">
              <a:rPr lang="en-IN" smtClean="0"/>
              <a:t>06-08-2025</a:t>
            </a:fld>
            <a:endParaRPr lang="en-IN"/>
          </a:p>
        </p:txBody>
      </p:sp>
      <p:sp>
        <p:nvSpPr>
          <p:cNvPr id="5" name="Footer Placeholder 4">
            <a:extLst>
              <a:ext uri="{FF2B5EF4-FFF2-40B4-BE49-F238E27FC236}">
                <a16:creationId xmlns:a16="http://schemas.microsoft.com/office/drawing/2014/main" id="{07E89B69-2516-A125-5442-772EADAC075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7A3CFD1-1674-302B-5582-2238179C8F83}"/>
              </a:ext>
            </a:extLst>
          </p:cNvPr>
          <p:cNvSpPr>
            <a:spLocks noGrp="1"/>
          </p:cNvSpPr>
          <p:nvPr>
            <p:ph type="sldNum" sz="quarter" idx="12"/>
          </p:nvPr>
        </p:nvSpPr>
        <p:spPr/>
        <p:txBody>
          <a:bodyPr/>
          <a:lstStyle/>
          <a:p>
            <a:fld id="{015E8645-8CAB-4345-B739-D87DB62A71F0}" type="slidenum">
              <a:rPr lang="en-IN" smtClean="0"/>
              <a:t>‹#›</a:t>
            </a:fld>
            <a:endParaRPr lang="en-IN"/>
          </a:p>
        </p:txBody>
      </p:sp>
    </p:spTree>
    <p:extLst>
      <p:ext uri="{BB962C8B-B14F-4D97-AF65-F5344CB8AC3E}">
        <p14:creationId xmlns:p14="http://schemas.microsoft.com/office/powerpoint/2010/main" val="280670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799564-56BB-7BB2-D5F9-F589D61E93C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32851B2-30A0-DFE2-76E8-3542A4E62D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8A03C1-C3A4-BD78-A6FC-E98F016C63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1F0296C-0A76-42DC-BD0B-8D8BD7092655}" type="datetimeFigureOut">
              <a:rPr lang="en-IN" smtClean="0"/>
              <a:t>06-08-2025</a:t>
            </a:fld>
            <a:endParaRPr lang="en-IN"/>
          </a:p>
        </p:txBody>
      </p:sp>
      <p:sp>
        <p:nvSpPr>
          <p:cNvPr id="5" name="Footer Placeholder 4">
            <a:extLst>
              <a:ext uri="{FF2B5EF4-FFF2-40B4-BE49-F238E27FC236}">
                <a16:creationId xmlns:a16="http://schemas.microsoft.com/office/drawing/2014/main" id="{7AAF5D81-BC6E-4C22-9A2B-A4B3B36555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2F2B75E-C2C8-F100-4AF8-4B3B8794B28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5E8645-8CAB-4345-B739-D87DB62A71F0}" type="slidenum">
              <a:rPr lang="en-IN" smtClean="0"/>
              <a:t>‹#›</a:t>
            </a:fld>
            <a:endParaRPr lang="en-IN"/>
          </a:p>
        </p:txBody>
      </p:sp>
    </p:spTree>
    <p:extLst>
      <p:ext uri="{BB962C8B-B14F-4D97-AF65-F5344CB8AC3E}">
        <p14:creationId xmlns:p14="http://schemas.microsoft.com/office/powerpoint/2010/main" val="19738710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6.xml"/></Relationships>
</file>

<file path=ppt/slides/_rels/slide104.x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slideLayout" Target="../slideLayouts/slideLayout6.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1C60D-C30F-7CE6-714F-8A24555AB0E1}"/>
              </a:ext>
            </a:extLst>
          </p:cNvPr>
          <p:cNvSpPr>
            <a:spLocks noGrp="1"/>
          </p:cNvSpPr>
          <p:nvPr>
            <p:ph type="title"/>
          </p:nvPr>
        </p:nvSpPr>
        <p:spPr/>
        <p:txBody>
          <a:bodyPr>
            <a:normAutofit/>
          </a:bodyPr>
          <a:lstStyle/>
          <a:p>
            <a:r>
              <a:rPr lang="en-US" b="1" dirty="0">
                <a:solidFill>
                  <a:srgbClr val="333333"/>
                </a:solidFill>
                <a:latin typeface="Times New Roman" panose="02020603050405020304" pitchFamily="18" charset="0"/>
                <a:cs typeface="Times New Roman" panose="02020603050405020304" pitchFamily="18" charset="0"/>
              </a:rPr>
              <a:t>Distributed Computing</a:t>
            </a:r>
            <a:br>
              <a:rPr lang="en-US" sz="3600" dirty="0"/>
            </a:br>
            <a:endParaRPr lang="en-IN" dirty="0"/>
          </a:p>
        </p:txBody>
      </p:sp>
      <p:sp>
        <p:nvSpPr>
          <p:cNvPr id="3" name="Subtitle 2">
            <a:extLst>
              <a:ext uri="{FF2B5EF4-FFF2-40B4-BE49-F238E27FC236}">
                <a16:creationId xmlns:a16="http://schemas.microsoft.com/office/drawing/2014/main" id="{5151E2C5-F321-1346-86A2-C2708DCAED69}"/>
              </a:ext>
            </a:extLst>
          </p:cNvPr>
          <p:cNvSpPr>
            <a:spLocks noGrp="1"/>
          </p:cNvSpPr>
          <p:nvPr>
            <p:ph sz="half" idx="1"/>
          </p:nvPr>
        </p:nvSpPr>
        <p:spPr>
          <a:xfrm>
            <a:off x="838199" y="1825625"/>
            <a:ext cx="10515599" cy="4667250"/>
          </a:xfrm>
        </p:spPr>
        <p:txBody>
          <a:bodyPr>
            <a:normAutofit/>
          </a:bodyPr>
          <a:lstStyle/>
          <a:p>
            <a:pPr marL="0" lvl="0" indent="0" algn="just" eaLnBrk="0" fontAlgn="base" hangingPunct="0">
              <a:lnSpc>
                <a:spcPct val="100000"/>
              </a:lnSpc>
              <a:spcBef>
                <a:spcPct val="0"/>
              </a:spcBef>
              <a:spcAft>
                <a:spcPct val="0"/>
              </a:spcAft>
              <a:buNone/>
            </a:pPr>
            <a:r>
              <a:rPr lang="en-US" sz="2000" b="1" dirty="0">
                <a:solidFill>
                  <a:srgbClr val="333333"/>
                </a:solidFill>
                <a:cs typeface="Times New Roman" panose="02020603050405020304" pitchFamily="18" charset="0"/>
              </a:rPr>
              <a:t>Definition</a:t>
            </a:r>
            <a:endParaRPr lang="en-US" sz="2000" dirty="0"/>
          </a:p>
          <a:p>
            <a:pPr lvl="0" algn="just" eaLnBrk="0" fontAlgn="base" hangingPunct="0">
              <a:lnSpc>
                <a:spcPct val="100000"/>
              </a:lnSpc>
              <a:spcBef>
                <a:spcPct val="0"/>
              </a:spcBef>
              <a:spcAft>
                <a:spcPct val="0"/>
              </a:spcAft>
            </a:pPr>
            <a:r>
              <a:rPr lang="en-US" sz="2000" dirty="0">
                <a:solidFill>
                  <a:srgbClr val="222222"/>
                </a:solidFill>
                <a:cs typeface="Times New Roman" panose="02020603050405020304" pitchFamily="18" charset="0"/>
              </a:rPr>
              <a:t>A distributed system is a software system in which components located on networked computers communicate and coordinate their actions by passing messages.  The components interact with each other in order to achieve a common goal.</a:t>
            </a:r>
            <a:endParaRPr lang="en-US" sz="2000" dirty="0"/>
          </a:p>
          <a:p>
            <a:pPr marL="0" lvl="0" indent="0" algn="just" eaLnBrk="0" fontAlgn="base" hangingPunct="0">
              <a:lnSpc>
                <a:spcPct val="100000"/>
              </a:lnSpc>
              <a:spcBef>
                <a:spcPct val="0"/>
              </a:spcBef>
              <a:spcAft>
                <a:spcPct val="0"/>
              </a:spcAft>
              <a:buNone/>
            </a:pPr>
            <a:r>
              <a:rPr lang="en-US" sz="2000" dirty="0">
                <a:solidFill>
                  <a:srgbClr val="333333"/>
                </a:solidFill>
                <a:cs typeface="Times New Roman" panose="02020603050405020304" pitchFamily="18" charset="0"/>
              </a:rPr>
              <a:t> </a:t>
            </a:r>
            <a:endParaRPr lang="en-US" sz="2000" dirty="0"/>
          </a:p>
          <a:p>
            <a:pPr marL="0" lvl="0" indent="0" algn="just" eaLnBrk="0" fontAlgn="base" hangingPunct="0">
              <a:lnSpc>
                <a:spcPct val="100000"/>
              </a:lnSpc>
              <a:spcBef>
                <a:spcPct val="0"/>
              </a:spcBef>
              <a:spcAft>
                <a:spcPct val="0"/>
              </a:spcAft>
              <a:buNone/>
            </a:pPr>
            <a:r>
              <a:rPr lang="en-US" sz="2000" b="1" dirty="0">
                <a:solidFill>
                  <a:srgbClr val="333333"/>
                </a:solidFill>
                <a:cs typeface="Times New Roman" panose="02020603050405020304" pitchFamily="18" charset="0"/>
              </a:rPr>
              <a:t>Distributed Computing Principles</a:t>
            </a:r>
            <a:endParaRPr lang="en-US" sz="2000" dirty="0"/>
          </a:p>
          <a:p>
            <a:pPr lvl="0" algn="just" eaLnBrk="0" fontAlgn="base" hangingPunct="0">
              <a:lnSpc>
                <a:spcPct val="100000"/>
              </a:lnSpc>
              <a:spcBef>
                <a:spcPct val="0"/>
              </a:spcBef>
              <a:spcAft>
                <a:spcPct val="0"/>
              </a:spcAft>
            </a:pPr>
            <a:r>
              <a:rPr lang="en-US" sz="2000" dirty="0">
                <a:solidFill>
                  <a:srgbClr val="333333"/>
                </a:solidFill>
                <a:cs typeface="Times New Roman" panose="02020603050405020304" pitchFamily="18" charset="0"/>
              </a:rPr>
              <a:t>A distributed system consists of a collection of autonomous computers, connected through  a network and distribution middleware, which enables computers to coordinate their activities  and to share the resources of the system, so that users perceive the system as a single, integrated computing facility.</a:t>
            </a:r>
            <a:endParaRPr lang="en-US" sz="2000" dirty="0"/>
          </a:p>
          <a:p>
            <a:pPr marL="0" lvl="0" indent="0" algn="just" eaLnBrk="0" fontAlgn="base" hangingPunct="0">
              <a:lnSpc>
                <a:spcPct val="100000"/>
              </a:lnSpc>
              <a:spcBef>
                <a:spcPct val="0"/>
              </a:spcBef>
              <a:spcAft>
                <a:spcPct val="0"/>
              </a:spcAft>
              <a:buNone/>
            </a:pPr>
            <a:r>
              <a:rPr lang="en-US" sz="2000" dirty="0">
                <a:solidFill>
                  <a:srgbClr val="333333"/>
                </a:solidFill>
                <a:cs typeface="Times New Roman" panose="02020603050405020304" pitchFamily="18" charset="0"/>
              </a:rPr>
              <a:t> </a:t>
            </a:r>
            <a:endParaRPr lang="en-US" sz="2000" dirty="0"/>
          </a:p>
          <a:p>
            <a:endParaRPr lang="en-IN" dirty="0"/>
          </a:p>
        </p:txBody>
      </p:sp>
    </p:spTree>
    <p:extLst>
      <p:ext uri="{BB962C8B-B14F-4D97-AF65-F5344CB8AC3E}">
        <p14:creationId xmlns:p14="http://schemas.microsoft.com/office/powerpoint/2010/main" val="34338543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AD90B1-A57B-CDB4-3D13-F72D2F7AD282}"/>
              </a:ext>
            </a:extLst>
          </p:cNvPr>
          <p:cNvSpPr>
            <a:spLocks noGrp="1"/>
          </p:cNvSpPr>
          <p:nvPr>
            <p:ph sz="half" idx="1"/>
          </p:nvPr>
        </p:nvSpPr>
        <p:spPr>
          <a:xfrm>
            <a:off x="653143" y="702129"/>
            <a:ext cx="5366657" cy="5474834"/>
          </a:xfrm>
        </p:spPr>
        <p:txBody>
          <a:bodyPr>
            <a:normAutofit lnSpcReduction="10000"/>
          </a:bodyPr>
          <a:lstStyle/>
          <a:p>
            <a:pPr marL="0" lvl="0" indent="0" eaLnBrk="0" fontAlgn="base" hangingPunct="0">
              <a:lnSpc>
                <a:spcPct val="100000"/>
              </a:lnSpc>
              <a:spcBef>
                <a:spcPct val="0"/>
              </a:spcBef>
              <a:spcAft>
                <a:spcPct val="0"/>
              </a:spcAft>
              <a:buNone/>
            </a:pPr>
            <a:r>
              <a:rPr lang="en-US" b="1" dirty="0">
                <a:solidFill>
                  <a:srgbClr val="333333"/>
                </a:solidFill>
                <a:cs typeface="Times New Roman" panose="02020603050405020304" pitchFamily="18" charset="0"/>
              </a:rPr>
              <a:t>Centralized System Characteristics</a:t>
            </a:r>
            <a:endParaRPr lang="en-US" dirty="0"/>
          </a:p>
          <a:p>
            <a:pPr marL="0" lvl="0" indent="0" eaLnBrk="0" fontAlgn="base" hangingPunct="0">
              <a:lnSpc>
                <a:spcPct val="100000"/>
              </a:lnSpc>
              <a:spcBef>
                <a:spcPct val="0"/>
              </a:spcBef>
              <a:spcAft>
                <a:spcPct val="0"/>
              </a:spcAft>
              <a:buNone/>
            </a:pPr>
            <a:endParaRPr lang="en-US" dirty="0"/>
          </a:p>
          <a:p>
            <a:pPr marL="457200" lvl="0" indent="-457200" eaLnBrk="0" fontAlgn="base" hangingPunct="0">
              <a:lnSpc>
                <a:spcPct val="100000"/>
              </a:lnSpc>
              <a:spcBef>
                <a:spcPct val="0"/>
              </a:spcBef>
              <a:spcAft>
                <a:spcPct val="0"/>
              </a:spcAft>
              <a:buFont typeface="+mj-lt"/>
              <a:buAutoNum type="arabicPeriod"/>
            </a:pPr>
            <a:r>
              <a:rPr lang="en-US" dirty="0">
                <a:solidFill>
                  <a:srgbClr val="333333"/>
                </a:solidFill>
                <a:cs typeface="Times New Roman" panose="02020603050405020304" pitchFamily="18" charset="0"/>
              </a:rPr>
              <a:t>One component with non-autonomous parts</a:t>
            </a:r>
            <a:endParaRPr lang="en-US" dirty="0"/>
          </a:p>
          <a:p>
            <a:pPr marL="457200" lvl="0" indent="-457200" eaLnBrk="0" fontAlgn="base" hangingPunct="0">
              <a:lnSpc>
                <a:spcPct val="100000"/>
              </a:lnSpc>
              <a:spcBef>
                <a:spcPct val="0"/>
              </a:spcBef>
              <a:spcAft>
                <a:spcPct val="0"/>
              </a:spcAft>
              <a:buFont typeface="+mj-lt"/>
              <a:buAutoNum type="arabicPeriod"/>
            </a:pPr>
            <a:r>
              <a:rPr lang="en-US" dirty="0">
                <a:solidFill>
                  <a:srgbClr val="333333"/>
                </a:solidFill>
                <a:cs typeface="Times New Roman" panose="02020603050405020304" pitchFamily="18" charset="0"/>
              </a:rPr>
              <a:t>Component shared by users all the time</a:t>
            </a:r>
            <a:endParaRPr lang="en-US" dirty="0"/>
          </a:p>
          <a:p>
            <a:pPr marL="457200" lvl="0" indent="-457200" eaLnBrk="0" fontAlgn="base" hangingPunct="0">
              <a:lnSpc>
                <a:spcPct val="100000"/>
              </a:lnSpc>
              <a:spcBef>
                <a:spcPct val="0"/>
              </a:spcBef>
              <a:spcAft>
                <a:spcPct val="0"/>
              </a:spcAft>
              <a:buFont typeface="+mj-lt"/>
              <a:buAutoNum type="arabicPeriod"/>
            </a:pPr>
            <a:r>
              <a:rPr lang="en-US" dirty="0">
                <a:solidFill>
                  <a:srgbClr val="333333"/>
                </a:solidFill>
                <a:cs typeface="Times New Roman" panose="02020603050405020304" pitchFamily="18" charset="0"/>
              </a:rPr>
              <a:t>All resources accessible</a:t>
            </a:r>
            <a:endParaRPr lang="en-US" dirty="0"/>
          </a:p>
          <a:p>
            <a:pPr marL="457200" lvl="0" indent="-457200" eaLnBrk="0" fontAlgn="base" hangingPunct="0">
              <a:lnSpc>
                <a:spcPct val="100000"/>
              </a:lnSpc>
              <a:spcBef>
                <a:spcPct val="0"/>
              </a:spcBef>
              <a:spcAft>
                <a:spcPct val="0"/>
              </a:spcAft>
              <a:buFont typeface="+mj-lt"/>
              <a:buAutoNum type="arabicPeriod"/>
            </a:pPr>
            <a:r>
              <a:rPr lang="en-US" dirty="0">
                <a:solidFill>
                  <a:srgbClr val="333333"/>
                </a:solidFill>
                <a:cs typeface="Times New Roman" panose="02020603050405020304" pitchFamily="18" charset="0"/>
              </a:rPr>
              <a:t>Software runs in a single process</a:t>
            </a:r>
            <a:endParaRPr lang="en-US" dirty="0"/>
          </a:p>
          <a:p>
            <a:pPr marL="457200" lvl="0" indent="-457200" eaLnBrk="0" fontAlgn="base" hangingPunct="0">
              <a:lnSpc>
                <a:spcPct val="100000"/>
              </a:lnSpc>
              <a:spcBef>
                <a:spcPct val="0"/>
              </a:spcBef>
              <a:spcAft>
                <a:spcPct val="0"/>
              </a:spcAft>
              <a:buFont typeface="+mj-lt"/>
              <a:buAutoNum type="arabicPeriod"/>
            </a:pPr>
            <a:r>
              <a:rPr lang="en-US" dirty="0">
                <a:solidFill>
                  <a:srgbClr val="333333"/>
                </a:solidFill>
                <a:cs typeface="Times New Roman" panose="02020603050405020304" pitchFamily="18" charset="0"/>
              </a:rPr>
              <a:t>Single Point of control</a:t>
            </a:r>
            <a:endParaRPr lang="en-US" dirty="0"/>
          </a:p>
          <a:p>
            <a:pPr marL="457200" lvl="0" indent="-457200" eaLnBrk="0" fontAlgn="base" hangingPunct="0">
              <a:lnSpc>
                <a:spcPct val="100000"/>
              </a:lnSpc>
              <a:spcBef>
                <a:spcPct val="0"/>
              </a:spcBef>
              <a:spcAft>
                <a:spcPct val="0"/>
              </a:spcAft>
              <a:buFont typeface="+mj-lt"/>
              <a:buAutoNum type="arabicPeriod"/>
            </a:pPr>
            <a:r>
              <a:rPr lang="en-US" dirty="0">
                <a:solidFill>
                  <a:srgbClr val="333333"/>
                </a:solidFill>
                <a:cs typeface="Times New Roman" panose="02020603050405020304" pitchFamily="18" charset="0"/>
              </a:rPr>
              <a:t>Single Point of failure</a:t>
            </a:r>
            <a:endParaRPr lang="en-IN" dirty="0"/>
          </a:p>
        </p:txBody>
      </p:sp>
      <p:sp>
        <p:nvSpPr>
          <p:cNvPr id="4" name="Content Placeholder 3">
            <a:extLst>
              <a:ext uri="{FF2B5EF4-FFF2-40B4-BE49-F238E27FC236}">
                <a16:creationId xmlns:a16="http://schemas.microsoft.com/office/drawing/2014/main" id="{44C8A4C0-09CC-6939-32C7-139F8292ACC9}"/>
              </a:ext>
            </a:extLst>
          </p:cNvPr>
          <p:cNvSpPr>
            <a:spLocks noGrp="1"/>
          </p:cNvSpPr>
          <p:nvPr>
            <p:ph sz="half" idx="2"/>
          </p:nvPr>
        </p:nvSpPr>
        <p:spPr>
          <a:xfrm>
            <a:off x="5987143" y="702129"/>
            <a:ext cx="5366657" cy="5474834"/>
          </a:xfrm>
        </p:spPr>
        <p:txBody>
          <a:bodyPr>
            <a:normAutofit lnSpcReduction="10000"/>
          </a:bodyPr>
          <a:lstStyle/>
          <a:p>
            <a:pPr marL="0" lvl="0" indent="0" algn="just" eaLnBrk="0" fontAlgn="base" hangingPunct="0">
              <a:lnSpc>
                <a:spcPct val="100000"/>
              </a:lnSpc>
              <a:spcBef>
                <a:spcPct val="0"/>
              </a:spcBef>
              <a:spcAft>
                <a:spcPct val="0"/>
              </a:spcAft>
              <a:buNone/>
            </a:pPr>
            <a:r>
              <a:rPr lang="en-US" b="1" dirty="0">
                <a:solidFill>
                  <a:srgbClr val="333333"/>
                </a:solidFill>
                <a:cs typeface="Times New Roman" panose="02020603050405020304" pitchFamily="18" charset="0"/>
              </a:rPr>
              <a:t>Distributed System</a:t>
            </a:r>
          </a:p>
          <a:p>
            <a:pPr marL="0" lvl="0" indent="0" algn="just" eaLnBrk="0" fontAlgn="base" hangingPunct="0">
              <a:lnSpc>
                <a:spcPct val="100000"/>
              </a:lnSpc>
              <a:spcBef>
                <a:spcPct val="0"/>
              </a:spcBef>
              <a:spcAft>
                <a:spcPct val="0"/>
              </a:spcAft>
              <a:buNone/>
            </a:pPr>
            <a:r>
              <a:rPr lang="en-US" b="1" dirty="0">
                <a:solidFill>
                  <a:srgbClr val="333333"/>
                </a:solidFill>
                <a:cs typeface="Times New Roman" panose="02020603050405020304" pitchFamily="18" charset="0"/>
              </a:rPr>
              <a:t> Characteristics</a:t>
            </a:r>
            <a:endParaRPr lang="en-US" dirty="0"/>
          </a:p>
          <a:p>
            <a:pPr marL="0" lvl="0" indent="0" algn="just" eaLnBrk="0" fontAlgn="base" hangingPunct="0">
              <a:lnSpc>
                <a:spcPct val="100000"/>
              </a:lnSpc>
              <a:spcBef>
                <a:spcPct val="0"/>
              </a:spcBef>
              <a:spcAft>
                <a:spcPct val="0"/>
              </a:spcAft>
              <a:buNone/>
            </a:pPr>
            <a:r>
              <a:rPr lang="en-US" dirty="0">
                <a:solidFill>
                  <a:srgbClr val="333333"/>
                </a:solidFill>
                <a:cs typeface="Times New Roman" panose="02020603050405020304" pitchFamily="18" charset="0"/>
              </a:rPr>
              <a:t> </a:t>
            </a:r>
            <a:endParaRPr lang="en-US" dirty="0"/>
          </a:p>
          <a:p>
            <a:pPr marL="457200" lvl="0" indent="-457200" algn="just" eaLnBrk="0" fontAlgn="base" hangingPunct="0">
              <a:lnSpc>
                <a:spcPct val="100000"/>
              </a:lnSpc>
              <a:spcBef>
                <a:spcPct val="0"/>
              </a:spcBef>
              <a:spcAft>
                <a:spcPct val="0"/>
              </a:spcAft>
              <a:buFont typeface="+mj-lt"/>
              <a:buAutoNum type="arabicPeriod"/>
            </a:pPr>
            <a:r>
              <a:rPr lang="en-US" dirty="0">
                <a:solidFill>
                  <a:srgbClr val="333333"/>
                </a:solidFill>
                <a:cs typeface="Times New Roman" panose="02020603050405020304" pitchFamily="18" charset="0"/>
              </a:rPr>
              <a:t>Multiple autonomous components</a:t>
            </a:r>
            <a:endParaRPr lang="en-US" dirty="0"/>
          </a:p>
          <a:p>
            <a:pPr marL="457200" lvl="0" indent="-457200" algn="just" eaLnBrk="0" fontAlgn="base" hangingPunct="0">
              <a:lnSpc>
                <a:spcPct val="100000"/>
              </a:lnSpc>
              <a:spcBef>
                <a:spcPct val="0"/>
              </a:spcBef>
              <a:spcAft>
                <a:spcPct val="0"/>
              </a:spcAft>
              <a:buFont typeface="+mj-lt"/>
              <a:buAutoNum type="arabicPeriod"/>
            </a:pPr>
            <a:r>
              <a:rPr lang="en-US" dirty="0">
                <a:solidFill>
                  <a:srgbClr val="333333"/>
                </a:solidFill>
                <a:cs typeface="Times New Roman" panose="02020603050405020304" pitchFamily="18" charset="0"/>
              </a:rPr>
              <a:t>Components are not shared by all users</a:t>
            </a:r>
            <a:endParaRPr lang="en-US" dirty="0"/>
          </a:p>
          <a:p>
            <a:pPr marL="457200" lvl="0" indent="-457200" algn="just" eaLnBrk="0" fontAlgn="base" hangingPunct="0">
              <a:lnSpc>
                <a:spcPct val="100000"/>
              </a:lnSpc>
              <a:spcBef>
                <a:spcPct val="0"/>
              </a:spcBef>
              <a:spcAft>
                <a:spcPct val="0"/>
              </a:spcAft>
              <a:buFont typeface="+mj-lt"/>
              <a:buAutoNum type="arabicPeriod"/>
            </a:pPr>
            <a:r>
              <a:rPr lang="en-US" dirty="0">
                <a:solidFill>
                  <a:srgbClr val="333333"/>
                </a:solidFill>
                <a:cs typeface="Times New Roman" panose="02020603050405020304" pitchFamily="18" charset="0"/>
              </a:rPr>
              <a:t>Resources may not be accessible</a:t>
            </a:r>
            <a:endParaRPr lang="en-US" dirty="0"/>
          </a:p>
          <a:p>
            <a:pPr marL="457200" lvl="0" indent="-457200" algn="just" eaLnBrk="0" fontAlgn="base" hangingPunct="0">
              <a:lnSpc>
                <a:spcPct val="100000"/>
              </a:lnSpc>
              <a:spcBef>
                <a:spcPct val="0"/>
              </a:spcBef>
              <a:spcAft>
                <a:spcPct val="0"/>
              </a:spcAft>
              <a:buFont typeface="+mj-lt"/>
              <a:buAutoNum type="arabicPeriod"/>
            </a:pPr>
            <a:r>
              <a:rPr lang="en-US" dirty="0">
                <a:solidFill>
                  <a:srgbClr val="333333"/>
                </a:solidFill>
                <a:cs typeface="Times New Roman" panose="02020603050405020304" pitchFamily="18" charset="0"/>
              </a:rPr>
              <a:t>Software runs in concurrent processes on different processors</a:t>
            </a:r>
            <a:endParaRPr lang="en-US" dirty="0"/>
          </a:p>
          <a:p>
            <a:pPr marL="457200" lvl="0" indent="-457200" algn="just" eaLnBrk="0" fontAlgn="base" hangingPunct="0">
              <a:lnSpc>
                <a:spcPct val="100000"/>
              </a:lnSpc>
              <a:spcBef>
                <a:spcPct val="0"/>
              </a:spcBef>
              <a:spcAft>
                <a:spcPct val="0"/>
              </a:spcAft>
              <a:buFont typeface="+mj-lt"/>
              <a:buAutoNum type="arabicPeriod"/>
            </a:pPr>
            <a:r>
              <a:rPr lang="en-US" dirty="0">
                <a:solidFill>
                  <a:srgbClr val="333333"/>
                </a:solidFill>
                <a:cs typeface="Times New Roman" panose="02020603050405020304" pitchFamily="18" charset="0"/>
              </a:rPr>
              <a:t>Multiple Points of control</a:t>
            </a:r>
            <a:endParaRPr lang="en-US" dirty="0"/>
          </a:p>
          <a:p>
            <a:pPr marL="457200" lvl="0" indent="-457200" algn="just" eaLnBrk="0" fontAlgn="base" hangingPunct="0">
              <a:lnSpc>
                <a:spcPct val="100000"/>
              </a:lnSpc>
              <a:spcBef>
                <a:spcPct val="0"/>
              </a:spcBef>
              <a:spcAft>
                <a:spcPct val="0"/>
              </a:spcAft>
              <a:buFont typeface="+mj-lt"/>
              <a:buAutoNum type="arabicPeriod"/>
            </a:pPr>
            <a:r>
              <a:rPr lang="en-US" dirty="0">
                <a:solidFill>
                  <a:srgbClr val="333333"/>
                </a:solidFill>
                <a:cs typeface="Times New Roman" panose="02020603050405020304" pitchFamily="18" charset="0"/>
              </a:rPr>
              <a:t>Multiple Points of failure</a:t>
            </a:r>
            <a:endParaRPr lang="en-IN" dirty="0"/>
          </a:p>
        </p:txBody>
      </p:sp>
    </p:spTree>
    <p:extLst>
      <p:ext uri="{BB962C8B-B14F-4D97-AF65-F5344CB8AC3E}">
        <p14:creationId xmlns:p14="http://schemas.microsoft.com/office/powerpoint/2010/main" val="4050902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4D7C4-053E-AD6C-E70B-75FA6BFF0C25}"/>
              </a:ext>
            </a:extLst>
          </p:cNvPr>
          <p:cNvSpPr>
            <a:spLocks noGrp="1"/>
          </p:cNvSpPr>
          <p:nvPr>
            <p:ph type="ctrTitle"/>
          </p:nvPr>
        </p:nvSpPr>
        <p:spPr>
          <a:xfrm>
            <a:off x="555172" y="391886"/>
            <a:ext cx="9813472" cy="849085"/>
          </a:xfrm>
        </p:spPr>
        <p:txBody>
          <a:bodyPr>
            <a:normAutofit fontScale="90000"/>
          </a:bodyPr>
          <a:lstStyle/>
          <a:p>
            <a:r>
              <a:rPr lang="en-US" dirty="0">
                <a:solidFill>
                  <a:srgbClr val="333333"/>
                </a:solidFill>
                <a:cs typeface="Times New Roman" panose="02020603050405020304" pitchFamily="18" charset="0"/>
              </a:rPr>
              <a:t>Examples of distributed systems</a:t>
            </a:r>
            <a:endParaRPr lang="en-IN" dirty="0"/>
          </a:p>
        </p:txBody>
      </p:sp>
      <p:sp>
        <p:nvSpPr>
          <p:cNvPr id="3" name="Subtitle 2">
            <a:extLst>
              <a:ext uri="{FF2B5EF4-FFF2-40B4-BE49-F238E27FC236}">
                <a16:creationId xmlns:a16="http://schemas.microsoft.com/office/drawing/2014/main" id="{CDD51A1B-5FF7-A10C-F511-5B1FD9AF4378}"/>
              </a:ext>
            </a:extLst>
          </p:cNvPr>
          <p:cNvSpPr>
            <a:spLocks noGrp="1"/>
          </p:cNvSpPr>
          <p:nvPr>
            <p:ph type="subTitle" idx="1"/>
          </p:nvPr>
        </p:nvSpPr>
        <p:spPr>
          <a:xfrm>
            <a:off x="1077687" y="1469571"/>
            <a:ext cx="10548256" cy="4735285"/>
          </a:xfrm>
        </p:spPr>
        <p:txBody>
          <a:bodyPr/>
          <a:lstStyle/>
          <a:p>
            <a:pPr lvl="0" algn="just" eaLnBrk="0" fontAlgn="base" hangingPunct="0">
              <a:lnSpc>
                <a:spcPct val="100000"/>
              </a:lnSpc>
              <a:spcBef>
                <a:spcPct val="0"/>
              </a:spcBef>
              <a:spcAft>
                <a:spcPct val="0"/>
              </a:spcAft>
            </a:pPr>
            <a:r>
              <a:rPr kumimoji="0" lang="en-US" b="0" i="0" u="none" strike="noStrike" cap="none" normalizeH="0" baseline="0" dirty="0">
                <a:ln>
                  <a:noFill/>
                </a:ln>
                <a:solidFill>
                  <a:srgbClr val="333333"/>
                </a:solidFill>
                <a:effectLst/>
                <a:latin typeface="+mn-lt"/>
                <a:cs typeface="Times New Roman" panose="02020603050405020304" pitchFamily="18" charset="0"/>
              </a:rPr>
              <a:t>Examples of distributed systems and applications of distributed computing include the following:</a:t>
            </a:r>
            <a:endParaRPr kumimoji="0" lang="en-US" b="0" i="0" u="none" strike="noStrike" cap="none" normalizeH="0" baseline="0" dirty="0">
              <a:ln>
                <a:noFill/>
              </a:ln>
              <a:solidFill>
                <a:schemeClr val="tx1"/>
              </a:solidFill>
              <a:effectLst/>
              <a:latin typeface="+mn-lt"/>
            </a:endParaRPr>
          </a:p>
          <a:p>
            <a:pPr lvl="0" algn="just" eaLnBrk="0" fontAlgn="base" hangingPunct="0">
              <a:lnSpc>
                <a:spcPct val="100000"/>
              </a:lnSpc>
              <a:spcBef>
                <a:spcPct val="0"/>
              </a:spcBef>
              <a:spcAft>
                <a:spcPct val="0"/>
              </a:spcAft>
            </a:pPr>
            <a:r>
              <a:rPr kumimoji="0" lang="en-US" b="0" i="0" u="none" strike="noStrike" cap="none" normalizeH="0" baseline="0" dirty="0">
                <a:ln>
                  <a:noFill/>
                </a:ln>
                <a:solidFill>
                  <a:srgbClr val="333333"/>
                </a:solidFill>
                <a:effectLst/>
                <a:latin typeface="+mn-lt"/>
                <a:cs typeface="Times New Roman" panose="02020603050405020304" pitchFamily="18" charset="0"/>
              </a:rPr>
              <a:t> </a:t>
            </a:r>
            <a:endParaRPr kumimoji="0" lang="en-US" b="0" i="0" u="none" strike="noStrike" cap="none" normalizeH="0" baseline="0" dirty="0">
              <a:ln>
                <a:noFill/>
              </a:ln>
              <a:solidFill>
                <a:schemeClr val="tx1"/>
              </a:solidFill>
              <a:effectLst/>
              <a:latin typeface="+mn-lt"/>
            </a:endParaRPr>
          </a:p>
          <a:p>
            <a:pPr marL="457200" indent="-457200" algn="just">
              <a:lnSpc>
                <a:spcPct val="100000"/>
              </a:lnSpc>
              <a:buFont typeface="+mj-lt"/>
              <a:buAutoNum type="arabicPeriod"/>
            </a:pPr>
            <a:r>
              <a:rPr kumimoji="0" lang="en-US" b="0" i="0" u="none" strike="noStrike" cap="none" normalizeH="0" baseline="0" dirty="0">
                <a:ln>
                  <a:noFill/>
                </a:ln>
                <a:solidFill>
                  <a:srgbClr val="333333"/>
                </a:solidFill>
                <a:effectLst/>
                <a:latin typeface="+mn-lt"/>
                <a:cs typeface="Times New Roman" panose="02020603050405020304" pitchFamily="18" charset="0"/>
              </a:rPr>
              <a:t>Telecommunication networks</a:t>
            </a:r>
            <a:endParaRPr kumimoji="0" lang="en-US" b="0" i="0" u="none" strike="noStrike" cap="none" normalizeH="0" baseline="0" dirty="0">
              <a:ln>
                <a:noFill/>
              </a:ln>
              <a:solidFill>
                <a:schemeClr val="tx1"/>
              </a:solidFill>
              <a:effectLst/>
              <a:latin typeface="+mn-lt"/>
            </a:endParaRPr>
          </a:p>
          <a:p>
            <a:pPr marL="457200" lvl="0" indent="-457200" algn="just" eaLnBrk="0" fontAlgn="base" hangingPunct="0">
              <a:lnSpc>
                <a:spcPct val="100000"/>
              </a:lnSpc>
              <a:spcBef>
                <a:spcPct val="0"/>
              </a:spcBef>
              <a:spcAft>
                <a:spcPct val="0"/>
              </a:spcAft>
              <a:buFont typeface="+mj-lt"/>
              <a:buAutoNum type="arabicPeriod"/>
            </a:pPr>
            <a:r>
              <a:rPr kumimoji="0" lang="en-US" b="0" i="0" u="none" strike="noStrike" cap="none" normalizeH="0" baseline="0" dirty="0">
                <a:ln>
                  <a:noFill/>
                </a:ln>
                <a:solidFill>
                  <a:srgbClr val="333333"/>
                </a:solidFill>
                <a:effectLst/>
                <a:latin typeface="+mn-lt"/>
                <a:cs typeface="Courier New" panose="02070309020205020404" pitchFamily="49" charset="0"/>
              </a:rPr>
              <a:t>T</a:t>
            </a:r>
            <a:r>
              <a:rPr kumimoji="0" lang="en-US" b="0" i="0" u="none" strike="noStrike" cap="none" normalizeH="0" baseline="0" dirty="0">
                <a:ln>
                  <a:noFill/>
                </a:ln>
                <a:solidFill>
                  <a:srgbClr val="333333"/>
                </a:solidFill>
                <a:effectLst/>
                <a:latin typeface="+mn-lt"/>
                <a:cs typeface="Times New Roman" panose="02020603050405020304" pitchFamily="18" charset="0"/>
              </a:rPr>
              <a:t>elephone networks and cellular networks</a:t>
            </a:r>
            <a:endParaRPr kumimoji="0" lang="en-US" b="0" i="0" u="none" strike="noStrike" cap="none" normalizeH="0" baseline="0" dirty="0">
              <a:ln>
                <a:noFill/>
              </a:ln>
              <a:solidFill>
                <a:schemeClr val="tx1"/>
              </a:solidFill>
              <a:effectLst/>
              <a:latin typeface="+mn-lt"/>
            </a:endParaRPr>
          </a:p>
          <a:p>
            <a:pPr marL="457200" lvl="0" indent="-457200" algn="just" eaLnBrk="0" fontAlgn="base" hangingPunct="0">
              <a:lnSpc>
                <a:spcPct val="100000"/>
              </a:lnSpc>
              <a:spcBef>
                <a:spcPct val="0"/>
              </a:spcBef>
              <a:spcAft>
                <a:spcPct val="0"/>
              </a:spcAft>
              <a:buFont typeface="+mj-lt"/>
              <a:buAutoNum type="arabicPeriod"/>
            </a:pPr>
            <a:r>
              <a:rPr kumimoji="0" lang="en-US" b="0" i="0" u="none" strike="noStrike" cap="none" normalizeH="0" baseline="0" dirty="0">
                <a:ln>
                  <a:noFill/>
                </a:ln>
                <a:solidFill>
                  <a:srgbClr val="333333"/>
                </a:solidFill>
                <a:effectLst/>
                <a:latin typeface="+mn-lt"/>
                <a:cs typeface="Courier New" panose="02070309020205020404" pitchFamily="49" charset="0"/>
              </a:rPr>
              <a:t>C</a:t>
            </a:r>
            <a:r>
              <a:rPr kumimoji="0" lang="en-US" b="0" i="0" u="none" strike="noStrike" cap="none" normalizeH="0" baseline="0" dirty="0">
                <a:ln>
                  <a:noFill/>
                </a:ln>
                <a:solidFill>
                  <a:srgbClr val="333333"/>
                </a:solidFill>
                <a:effectLst/>
                <a:latin typeface="+mn-lt"/>
                <a:cs typeface="Times New Roman" panose="02020603050405020304" pitchFamily="18" charset="0"/>
              </a:rPr>
              <a:t>omputer networks such as the Internet</a:t>
            </a:r>
            <a:endParaRPr kumimoji="0" lang="en-US" b="0" i="0" u="none" strike="noStrike" cap="none" normalizeH="0" baseline="0" dirty="0">
              <a:ln>
                <a:noFill/>
              </a:ln>
              <a:solidFill>
                <a:schemeClr val="tx1"/>
              </a:solidFill>
              <a:effectLst/>
              <a:latin typeface="+mn-lt"/>
            </a:endParaRPr>
          </a:p>
          <a:p>
            <a:pPr marL="457200" lvl="0" indent="-457200" algn="just" eaLnBrk="0" fontAlgn="base" hangingPunct="0">
              <a:lnSpc>
                <a:spcPct val="100000"/>
              </a:lnSpc>
              <a:spcBef>
                <a:spcPct val="0"/>
              </a:spcBef>
              <a:spcAft>
                <a:spcPct val="0"/>
              </a:spcAft>
              <a:buFont typeface="+mj-lt"/>
              <a:buAutoNum type="arabicPeriod"/>
            </a:pPr>
            <a:r>
              <a:rPr kumimoji="0" lang="en-US" b="0" i="0" u="none" strike="noStrike" cap="none" normalizeH="0" baseline="0" dirty="0">
                <a:ln>
                  <a:noFill/>
                </a:ln>
                <a:solidFill>
                  <a:srgbClr val="333333"/>
                </a:solidFill>
                <a:effectLst/>
                <a:latin typeface="+mn-lt"/>
                <a:cs typeface="Times New Roman" panose="02020603050405020304" pitchFamily="18" charset="0"/>
              </a:rPr>
              <a:t>Wireless sensor networks</a:t>
            </a:r>
            <a:endParaRPr kumimoji="0" lang="en-US" b="0" i="0" u="none" strike="noStrike" cap="none" normalizeH="0" baseline="0" dirty="0">
              <a:ln>
                <a:noFill/>
              </a:ln>
              <a:solidFill>
                <a:schemeClr val="tx1"/>
              </a:solidFill>
              <a:effectLst/>
              <a:latin typeface="+mn-lt"/>
            </a:endParaRPr>
          </a:p>
          <a:p>
            <a:pPr marL="457200" lvl="0" indent="-457200" algn="just" eaLnBrk="0" fontAlgn="base" hangingPunct="0">
              <a:lnSpc>
                <a:spcPct val="100000"/>
              </a:lnSpc>
              <a:spcBef>
                <a:spcPct val="0"/>
              </a:spcBef>
              <a:spcAft>
                <a:spcPct val="0"/>
              </a:spcAft>
              <a:buFont typeface="+mj-lt"/>
              <a:buAutoNum type="arabicPeriod"/>
            </a:pPr>
            <a:r>
              <a:rPr kumimoji="0" lang="en-US" b="0" i="0" u="none" strike="noStrike" cap="none" normalizeH="0" baseline="0" dirty="0">
                <a:ln>
                  <a:noFill/>
                </a:ln>
                <a:solidFill>
                  <a:srgbClr val="333333"/>
                </a:solidFill>
                <a:effectLst/>
                <a:latin typeface="+mn-lt"/>
                <a:cs typeface="Times New Roman" panose="02020603050405020304" pitchFamily="18" charset="0"/>
              </a:rPr>
              <a:t>Routing algorithms</a:t>
            </a:r>
            <a:endParaRPr kumimoji="0" lang="en-US" b="0" i="0" u="none" strike="noStrike" cap="none" normalizeH="0" baseline="0" dirty="0">
              <a:ln>
                <a:noFill/>
              </a:ln>
              <a:solidFill>
                <a:schemeClr val="tx1"/>
              </a:solidFill>
              <a:effectLst/>
              <a:latin typeface="+mn-lt"/>
            </a:endParaRPr>
          </a:p>
          <a:p>
            <a:endParaRPr lang="en-IN" dirty="0"/>
          </a:p>
        </p:txBody>
      </p:sp>
    </p:spTree>
    <p:extLst>
      <p:ext uri="{BB962C8B-B14F-4D97-AF65-F5344CB8AC3E}">
        <p14:creationId xmlns:p14="http://schemas.microsoft.com/office/powerpoint/2010/main" val="14780027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33F32-99CC-CD61-C55B-9C67B5E42373}"/>
              </a:ext>
            </a:extLst>
          </p:cNvPr>
          <p:cNvSpPr>
            <a:spLocks noGrp="1"/>
          </p:cNvSpPr>
          <p:nvPr>
            <p:ph type="title"/>
          </p:nvPr>
        </p:nvSpPr>
        <p:spPr/>
        <p:txBody>
          <a:bodyPr/>
          <a:lstStyle/>
          <a:p>
            <a:r>
              <a:rPr lang="en-US" altLang="en-US" dirty="0">
                <a:solidFill>
                  <a:srgbClr val="0000FF"/>
                </a:solidFill>
              </a:rPr>
              <a:t>Distributed Systems Vs Network of Computers</a:t>
            </a:r>
            <a:endParaRPr lang="en-IN" dirty="0"/>
          </a:p>
        </p:txBody>
      </p:sp>
      <p:sp>
        <p:nvSpPr>
          <p:cNvPr id="3" name="Content Placeholder 2">
            <a:extLst>
              <a:ext uri="{FF2B5EF4-FFF2-40B4-BE49-F238E27FC236}">
                <a16:creationId xmlns:a16="http://schemas.microsoft.com/office/drawing/2014/main" id="{1DCE46EF-ECD2-91E5-3497-F2698DC55663}"/>
              </a:ext>
            </a:extLst>
          </p:cNvPr>
          <p:cNvSpPr>
            <a:spLocks noGrp="1"/>
          </p:cNvSpPr>
          <p:nvPr>
            <p:ph sz="half" idx="1"/>
          </p:nvPr>
        </p:nvSpPr>
        <p:spPr/>
        <p:txBody>
          <a:bodyPr>
            <a:normAutofit lnSpcReduction="10000"/>
          </a:bodyPr>
          <a:lstStyle/>
          <a:p>
            <a:r>
              <a:rPr lang="en-US" altLang="en-US" dirty="0"/>
              <a:t>A </a:t>
            </a:r>
            <a:r>
              <a:rPr lang="en-US" altLang="en-US" b="1" dirty="0">
                <a:solidFill>
                  <a:srgbClr val="0000FF"/>
                </a:solidFill>
              </a:rPr>
              <a:t>Computer network </a:t>
            </a:r>
            <a:r>
              <a:rPr lang="en-US" altLang="en-US" dirty="0"/>
              <a:t>is an interconnected collection of many autonomous computers able to exchange information.</a:t>
            </a:r>
            <a:br>
              <a:rPr lang="en-US" altLang="en-US" dirty="0"/>
            </a:br>
            <a:endParaRPr lang="en-US" altLang="en-US" dirty="0"/>
          </a:p>
          <a:p>
            <a:pPr algn="just"/>
            <a:r>
              <a:rPr lang="en-US" altLang="en-US" dirty="0"/>
              <a:t>Computer network usually require users to explicitly login onto one machine, explicitly submit jobs remotely, explicitly move files or data around the network.</a:t>
            </a:r>
          </a:p>
          <a:p>
            <a:endParaRPr lang="en-IN" dirty="0"/>
          </a:p>
        </p:txBody>
      </p:sp>
      <p:sp>
        <p:nvSpPr>
          <p:cNvPr id="4" name="Content Placeholder 3">
            <a:extLst>
              <a:ext uri="{FF2B5EF4-FFF2-40B4-BE49-F238E27FC236}">
                <a16:creationId xmlns:a16="http://schemas.microsoft.com/office/drawing/2014/main" id="{D3360034-2BE9-643C-E71F-59C3394EDA5E}"/>
              </a:ext>
            </a:extLst>
          </p:cNvPr>
          <p:cNvSpPr>
            <a:spLocks noGrp="1"/>
          </p:cNvSpPr>
          <p:nvPr>
            <p:ph sz="half" idx="2"/>
          </p:nvPr>
        </p:nvSpPr>
        <p:spPr/>
        <p:txBody>
          <a:bodyPr>
            <a:normAutofit lnSpcReduction="10000"/>
          </a:bodyPr>
          <a:lstStyle/>
          <a:p>
            <a:pPr algn="just"/>
            <a:r>
              <a:rPr lang="en-US" altLang="en-US" b="1" dirty="0">
                <a:solidFill>
                  <a:srgbClr val="0000FF"/>
                </a:solidFill>
              </a:rPr>
              <a:t>Distributed Systems </a:t>
            </a:r>
            <a:r>
              <a:rPr lang="en-US" altLang="en-US" b="1" dirty="0"/>
              <a:t>,</a:t>
            </a:r>
            <a:r>
              <a:rPr lang="en-US" altLang="en-US" b="1" dirty="0">
                <a:solidFill>
                  <a:srgbClr val="0000FF"/>
                </a:solidFill>
              </a:rPr>
              <a:t> </a:t>
            </a:r>
            <a:r>
              <a:rPr lang="en-US" altLang="en-US" dirty="0"/>
              <a:t>The existence of multiple autonomous computers in a computer network is </a:t>
            </a:r>
            <a:r>
              <a:rPr lang="en-US" altLang="en-US" b="1" dirty="0"/>
              <a:t>transparent to the user</a:t>
            </a:r>
            <a:r>
              <a:rPr lang="en-US" altLang="en-US" dirty="0"/>
              <a:t>.</a:t>
            </a:r>
          </a:p>
          <a:p>
            <a:pPr algn="just"/>
            <a:r>
              <a:rPr lang="en-US" altLang="en-US" dirty="0"/>
              <a:t>The OS automatically allocates jobs to processors, moves files between various computers without explicit user intervention.</a:t>
            </a:r>
            <a:endParaRPr lang="en-IN" altLang="en-US" dirty="0"/>
          </a:p>
          <a:p>
            <a:pPr marL="0" indent="0" algn="just">
              <a:buNone/>
            </a:pPr>
            <a:br>
              <a:rPr lang="en-US" altLang="en-US" dirty="0"/>
            </a:br>
            <a:endParaRPr lang="en-IN" dirty="0"/>
          </a:p>
          <a:p>
            <a:endParaRPr lang="en-IN" dirty="0"/>
          </a:p>
        </p:txBody>
      </p:sp>
    </p:spTree>
    <p:extLst>
      <p:ext uri="{BB962C8B-B14F-4D97-AF65-F5344CB8AC3E}">
        <p14:creationId xmlns:p14="http://schemas.microsoft.com/office/powerpoint/2010/main" val="41704451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9B5C2-95EC-A3D2-60CC-FB54B7019E47}"/>
              </a:ext>
            </a:extLst>
          </p:cNvPr>
          <p:cNvSpPr>
            <a:spLocks noGrp="1"/>
          </p:cNvSpPr>
          <p:nvPr>
            <p:ph type="title"/>
          </p:nvPr>
        </p:nvSpPr>
        <p:spPr/>
        <p:txBody>
          <a:bodyPr/>
          <a:lstStyle/>
          <a:p>
            <a:r>
              <a:rPr lang="en-US" dirty="0"/>
              <a:t>Resource Sharing </a:t>
            </a:r>
            <a:endParaRPr lang="en-IN" dirty="0"/>
          </a:p>
        </p:txBody>
      </p:sp>
      <p:sp>
        <p:nvSpPr>
          <p:cNvPr id="3" name="Content Placeholder 2">
            <a:extLst>
              <a:ext uri="{FF2B5EF4-FFF2-40B4-BE49-F238E27FC236}">
                <a16:creationId xmlns:a16="http://schemas.microsoft.com/office/drawing/2014/main" id="{0856CB86-F114-D688-8B72-3D95C44EB442}"/>
              </a:ext>
            </a:extLst>
          </p:cNvPr>
          <p:cNvSpPr>
            <a:spLocks noGrp="1"/>
          </p:cNvSpPr>
          <p:nvPr>
            <p:ph idx="1"/>
          </p:nvPr>
        </p:nvSpPr>
        <p:spPr/>
        <p:txBody>
          <a:bodyPr>
            <a:normAutofit fontScale="92500" lnSpcReduction="10000"/>
          </a:bodyPr>
          <a:lstStyle/>
          <a:p>
            <a:r>
              <a:rPr lang="en-US" dirty="0"/>
              <a:t>For example, users are concerned with sharing data in the form of a shared database or a set of web pages – not the disks and processors on which they are implemented. </a:t>
            </a:r>
          </a:p>
          <a:p>
            <a:r>
              <a:rPr lang="en-US" dirty="0"/>
              <a:t>In term service for a distinct part of a computer system that manages a collection of related resources and presents their functionality to users and applications.</a:t>
            </a:r>
          </a:p>
          <a:p>
            <a:r>
              <a:rPr lang="en-US" dirty="0"/>
              <a:t>File services</a:t>
            </a:r>
          </a:p>
          <a:p>
            <a:r>
              <a:rPr lang="en-US" dirty="0"/>
              <a:t>Client processes</a:t>
            </a:r>
          </a:p>
          <a:p>
            <a:r>
              <a:rPr lang="en-US" dirty="0"/>
              <a:t>Server processes</a:t>
            </a:r>
          </a:p>
          <a:p>
            <a:r>
              <a:rPr lang="en-US" dirty="0"/>
              <a:t>Web Browser ex: client</a:t>
            </a:r>
          </a:p>
          <a:p>
            <a:r>
              <a:rPr lang="en-US" dirty="0"/>
              <a:t>Search Engine ex: Client /Server</a:t>
            </a:r>
            <a:endParaRPr lang="en-IN" dirty="0"/>
          </a:p>
          <a:p>
            <a:pPr marL="0" indent="0">
              <a:buNone/>
            </a:pPr>
            <a:endParaRPr lang="en-IN" dirty="0"/>
          </a:p>
        </p:txBody>
      </p:sp>
    </p:spTree>
    <p:extLst>
      <p:ext uri="{BB962C8B-B14F-4D97-AF65-F5344CB8AC3E}">
        <p14:creationId xmlns:p14="http://schemas.microsoft.com/office/powerpoint/2010/main" val="14526614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BCCCE-AD43-50E4-C0BA-282CD64E00AB}"/>
              </a:ext>
            </a:extLst>
          </p:cNvPr>
          <p:cNvSpPr>
            <a:spLocks noGrp="1"/>
          </p:cNvSpPr>
          <p:nvPr>
            <p:ph type="title"/>
          </p:nvPr>
        </p:nvSpPr>
        <p:spPr/>
        <p:txBody>
          <a:bodyPr/>
          <a:lstStyle/>
          <a:p>
            <a:r>
              <a:rPr lang="en-US" b="1" dirty="0">
                <a:solidFill>
                  <a:srgbClr val="333333"/>
                </a:solidFill>
                <a:latin typeface="Times New Roman" panose="02020603050405020304" pitchFamily="18" charset="0"/>
                <a:cs typeface="Times New Roman" panose="02020603050405020304" pitchFamily="18" charset="0"/>
              </a:rPr>
              <a:t>Challenges in Distributed Computing</a:t>
            </a:r>
            <a:endParaRPr lang="en-IN" dirty="0"/>
          </a:p>
        </p:txBody>
      </p:sp>
      <p:sp>
        <p:nvSpPr>
          <p:cNvPr id="3" name="Content Placeholder 2">
            <a:extLst>
              <a:ext uri="{FF2B5EF4-FFF2-40B4-BE49-F238E27FC236}">
                <a16:creationId xmlns:a16="http://schemas.microsoft.com/office/drawing/2014/main" id="{29E98E5A-03ED-EFAB-07CE-EB5E068FF082}"/>
              </a:ext>
            </a:extLst>
          </p:cNvPr>
          <p:cNvSpPr>
            <a:spLocks noGrp="1"/>
          </p:cNvSpPr>
          <p:nvPr>
            <p:ph idx="1"/>
          </p:nvPr>
        </p:nvSpPr>
        <p:spPr>
          <a:xfrm>
            <a:off x="1012370" y="1825625"/>
            <a:ext cx="10341429" cy="5163004"/>
          </a:xfrm>
        </p:spPr>
        <p:txBody>
          <a:bodyPr/>
          <a:lstStyle/>
          <a:p>
            <a:pPr marL="514350" lvl="0" indent="-514350" algn="just" eaLnBrk="0" fontAlgn="base" hangingPunct="0">
              <a:lnSpc>
                <a:spcPct val="100000"/>
              </a:lnSpc>
              <a:spcBef>
                <a:spcPct val="0"/>
              </a:spcBef>
              <a:spcAft>
                <a:spcPct val="0"/>
              </a:spcAft>
              <a:buFont typeface="+mj-lt"/>
              <a:buAutoNum type="arabicPeriod"/>
            </a:pPr>
            <a:r>
              <a:rPr lang="en-US" dirty="0">
                <a:solidFill>
                  <a:srgbClr val="333333"/>
                </a:solidFill>
                <a:cs typeface="Segoe UI" panose="020B0502040204020203" pitchFamily="34" charset="0"/>
              </a:rPr>
              <a:t>Heterogeneity</a:t>
            </a:r>
            <a:endParaRPr lang="en-US" dirty="0">
              <a:cs typeface="Segoe UI" panose="020B0502040204020203" pitchFamily="34" charset="0"/>
            </a:endParaRPr>
          </a:p>
          <a:p>
            <a:pPr marL="514350" lvl="0" indent="-514350" algn="just" eaLnBrk="0" fontAlgn="base" hangingPunct="0">
              <a:lnSpc>
                <a:spcPct val="100000"/>
              </a:lnSpc>
              <a:spcBef>
                <a:spcPct val="0"/>
              </a:spcBef>
              <a:spcAft>
                <a:spcPct val="0"/>
              </a:spcAft>
              <a:buFont typeface="+mj-lt"/>
              <a:buAutoNum type="arabicPeriod"/>
            </a:pPr>
            <a:r>
              <a:rPr lang="en-US" dirty="0">
                <a:solidFill>
                  <a:srgbClr val="333333"/>
                </a:solidFill>
                <a:cs typeface="Segoe UI" panose="020B0502040204020203" pitchFamily="34" charset="0"/>
              </a:rPr>
              <a:t>Scalability</a:t>
            </a:r>
          </a:p>
          <a:p>
            <a:pPr marL="514350" lvl="0" indent="-514350" algn="just" eaLnBrk="0" fontAlgn="base" hangingPunct="0">
              <a:lnSpc>
                <a:spcPct val="100000"/>
              </a:lnSpc>
              <a:spcBef>
                <a:spcPct val="0"/>
              </a:spcBef>
              <a:spcAft>
                <a:spcPct val="0"/>
              </a:spcAft>
              <a:buFont typeface="+mj-lt"/>
              <a:buAutoNum type="arabicPeriod"/>
            </a:pPr>
            <a:r>
              <a:rPr lang="en-US" dirty="0">
                <a:solidFill>
                  <a:srgbClr val="333333"/>
                </a:solidFill>
                <a:cs typeface="Segoe UI" panose="020B0502040204020203" pitchFamily="34" charset="0"/>
              </a:rPr>
              <a:t>Openness</a:t>
            </a:r>
            <a:endParaRPr lang="en-US" dirty="0">
              <a:cs typeface="Segoe UI" panose="020B0502040204020203" pitchFamily="34" charset="0"/>
            </a:endParaRPr>
          </a:p>
          <a:p>
            <a:pPr marL="514350" lvl="0" indent="-514350" algn="just" eaLnBrk="0" fontAlgn="base" hangingPunct="0">
              <a:lnSpc>
                <a:spcPct val="100000"/>
              </a:lnSpc>
              <a:spcBef>
                <a:spcPct val="0"/>
              </a:spcBef>
              <a:spcAft>
                <a:spcPct val="0"/>
              </a:spcAft>
              <a:buFont typeface="+mj-lt"/>
              <a:buAutoNum type="arabicPeriod"/>
            </a:pPr>
            <a:r>
              <a:rPr lang="en-US" dirty="0">
                <a:solidFill>
                  <a:srgbClr val="333333"/>
                </a:solidFill>
                <a:cs typeface="Segoe UI" panose="020B0502040204020203" pitchFamily="34" charset="0"/>
              </a:rPr>
              <a:t>Security</a:t>
            </a:r>
          </a:p>
          <a:p>
            <a:pPr marL="514350" lvl="0" indent="-514350" algn="just" eaLnBrk="0" fontAlgn="base" hangingPunct="0">
              <a:lnSpc>
                <a:spcPct val="100000"/>
              </a:lnSpc>
              <a:spcBef>
                <a:spcPct val="0"/>
              </a:spcBef>
              <a:spcAft>
                <a:spcPct val="0"/>
              </a:spcAft>
              <a:buFont typeface="+mj-lt"/>
              <a:buAutoNum type="arabicPeriod"/>
            </a:pPr>
            <a:r>
              <a:rPr lang="en-US" dirty="0">
                <a:solidFill>
                  <a:srgbClr val="333333"/>
                </a:solidFill>
                <a:cs typeface="Segoe UI" panose="020B0502040204020203" pitchFamily="34" charset="0"/>
              </a:rPr>
              <a:t>Failure Handling</a:t>
            </a:r>
          </a:p>
          <a:p>
            <a:pPr marL="514350" lvl="0" indent="-514350" algn="just" eaLnBrk="0" fontAlgn="base" hangingPunct="0">
              <a:lnSpc>
                <a:spcPct val="100000"/>
              </a:lnSpc>
              <a:spcBef>
                <a:spcPct val="0"/>
              </a:spcBef>
              <a:spcAft>
                <a:spcPct val="0"/>
              </a:spcAft>
              <a:buFont typeface="+mj-lt"/>
              <a:buAutoNum type="arabicPeriod"/>
            </a:pPr>
            <a:r>
              <a:rPr lang="en-US" dirty="0">
                <a:solidFill>
                  <a:srgbClr val="333333"/>
                </a:solidFill>
                <a:cs typeface="Segoe UI" panose="020B0502040204020203" pitchFamily="34" charset="0"/>
              </a:rPr>
              <a:t>Concurrency</a:t>
            </a:r>
            <a:endParaRPr lang="en-US" dirty="0">
              <a:cs typeface="Segoe UI" panose="020B0502040204020203" pitchFamily="34" charset="0"/>
            </a:endParaRPr>
          </a:p>
          <a:p>
            <a:pPr marL="514350" lvl="0" indent="-514350" algn="just" eaLnBrk="0" fontAlgn="base" hangingPunct="0">
              <a:lnSpc>
                <a:spcPct val="100000"/>
              </a:lnSpc>
              <a:spcBef>
                <a:spcPct val="0"/>
              </a:spcBef>
              <a:spcAft>
                <a:spcPct val="0"/>
              </a:spcAft>
              <a:buFont typeface="+mj-lt"/>
              <a:buAutoNum type="arabicPeriod"/>
            </a:pPr>
            <a:r>
              <a:rPr lang="en-US" dirty="0">
                <a:solidFill>
                  <a:srgbClr val="333333"/>
                </a:solidFill>
                <a:cs typeface="Segoe UI" panose="020B0502040204020203" pitchFamily="34" charset="0"/>
              </a:rPr>
              <a:t>Transparency</a:t>
            </a:r>
            <a:endParaRPr kumimoji="0" lang="en-US" b="0" i="0" u="none" strike="noStrike" cap="none" normalizeH="0" baseline="0" dirty="0">
              <a:ln>
                <a:noFill/>
              </a:ln>
              <a:solidFill>
                <a:schemeClr val="tx1"/>
              </a:solidFill>
              <a:effectLst/>
              <a:latin typeface="+mn-lt"/>
              <a:cs typeface="Segoe UI" panose="020B0502040204020203" pitchFamily="34" charset="0"/>
            </a:endParaRPr>
          </a:p>
          <a:p>
            <a:pPr marL="0" indent="0">
              <a:buNone/>
            </a:pPr>
            <a:endParaRPr lang="en-IN" dirty="0"/>
          </a:p>
        </p:txBody>
      </p:sp>
    </p:spTree>
    <p:extLst>
      <p:ext uri="{BB962C8B-B14F-4D97-AF65-F5344CB8AC3E}">
        <p14:creationId xmlns:p14="http://schemas.microsoft.com/office/powerpoint/2010/main" val="15921775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EFD42-9E14-11EA-124C-695639FFB96E}"/>
              </a:ext>
            </a:extLst>
          </p:cNvPr>
          <p:cNvSpPr>
            <a:spLocks noGrp="1"/>
          </p:cNvSpPr>
          <p:nvPr>
            <p:ph type="title"/>
          </p:nvPr>
        </p:nvSpPr>
        <p:spPr/>
        <p:txBody>
          <a:bodyPr/>
          <a:lstStyle/>
          <a:p>
            <a:r>
              <a:rPr lang="en-US" b="1" dirty="0"/>
              <a:t>Heterogeneity</a:t>
            </a:r>
            <a:endParaRPr lang="en-IN" dirty="0"/>
          </a:p>
        </p:txBody>
      </p:sp>
      <p:sp>
        <p:nvSpPr>
          <p:cNvPr id="3" name="Content Placeholder 2">
            <a:extLst>
              <a:ext uri="{FF2B5EF4-FFF2-40B4-BE49-F238E27FC236}">
                <a16:creationId xmlns:a16="http://schemas.microsoft.com/office/drawing/2014/main" id="{3D753A6D-F2E9-2220-3E2A-A9552D7F6FBB}"/>
              </a:ext>
            </a:extLst>
          </p:cNvPr>
          <p:cNvSpPr>
            <a:spLocks noGrp="1"/>
          </p:cNvSpPr>
          <p:nvPr>
            <p:ph idx="1"/>
          </p:nvPr>
        </p:nvSpPr>
        <p:spPr/>
        <p:txBody>
          <a:bodyPr>
            <a:normAutofit fontScale="92500" lnSpcReduction="10000"/>
          </a:bodyPr>
          <a:lstStyle/>
          <a:p>
            <a:pPr marL="514350" indent="-514350" algn="just">
              <a:lnSpc>
                <a:spcPct val="110000"/>
              </a:lnSpc>
              <a:spcBef>
                <a:spcPts val="600"/>
              </a:spcBef>
              <a:buFont typeface="+mj-lt"/>
              <a:buAutoNum type="arabicPeriod"/>
            </a:pPr>
            <a:r>
              <a:rPr lang="en-US" dirty="0"/>
              <a:t>Heterogeneous applies to the architectures, models, systems, and applications that comprise substantively different components, as well as to techniques and methodologies </a:t>
            </a:r>
          </a:p>
          <a:p>
            <a:pPr marL="514350" indent="-514350" algn="just">
              <a:lnSpc>
                <a:spcPct val="110000"/>
              </a:lnSpc>
              <a:spcBef>
                <a:spcPts val="600"/>
              </a:spcBef>
              <a:buFont typeface="+mj-lt"/>
              <a:buAutoNum type="arabicPeriod"/>
            </a:pPr>
            <a:r>
              <a:rPr lang="en-US" dirty="0"/>
              <a:t>That is, variety and difference applies to all of the following </a:t>
            </a:r>
            <a:r>
              <a:rPr lang="en-IN" dirty="0"/>
              <a:t>networks; computer hardware; </a:t>
            </a:r>
            <a:r>
              <a:rPr lang="en-IN" b="1" dirty="0"/>
              <a:t> </a:t>
            </a:r>
            <a:r>
              <a:rPr lang="en-IN" dirty="0"/>
              <a:t>operating systems; </a:t>
            </a:r>
            <a:r>
              <a:rPr lang="en-IN" b="1" dirty="0"/>
              <a:t> </a:t>
            </a:r>
            <a:r>
              <a:rPr lang="en-IN" dirty="0"/>
              <a:t>programming languages; </a:t>
            </a:r>
            <a:r>
              <a:rPr lang="en-IN" b="1" dirty="0"/>
              <a:t> </a:t>
            </a:r>
            <a:r>
              <a:rPr lang="en-IN" dirty="0"/>
              <a:t>implementations by different developers.</a:t>
            </a:r>
          </a:p>
          <a:p>
            <a:pPr marL="0" indent="0" algn="just">
              <a:lnSpc>
                <a:spcPct val="110000"/>
              </a:lnSpc>
              <a:spcBef>
                <a:spcPts val="600"/>
              </a:spcBef>
              <a:buNone/>
            </a:pPr>
            <a:r>
              <a:rPr lang="en-US" dirty="0"/>
              <a:t>Ex: the calls for exchanging messages in UNIX are different from the calls in Windows. </a:t>
            </a:r>
          </a:p>
          <a:p>
            <a:pPr marL="0" indent="0" algn="just">
              <a:lnSpc>
                <a:spcPct val="110000"/>
              </a:lnSpc>
              <a:spcBef>
                <a:spcPts val="600"/>
              </a:spcBef>
              <a:buNone/>
            </a:pPr>
            <a:r>
              <a:rPr lang="en-US" dirty="0"/>
              <a:t>The M</a:t>
            </a:r>
            <a:r>
              <a:rPr lang="en-US" i="1" dirty="0"/>
              <a:t>iddleware </a:t>
            </a:r>
            <a:r>
              <a:rPr lang="en-US" dirty="0"/>
              <a:t>layer provides a programming abstraction as well as masking the heterogeneity. RMI, CORBA etc.</a:t>
            </a:r>
          </a:p>
          <a:p>
            <a:pPr marL="0" indent="0">
              <a:buNone/>
            </a:pPr>
            <a:endParaRPr lang="en-IN" dirty="0"/>
          </a:p>
        </p:txBody>
      </p:sp>
    </p:spTree>
    <p:extLst>
      <p:ext uri="{BB962C8B-B14F-4D97-AF65-F5344CB8AC3E}">
        <p14:creationId xmlns:p14="http://schemas.microsoft.com/office/powerpoint/2010/main" val="7357871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806E7-786D-2124-040D-63D0C92E659C}"/>
              </a:ext>
            </a:extLst>
          </p:cNvPr>
          <p:cNvSpPr>
            <a:spLocks noGrp="1"/>
          </p:cNvSpPr>
          <p:nvPr>
            <p:ph type="title"/>
          </p:nvPr>
        </p:nvSpPr>
        <p:spPr/>
        <p:txBody>
          <a:bodyPr/>
          <a:lstStyle/>
          <a:p>
            <a:r>
              <a:rPr lang="en-US" b="1" dirty="0">
                <a:solidFill>
                  <a:srgbClr val="333333"/>
                </a:solidFill>
                <a:latin typeface="Times New Roman" panose="02020603050405020304" pitchFamily="18" charset="0"/>
                <a:cs typeface="Times New Roman" panose="02020603050405020304" pitchFamily="18" charset="0"/>
              </a:rPr>
              <a:t>Openness</a:t>
            </a:r>
            <a:endParaRPr lang="en-IN" dirty="0"/>
          </a:p>
        </p:txBody>
      </p:sp>
      <p:sp>
        <p:nvSpPr>
          <p:cNvPr id="3" name="Content Placeholder 2">
            <a:extLst>
              <a:ext uri="{FF2B5EF4-FFF2-40B4-BE49-F238E27FC236}">
                <a16:creationId xmlns:a16="http://schemas.microsoft.com/office/drawing/2014/main" id="{09BB56F2-0B57-DBBA-A5DA-11222688108E}"/>
              </a:ext>
            </a:extLst>
          </p:cNvPr>
          <p:cNvSpPr>
            <a:spLocks noGrp="1"/>
          </p:cNvSpPr>
          <p:nvPr>
            <p:ph idx="1"/>
          </p:nvPr>
        </p:nvSpPr>
        <p:spPr/>
        <p:txBody>
          <a:bodyPr>
            <a:normAutofit fontScale="92500" lnSpcReduction="10000"/>
          </a:bodyPr>
          <a:lstStyle/>
          <a:p>
            <a:pPr marL="514350" indent="-514350" algn="just">
              <a:lnSpc>
                <a:spcPct val="100000"/>
              </a:lnSpc>
              <a:buFont typeface="+mj-lt"/>
              <a:buAutoNum type="arabicPeriod"/>
            </a:pPr>
            <a:r>
              <a:rPr kumimoji="0" lang="en-US" b="0" i="0" u="none" strike="noStrike" cap="none" normalizeH="0" baseline="0" dirty="0">
                <a:ln>
                  <a:noFill/>
                </a:ln>
                <a:solidFill>
                  <a:srgbClr val="333333"/>
                </a:solidFill>
                <a:effectLst/>
                <a:latin typeface="+mn-lt"/>
                <a:cs typeface="Times New Roman" panose="02020603050405020304" pitchFamily="18" charset="0"/>
              </a:rPr>
              <a:t>Openness is concerned with extensions and improvements of distributed systems. </a:t>
            </a:r>
          </a:p>
          <a:p>
            <a:pPr marL="514350" indent="-514350" algn="just">
              <a:lnSpc>
                <a:spcPct val="100000"/>
              </a:lnSpc>
              <a:buFont typeface="+mj-lt"/>
              <a:buAutoNum type="arabicPeriod"/>
            </a:pPr>
            <a:r>
              <a:rPr lang="en-US" dirty="0">
                <a:solidFill>
                  <a:srgbClr val="333333"/>
                </a:solidFill>
                <a:latin typeface="+mn-lt"/>
                <a:cs typeface="Times New Roman" panose="02020603050405020304" pitchFamily="18" charset="0"/>
              </a:rPr>
              <a:t>It </a:t>
            </a:r>
            <a:r>
              <a:rPr lang="en-US" dirty="0"/>
              <a:t>determines whether the system can be extended and reimplemented in various ways. </a:t>
            </a:r>
          </a:p>
          <a:p>
            <a:pPr marL="514350" indent="-514350" algn="just">
              <a:lnSpc>
                <a:spcPct val="100000"/>
              </a:lnSpc>
              <a:buFont typeface="+mj-lt"/>
              <a:buAutoNum type="arabicPeriod"/>
            </a:pPr>
            <a:r>
              <a:rPr lang="en-US" dirty="0"/>
              <a:t>The openness of distributed systems is determined primarily by the degree to which new resource-sharing services can be added and be made available for use by a variety of client programs</a:t>
            </a:r>
            <a:endParaRPr kumimoji="0" lang="en-US" b="0" i="0" u="none" strike="noStrike" cap="none" normalizeH="0" baseline="0" dirty="0">
              <a:ln>
                <a:noFill/>
              </a:ln>
              <a:solidFill>
                <a:schemeClr val="tx1"/>
              </a:solidFill>
              <a:effectLst/>
              <a:latin typeface="+mn-lt"/>
            </a:endParaRPr>
          </a:p>
          <a:p>
            <a:pPr marL="514350" indent="-514350" algn="just">
              <a:lnSpc>
                <a:spcPct val="100000"/>
              </a:lnSpc>
              <a:buFont typeface="+mj-lt"/>
              <a:buAutoNum type="arabicPeriod"/>
            </a:pPr>
            <a:r>
              <a:rPr kumimoji="0" lang="en-US" b="0" i="0" u="none" strike="noStrike" cap="none" normalizeH="0" baseline="0" dirty="0">
                <a:ln>
                  <a:noFill/>
                </a:ln>
                <a:solidFill>
                  <a:srgbClr val="333333"/>
                </a:solidFill>
                <a:effectLst/>
                <a:latin typeface="+mn-lt"/>
              </a:rPr>
              <a:t> </a:t>
            </a:r>
            <a:r>
              <a:rPr kumimoji="0" lang="en-US" b="0" i="0" u="none" strike="noStrike" cap="none" normalizeH="0" baseline="0" dirty="0">
                <a:ln>
                  <a:noFill/>
                </a:ln>
                <a:solidFill>
                  <a:srgbClr val="333333"/>
                </a:solidFill>
                <a:effectLst/>
                <a:latin typeface="+mn-lt"/>
                <a:cs typeface="Times New Roman" panose="02020603050405020304" pitchFamily="18" charset="0"/>
              </a:rPr>
              <a:t>New components have to be integrated with existing components.</a:t>
            </a:r>
            <a:endParaRPr kumimoji="0" lang="en-US" b="0" i="0" u="none" strike="noStrike" cap="none" normalizeH="0" baseline="0" dirty="0">
              <a:ln>
                <a:noFill/>
              </a:ln>
              <a:solidFill>
                <a:schemeClr val="tx1"/>
              </a:solidFill>
              <a:effectLst/>
              <a:latin typeface="+mn-lt"/>
            </a:endParaRPr>
          </a:p>
          <a:p>
            <a:pPr marL="514350" indent="-514350" algn="just">
              <a:lnSpc>
                <a:spcPct val="100000"/>
              </a:lnSpc>
              <a:buFont typeface="+mj-lt"/>
              <a:buAutoNum type="arabicPeriod"/>
            </a:pPr>
            <a:r>
              <a:rPr kumimoji="0" lang="en-US" b="0" i="0" u="none" strike="noStrike" cap="none" normalizeH="0" baseline="0" dirty="0">
                <a:ln>
                  <a:noFill/>
                </a:ln>
                <a:solidFill>
                  <a:srgbClr val="333333"/>
                </a:solidFill>
                <a:effectLst/>
                <a:latin typeface="+mn-lt"/>
                <a:cs typeface="Times New Roman" panose="02020603050405020304" pitchFamily="18" charset="0"/>
              </a:rPr>
              <a:t>Differences in data representation of interface types on different processors (of different vendors) have to be resolved.</a:t>
            </a:r>
            <a:endParaRPr kumimoji="0" lang="en-US" b="0" i="0" u="none" strike="noStrike" cap="none" normalizeH="0" baseline="0" dirty="0">
              <a:ln>
                <a:noFill/>
              </a:ln>
              <a:solidFill>
                <a:schemeClr val="tx1"/>
              </a:solidFill>
              <a:effectLst/>
              <a:latin typeface="+mn-lt"/>
            </a:endParaRPr>
          </a:p>
          <a:p>
            <a:pPr marL="0" indent="0">
              <a:buNone/>
            </a:pPr>
            <a:endParaRPr lang="en-IN" dirty="0"/>
          </a:p>
        </p:txBody>
      </p:sp>
    </p:spTree>
    <p:extLst>
      <p:ext uri="{BB962C8B-B14F-4D97-AF65-F5344CB8AC3E}">
        <p14:creationId xmlns:p14="http://schemas.microsoft.com/office/powerpoint/2010/main" val="9601216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A5E0E-5628-5A05-B999-73E3CDF4E072}"/>
              </a:ext>
            </a:extLst>
          </p:cNvPr>
          <p:cNvSpPr>
            <a:spLocks noGrp="1"/>
          </p:cNvSpPr>
          <p:nvPr>
            <p:ph type="title"/>
          </p:nvPr>
        </p:nvSpPr>
        <p:spPr/>
        <p:txBody>
          <a:bodyPr/>
          <a:lstStyle/>
          <a:p>
            <a:r>
              <a:rPr lang="en-US" b="1" dirty="0">
                <a:solidFill>
                  <a:srgbClr val="333333"/>
                </a:solidFill>
                <a:latin typeface="Times New Roman" panose="02020603050405020304" pitchFamily="18" charset="0"/>
                <a:cs typeface="Times New Roman" panose="02020603050405020304" pitchFamily="18" charset="0"/>
              </a:rPr>
              <a:t>Concurrency</a:t>
            </a:r>
            <a:endParaRPr lang="en-IN" dirty="0"/>
          </a:p>
        </p:txBody>
      </p:sp>
      <p:sp>
        <p:nvSpPr>
          <p:cNvPr id="3" name="Content Placeholder 2">
            <a:extLst>
              <a:ext uri="{FF2B5EF4-FFF2-40B4-BE49-F238E27FC236}">
                <a16:creationId xmlns:a16="http://schemas.microsoft.com/office/drawing/2014/main" id="{9FF51BC5-4FD0-E347-15F7-FD34B58E0FD9}"/>
              </a:ext>
            </a:extLst>
          </p:cNvPr>
          <p:cNvSpPr>
            <a:spLocks noGrp="1"/>
          </p:cNvSpPr>
          <p:nvPr>
            <p:ph idx="1"/>
          </p:nvPr>
        </p:nvSpPr>
        <p:spPr/>
        <p:txBody>
          <a:bodyPr/>
          <a:lstStyle/>
          <a:p>
            <a:pPr marL="514350" indent="-514350" algn="just">
              <a:buFont typeface="+mj-lt"/>
              <a:buAutoNum type="arabicPeriod"/>
            </a:pPr>
            <a:r>
              <a:rPr lang="en-US" dirty="0">
                <a:solidFill>
                  <a:srgbClr val="333333"/>
                </a:solidFill>
                <a:cs typeface="Times New Roman" panose="02020603050405020304" pitchFamily="18" charset="0"/>
              </a:rPr>
              <a:t>Components in distributed systems are executed in concurrent processes.</a:t>
            </a:r>
            <a:endParaRPr lang="en-US" dirty="0"/>
          </a:p>
          <a:p>
            <a:pPr marL="514350" lvl="0" indent="-514350" algn="just" eaLnBrk="0" fontAlgn="base" hangingPunct="0">
              <a:lnSpc>
                <a:spcPct val="100000"/>
              </a:lnSpc>
              <a:spcBef>
                <a:spcPct val="0"/>
              </a:spcBef>
              <a:spcAft>
                <a:spcPct val="0"/>
              </a:spcAft>
              <a:buFont typeface="+mj-lt"/>
              <a:buAutoNum type="arabicPeriod"/>
            </a:pPr>
            <a:r>
              <a:rPr lang="en-US" dirty="0">
                <a:solidFill>
                  <a:srgbClr val="333333"/>
                </a:solidFill>
                <a:cs typeface="Times New Roman" panose="02020603050405020304" pitchFamily="18" charset="0"/>
              </a:rPr>
              <a:t>Components access and update shared resources (e.g. variables, databases, device drivers).</a:t>
            </a:r>
            <a:endParaRPr lang="en-US" dirty="0"/>
          </a:p>
          <a:p>
            <a:pPr marL="514350" lvl="0" indent="-514350" algn="just" eaLnBrk="0" fontAlgn="base" hangingPunct="0">
              <a:lnSpc>
                <a:spcPct val="100000"/>
              </a:lnSpc>
              <a:spcBef>
                <a:spcPct val="0"/>
              </a:spcBef>
              <a:spcAft>
                <a:spcPct val="0"/>
              </a:spcAft>
              <a:buFont typeface="+mj-lt"/>
              <a:buAutoNum type="arabicPeriod"/>
            </a:pPr>
            <a:r>
              <a:rPr lang="en-US" dirty="0">
                <a:solidFill>
                  <a:srgbClr val="333333"/>
                </a:solidFill>
                <a:cs typeface="Times New Roman" panose="02020603050405020304" pitchFamily="18" charset="0"/>
              </a:rPr>
              <a:t>Integrity of the system may be violated if concurrent updates are not coordinated. </a:t>
            </a:r>
          </a:p>
          <a:p>
            <a:pPr marL="514350" lvl="0" indent="-514350" algn="just" eaLnBrk="0" fontAlgn="base" hangingPunct="0">
              <a:lnSpc>
                <a:spcPct val="100000"/>
              </a:lnSpc>
              <a:spcBef>
                <a:spcPct val="0"/>
              </a:spcBef>
              <a:spcAft>
                <a:spcPct val="0"/>
              </a:spcAft>
              <a:buFont typeface="+mj-lt"/>
              <a:buAutoNum type="arabicPeriod"/>
            </a:pPr>
            <a:r>
              <a:rPr lang="en-US" dirty="0">
                <a:solidFill>
                  <a:srgbClr val="333333"/>
                </a:solidFill>
                <a:cs typeface="Times New Roman" panose="02020603050405020304" pitchFamily="18" charset="0"/>
              </a:rPr>
              <a:t>Lost updates</a:t>
            </a:r>
            <a:endParaRPr lang="en-IN" dirty="0"/>
          </a:p>
        </p:txBody>
      </p:sp>
    </p:spTree>
    <p:extLst>
      <p:ext uri="{BB962C8B-B14F-4D97-AF65-F5344CB8AC3E}">
        <p14:creationId xmlns:p14="http://schemas.microsoft.com/office/powerpoint/2010/main" val="7248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397DA-36C9-2648-DC8E-474A8F6900BD}"/>
              </a:ext>
            </a:extLst>
          </p:cNvPr>
          <p:cNvSpPr>
            <a:spLocks noGrp="1"/>
          </p:cNvSpPr>
          <p:nvPr>
            <p:ph type="title"/>
          </p:nvPr>
        </p:nvSpPr>
        <p:spPr/>
        <p:txBody>
          <a:bodyPr/>
          <a:lstStyle/>
          <a:p>
            <a:r>
              <a:rPr lang="en-US" b="1" dirty="0">
                <a:solidFill>
                  <a:srgbClr val="333333"/>
                </a:solidFill>
                <a:latin typeface="Times New Roman" panose="02020603050405020304" pitchFamily="18" charset="0"/>
                <a:cs typeface="Times New Roman" panose="02020603050405020304" pitchFamily="18" charset="0"/>
              </a:rPr>
              <a:t>Scalability</a:t>
            </a:r>
            <a:endParaRPr lang="en-IN" dirty="0"/>
          </a:p>
        </p:txBody>
      </p:sp>
      <p:sp>
        <p:nvSpPr>
          <p:cNvPr id="3" name="Content Placeholder 2">
            <a:extLst>
              <a:ext uri="{FF2B5EF4-FFF2-40B4-BE49-F238E27FC236}">
                <a16:creationId xmlns:a16="http://schemas.microsoft.com/office/drawing/2014/main" id="{E964EFA7-C3AA-D53F-2141-531B799BA7AA}"/>
              </a:ext>
            </a:extLst>
          </p:cNvPr>
          <p:cNvSpPr>
            <a:spLocks noGrp="1"/>
          </p:cNvSpPr>
          <p:nvPr>
            <p:ph idx="1"/>
          </p:nvPr>
        </p:nvSpPr>
        <p:spPr/>
        <p:txBody>
          <a:bodyPr/>
          <a:lstStyle/>
          <a:p>
            <a:pPr marL="514350" lvl="0" indent="-514350" algn="just" eaLnBrk="0" fontAlgn="base" hangingPunct="0">
              <a:spcBef>
                <a:spcPct val="0"/>
              </a:spcBef>
              <a:spcAft>
                <a:spcPct val="0"/>
              </a:spcAft>
              <a:buFont typeface="+mj-lt"/>
              <a:buAutoNum type="arabicPeriod"/>
            </a:pPr>
            <a:r>
              <a:rPr lang="en-US" dirty="0">
                <a:solidFill>
                  <a:srgbClr val="333333"/>
                </a:solidFill>
                <a:cs typeface="Times New Roman" panose="02020603050405020304" pitchFamily="18" charset="0"/>
              </a:rPr>
              <a:t>Adaption of distributed systems to accommodate more users</a:t>
            </a:r>
            <a:endParaRPr lang="en-US" dirty="0"/>
          </a:p>
          <a:p>
            <a:pPr marL="514350" lvl="0" indent="-514350" algn="just" eaLnBrk="0" fontAlgn="base" hangingPunct="0">
              <a:spcBef>
                <a:spcPct val="0"/>
              </a:spcBef>
              <a:spcAft>
                <a:spcPct val="0"/>
              </a:spcAft>
              <a:buFont typeface="+mj-lt"/>
              <a:buAutoNum type="arabicPeriod"/>
            </a:pPr>
            <a:r>
              <a:rPr lang="en-US" dirty="0">
                <a:solidFill>
                  <a:srgbClr val="333333"/>
                </a:solidFill>
                <a:cs typeface="Times New Roman" panose="02020603050405020304" pitchFamily="18" charset="0"/>
              </a:rPr>
              <a:t>Respond faster (this is the hard one)</a:t>
            </a:r>
            <a:endParaRPr lang="en-US" dirty="0"/>
          </a:p>
          <a:p>
            <a:pPr marL="514350" lvl="0" indent="-514350" algn="just" eaLnBrk="0" fontAlgn="base" hangingPunct="0">
              <a:spcBef>
                <a:spcPct val="0"/>
              </a:spcBef>
              <a:spcAft>
                <a:spcPct val="0"/>
              </a:spcAft>
              <a:buFont typeface="+mj-lt"/>
              <a:buAutoNum type="arabicPeriod"/>
            </a:pPr>
            <a:r>
              <a:rPr lang="en-US" dirty="0">
                <a:solidFill>
                  <a:srgbClr val="333333"/>
                </a:solidFill>
                <a:cs typeface="Times New Roman" panose="02020603050405020304" pitchFamily="18" charset="0"/>
              </a:rPr>
              <a:t>Usually done by adding more and/or faster processors.</a:t>
            </a:r>
            <a:endParaRPr lang="en-US" dirty="0"/>
          </a:p>
          <a:p>
            <a:pPr marL="514350" lvl="0" indent="-514350" algn="just" eaLnBrk="0" fontAlgn="base" hangingPunct="0">
              <a:spcBef>
                <a:spcPct val="0"/>
              </a:spcBef>
              <a:spcAft>
                <a:spcPct val="0"/>
              </a:spcAft>
              <a:buFont typeface="+mj-lt"/>
              <a:buAutoNum type="arabicPeriod"/>
            </a:pPr>
            <a:r>
              <a:rPr lang="en-US" dirty="0">
                <a:solidFill>
                  <a:srgbClr val="333333"/>
                </a:solidFill>
                <a:cs typeface="Times New Roman" panose="02020603050405020304" pitchFamily="18" charset="0"/>
              </a:rPr>
              <a:t>Components should not need to be changed when scale of a system increases.</a:t>
            </a:r>
            <a:endParaRPr lang="en-US" dirty="0"/>
          </a:p>
          <a:p>
            <a:pPr marL="514350" lvl="0" indent="-514350" algn="just" eaLnBrk="0" fontAlgn="base" hangingPunct="0">
              <a:spcBef>
                <a:spcPct val="0"/>
              </a:spcBef>
              <a:spcAft>
                <a:spcPct val="0"/>
              </a:spcAft>
              <a:buFont typeface="+mj-lt"/>
              <a:buAutoNum type="arabicPeriod"/>
            </a:pPr>
            <a:r>
              <a:rPr lang="en-US" dirty="0">
                <a:solidFill>
                  <a:srgbClr val="333333"/>
                </a:solidFill>
                <a:cs typeface="Times New Roman" panose="02020603050405020304" pitchFamily="18" charset="0"/>
              </a:rPr>
              <a:t>Design components to be scalable</a:t>
            </a:r>
            <a:endParaRPr lang="en-US" dirty="0"/>
          </a:p>
          <a:p>
            <a:pPr marL="0" indent="0">
              <a:buNone/>
            </a:pPr>
            <a:endParaRPr lang="en-IN" dirty="0"/>
          </a:p>
        </p:txBody>
      </p:sp>
    </p:spTree>
    <p:extLst>
      <p:ext uri="{BB962C8B-B14F-4D97-AF65-F5344CB8AC3E}">
        <p14:creationId xmlns:p14="http://schemas.microsoft.com/office/powerpoint/2010/main" val="3035010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F0940-7A52-F865-7190-0DA4F5A412BF}"/>
              </a:ext>
            </a:extLst>
          </p:cNvPr>
          <p:cNvSpPr>
            <a:spLocks noGrp="1"/>
          </p:cNvSpPr>
          <p:nvPr>
            <p:ph type="title"/>
          </p:nvPr>
        </p:nvSpPr>
        <p:spPr/>
        <p:txBody>
          <a:bodyPr/>
          <a:lstStyle/>
          <a:p>
            <a:r>
              <a:rPr lang="en-US" b="1" dirty="0">
                <a:solidFill>
                  <a:srgbClr val="333333"/>
                </a:solidFill>
                <a:latin typeface="Times New Roman" panose="02020603050405020304" pitchFamily="18" charset="0"/>
                <a:cs typeface="Times New Roman" panose="02020603050405020304" pitchFamily="18" charset="0"/>
              </a:rPr>
              <a:t>Fault Tolerance</a:t>
            </a:r>
            <a:endParaRPr lang="en-IN" dirty="0"/>
          </a:p>
        </p:txBody>
      </p:sp>
      <p:sp>
        <p:nvSpPr>
          <p:cNvPr id="3" name="Content Placeholder 2">
            <a:extLst>
              <a:ext uri="{FF2B5EF4-FFF2-40B4-BE49-F238E27FC236}">
                <a16:creationId xmlns:a16="http://schemas.microsoft.com/office/drawing/2014/main" id="{325970BB-5251-541F-DDC6-04BC2409926F}"/>
              </a:ext>
            </a:extLst>
          </p:cNvPr>
          <p:cNvSpPr>
            <a:spLocks noGrp="1"/>
          </p:cNvSpPr>
          <p:nvPr>
            <p:ph idx="1"/>
          </p:nvPr>
        </p:nvSpPr>
        <p:spPr/>
        <p:txBody>
          <a:bodyPr>
            <a:normAutofit fontScale="92500" lnSpcReduction="10000"/>
          </a:bodyPr>
          <a:lstStyle/>
          <a:p>
            <a:pPr marL="514350" lvl="0" indent="-514350" algn="just" eaLnBrk="0" fontAlgn="base" hangingPunct="0">
              <a:lnSpc>
                <a:spcPct val="100000"/>
              </a:lnSpc>
              <a:spcBef>
                <a:spcPct val="0"/>
              </a:spcBef>
              <a:spcAft>
                <a:spcPct val="0"/>
              </a:spcAft>
              <a:buFont typeface="+mj-lt"/>
              <a:buAutoNum type="arabicPeriod"/>
            </a:pPr>
            <a:r>
              <a:rPr kumimoji="0" lang="en-US" b="0" i="0" u="none" strike="noStrike" cap="none" normalizeH="0" baseline="0" dirty="0">
                <a:ln>
                  <a:noFill/>
                </a:ln>
                <a:solidFill>
                  <a:srgbClr val="333333"/>
                </a:solidFill>
                <a:effectLst/>
                <a:latin typeface="+mn-lt"/>
                <a:cs typeface="Times New Roman" panose="02020603050405020304" pitchFamily="18" charset="0"/>
              </a:rPr>
              <a:t>Hardware, software and networks fail!</a:t>
            </a:r>
            <a:endParaRPr kumimoji="0" lang="en-US" b="0" i="0" u="none" strike="noStrike" cap="none" normalizeH="0" baseline="0" dirty="0">
              <a:ln>
                <a:noFill/>
              </a:ln>
              <a:solidFill>
                <a:schemeClr val="tx1"/>
              </a:solidFill>
              <a:effectLst/>
              <a:latin typeface="+mn-lt"/>
            </a:endParaRPr>
          </a:p>
          <a:p>
            <a:pPr marL="514350" lvl="0" indent="-514350" algn="just" eaLnBrk="0" fontAlgn="base" hangingPunct="0">
              <a:lnSpc>
                <a:spcPct val="100000"/>
              </a:lnSpc>
              <a:spcBef>
                <a:spcPct val="0"/>
              </a:spcBef>
              <a:spcAft>
                <a:spcPct val="0"/>
              </a:spcAft>
              <a:buFont typeface="+mj-lt"/>
              <a:buAutoNum type="arabicPeriod"/>
            </a:pPr>
            <a:r>
              <a:rPr kumimoji="0" lang="en-US" b="0" i="0" u="none" strike="noStrike" cap="none" normalizeH="0" baseline="0" dirty="0">
                <a:ln>
                  <a:noFill/>
                </a:ln>
                <a:solidFill>
                  <a:srgbClr val="333333"/>
                </a:solidFill>
                <a:effectLst/>
                <a:latin typeface="+mn-lt"/>
                <a:cs typeface="Times New Roman" panose="02020603050405020304" pitchFamily="18" charset="0"/>
              </a:rPr>
              <a:t>Distributed systems must maintain availability even at low levels of hardware/software/network reliability.</a:t>
            </a:r>
            <a:endParaRPr kumimoji="0" lang="en-US" b="0" i="0" u="none" strike="noStrike" cap="none" normalizeH="0" baseline="0" dirty="0">
              <a:ln>
                <a:noFill/>
              </a:ln>
              <a:solidFill>
                <a:schemeClr val="tx1"/>
              </a:solidFill>
              <a:effectLst/>
              <a:latin typeface="+mn-lt"/>
            </a:endParaRPr>
          </a:p>
          <a:p>
            <a:pPr marL="514350" lvl="0" indent="-514350" algn="just" eaLnBrk="0" fontAlgn="base" hangingPunct="0">
              <a:lnSpc>
                <a:spcPct val="100000"/>
              </a:lnSpc>
              <a:spcBef>
                <a:spcPct val="0"/>
              </a:spcBef>
              <a:spcAft>
                <a:spcPct val="0"/>
              </a:spcAft>
              <a:buFont typeface="+mj-lt"/>
              <a:buAutoNum type="arabicPeriod"/>
            </a:pPr>
            <a:r>
              <a:rPr kumimoji="0" lang="en-US" b="0" i="0" u="none" strike="noStrike" cap="none" normalizeH="0" baseline="0" dirty="0">
                <a:ln>
                  <a:noFill/>
                </a:ln>
                <a:solidFill>
                  <a:srgbClr val="333333"/>
                </a:solidFill>
                <a:effectLst/>
                <a:latin typeface="+mn-lt"/>
                <a:cs typeface="Times New Roman" panose="02020603050405020304" pitchFamily="18" charset="0"/>
              </a:rPr>
              <a:t>Fault tolerance is achieved by</a:t>
            </a:r>
            <a:endParaRPr kumimoji="0" lang="en-US" b="0" i="0" u="none" strike="noStrike" cap="none" normalizeH="0" baseline="0" dirty="0">
              <a:ln>
                <a:noFill/>
              </a:ln>
              <a:solidFill>
                <a:schemeClr val="tx1"/>
              </a:solidFill>
              <a:effectLst/>
              <a:latin typeface="+mn-lt"/>
            </a:endParaRPr>
          </a:p>
          <a:p>
            <a:pPr lvl="2" algn="just">
              <a:lnSpc>
                <a:spcPct val="100000"/>
              </a:lnSpc>
            </a:pPr>
            <a:r>
              <a:rPr kumimoji="0" lang="en-US" sz="2800" b="0" i="0" u="none" strike="noStrike" cap="none" normalizeH="0" baseline="0" dirty="0">
                <a:ln>
                  <a:noFill/>
                </a:ln>
                <a:solidFill>
                  <a:srgbClr val="333333"/>
                </a:solidFill>
                <a:effectLst/>
                <a:latin typeface="+mn-lt"/>
                <a:cs typeface="Times New Roman" panose="02020603050405020304" pitchFamily="18" charset="0"/>
              </a:rPr>
              <a:t>Recovery</a:t>
            </a:r>
            <a:endParaRPr kumimoji="0" lang="en-US" sz="2800" b="0" i="0" u="none" strike="noStrike" cap="none" normalizeH="0" baseline="0" dirty="0">
              <a:ln>
                <a:noFill/>
              </a:ln>
              <a:solidFill>
                <a:schemeClr val="tx1"/>
              </a:solidFill>
              <a:effectLst/>
              <a:latin typeface="+mn-lt"/>
            </a:endParaRPr>
          </a:p>
          <a:p>
            <a:pPr lvl="2" algn="just">
              <a:lnSpc>
                <a:spcPct val="100000"/>
              </a:lnSpc>
            </a:pPr>
            <a:r>
              <a:rPr kumimoji="0" lang="en-US" sz="2800" b="0" i="0" u="none" strike="noStrike" cap="none" normalizeH="0" baseline="0" dirty="0">
                <a:ln>
                  <a:noFill/>
                </a:ln>
                <a:solidFill>
                  <a:srgbClr val="333333"/>
                </a:solidFill>
                <a:effectLst/>
                <a:latin typeface="+mn-lt"/>
                <a:cs typeface="Times New Roman" panose="02020603050405020304" pitchFamily="18" charset="0"/>
              </a:rPr>
              <a:t>Redundancy</a:t>
            </a:r>
            <a:endParaRPr kumimoji="0" lang="en-US" sz="2800" b="0" i="0" u="none" strike="noStrike" cap="none" normalizeH="0" baseline="0" dirty="0">
              <a:ln>
                <a:noFill/>
              </a:ln>
              <a:solidFill>
                <a:schemeClr val="tx1"/>
              </a:solidFill>
              <a:effectLst/>
              <a:latin typeface="+mn-lt"/>
            </a:endParaRPr>
          </a:p>
          <a:p>
            <a:pPr marL="0" lvl="0" indent="0" algn="just" eaLnBrk="0" fontAlgn="base" hangingPunct="0">
              <a:lnSpc>
                <a:spcPct val="100000"/>
              </a:lnSpc>
              <a:spcBef>
                <a:spcPct val="0"/>
              </a:spcBef>
              <a:spcAft>
                <a:spcPct val="0"/>
              </a:spcAft>
              <a:buNone/>
            </a:pPr>
            <a:r>
              <a:rPr kumimoji="0" lang="en-US" b="0" i="0" u="none" strike="noStrike" cap="none" normalizeH="0" baseline="0" dirty="0">
                <a:ln>
                  <a:noFill/>
                </a:ln>
                <a:solidFill>
                  <a:srgbClr val="333333"/>
                </a:solidFill>
                <a:effectLst/>
                <a:latin typeface="+mn-lt"/>
                <a:cs typeface="Times New Roman" panose="02020603050405020304" pitchFamily="18" charset="0"/>
              </a:rPr>
              <a:t> </a:t>
            </a:r>
            <a:endParaRPr kumimoji="0" lang="en-US" b="0" i="0" u="none" strike="noStrike" cap="none" normalizeH="0" baseline="0" dirty="0">
              <a:ln>
                <a:noFill/>
              </a:ln>
              <a:solidFill>
                <a:schemeClr val="tx1"/>
              </a:solidFill>
              <a:effectLst/>
              <a:latin typeface="+mn-lt"/>
            </a:endParaRPr>
          </a:p>
          <a:p>
            <a:pPr marL="0" lvl="0" indent="0" algn="just" eaLnBrk="0" fontAlgn="base" hangingPunct="0">
              <a:lnSpc>
                <a:spcPct val="100000"/>
              </a:lnSpc>
              <a:spcBef>
                <a:spcPct val="0"/>
              </a:spcBef>
              <a:spcAft>
                <a:spcPct val="0"/>
              </a:spcAft>
              <a:buNone/>
            </a:pPr>
            <a:r>
              <a:rPr kumimoji="0" lang="en-US" sz="4400" b="1" i="0" u="none" strike="noStrike" cap="none" normalizeH="0" baseline="0" dirty="0">
                <a:ln>
                  <a:noFill/>
                </a:ln>
                <a:solidFill>
                  <a:srgbClr val="333333"/>
                </a:solidFill>
                <a:effectLst/>
                <a:latin typeface="+mn-lt"/>
                <a:cs typeface="Times New Roman" panose="02020603050405020304" pitchFamily="18" charset="0"/>
              </a:rPr>
              <a:t>Transparency</a:t>
            </a:r>
            <a:endParaRPr kumimoji="0" lang="en-US" sz="4400" b="0" i="0" u="none" strike="noStrike" cap="none" normalizeH="0" baseline="0" dirty="0">
              <a:ln>
                <a:noFill/>
              </a:ln>
              <a:solidFill>
                <a:schemeClr val="tx1"/>
              </a:solidFill>
              <a:effectLst/>
              <a:latin typeface="+mn-lt"/>
            </a:endParaRPr>
          </a:p>
          <a:p>
            <a:pPr marL="0" lvl="0" indent="0" algn="just" eaLnBrk="0" fontAlgn="base" hangingPunct="0">
              <a:lnSpc>
                <a:spcPct val="100000"/>
              </a:lnSpc>
              <a:spcBef>
                <a:spcPct val="0"/>
              </a:spcBef>
              <a:spcAft>
                <a:spcPct val="0"/>
              </a:spcAft>
              <a:buNone/>
            </a:pPr>
            <a:r>
              <a:rPr kumimoji="0" lang="en-US" b="0" i="0" u="none" strike="noStrike" cap="none" normalizeH="0" baseline="0" dirty="0">
                <a:ln>
                  <a:noFill/>
                </a:ln>
                <a:solidFill>
                  <a:srgbClr val="333333"/>
                </a:solidFill>
                <a:effectLst/>
                <a:latin typeface="+mn-lt"/>
                <a:cs typeface="Times New Roman" panose="02020603050405020304" pitchFamily="18" charset="0"/>
              </a:rPr>
              <a:t>Distributed systems should be perceived by users and application programmers as a whole rather than as a collection of cooperating components.</a:t>
            </a:r>
            <a:endParaRPr kumimoji="0" lang="en-US" b="0" i="0" u="none" strike="noStrike" cap="none" normalizeH="0" baseline="0" dirty="0">
              <a:ln>
                <a:noFill/>
              </a:ln>
              <a:solidFill>
                <a:schemeClr val="tx1"/>
              </a:solidFill>
              <a:effectLst/>
              <a:latin typeface="+mn-lt"/>
            </a:endParaRPr>
          </a:p>
          <a:p>
            <a:pPr marL="0" indent="0">
              <a:buNone/>
            </a:pPr>
            <a:endParaRPr lang="en-IN" dirty="0"/>
          </a:p>
        </p:txBody>
      </p:sp>
    </p:spTree>
    <p:extLst>
      <p:ext uri="{BB962C8B-B14F-4D97-AF65-F5344CB8AC3E}">
        <p14:creationId xmlns:p14="http://schemas.microsoft.com/office/powerpoint/2010/main" val="2339138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155B1-D89B-9590-6854-DD04E4263F42}"/>
              </a:ext>
            </a:extLst>
          </p:cNvPr>
          <p:cNvSpPr>
            <a:spLocks noGrp="1"/>
          </p:cNvSpPr>
          <p:nvPr>
            <p:ph type="title"/>
          </p:nvPr>
        </p:nvSpPr>
        <p:spPr/>
        <p:txBody>
          <a:bodyPr/>
          <a:lstStyle/>
          <a:p>
            <a:r>
              <a:rPr lang="en-US" altLang="en-US" dirty="0"/>
              <a:t>Transparencies</a:t>
            </a:r>
            <a:endParaRPr lang="en-IN" dirty="0"/>
          </a:p>
        </p:txBody>
      </p:sp>
      <p:sp>
        <p:nvSpPr>
          <p:cNvPr id="3" name="Content Placeholder 2">
            <a:extLst>
              <a:ext uri="{FF2B5EF4-FFF2-40B4-BE49-F238E27FC236}">
                <a16:creationId xmlns:a16="http://schemas.microsoft.com/office/drawing/2014/main" id="{B70FD0D2-FAD5-2560-7761-95BF40DEF53C}"/>
              </a:ext>
            </a:extLst>
          </p:cNvPr>
          <p:cNvSpPr>
            <a:spLocks noGrp="1"/>
          </p:cNvSpPr>
          <p:nvPr>
            <p:ph idx="1"/>
          </p:nvPr>
        </p:nvSpPr>
        <p:spPr/>
        <p:txBody>
          <a:bodyPr>
            <a:normAutofit lnSpcReduction="10000"/>
          </a:bodyPr>
          <a:lstStyle/>
          <a:p>
            <a:pPr algn="just">
              <a:spcBef>
                <a:spcPts val="500"/>
              </a:spcBef>
              <a:buFont typeface="Arial" panose="020B0604020202020204" pitchFamily="34" charset="0"/>
              <a:buAutoNum type="arabicPeriod"/>
            </a:pPr>
            <a:r>
              <a:rPr lang="en-US" altLang="en-US" dirty="0">
                <a:solidFill>
                  <a:srgbClr val="FF0000"/>
                </a:solidFill>
                <a:cs typeface="Times" panose="02020603050405020304" pitchFamily="18" charset="0"/>
              </a:rPr>
              <a:t>Access transparency</a:t>
            </a:r>
            <a:r>
              <a:rPr lang="en-US" altLang="en-US" dirty="0">
                <a:cs typeface="Times" panose="02020603050405020304" pitchFamily="18" charset="0"/>
              </a:rPr>
              <a:t>: enables local and remote resources to be accessed using identical operations.</a:t>
            </a:r>
          </a:p>
          <a:p>
            <a:pPr algn="just">
              <a:buFont typeface="Arial" panose="020B0604020202020204" pitchFamily="34" charset="0"/>
              <a:buAutoNum type="arabicPeriod"/>
            </a:pPr>
            <a:r>
              <a:rPr lang="en-US" altLang="en-US" dirty="0">
                <a:solidFill>
                  <a:srgbClr val="FF0000"/>
                </a:solidFill>
                <a:cs typeface="Times" panose="02020603050405020304" pitchFamily="18" charset="0"/>
              </a:rPr>
              <a:t>Location transparency</a:t>
            </a:r>
            <a:r>
              <a:rPr lang="en-US" altLang="en-US" dirty="0">
                <a:cs typeface="Times" panose="02020603050405020304" pitchFamily="18" charset="0"/>
              </a:rPr>
              <a:t>: enables resources to be accessed without knowledge of their physical    or network location (for example, which building or IP address).</a:t>
            </a:r>
          </a:p>
          <a:p>
            <a:pPr>
              <a:buFont typeface="Arial" panose="020B0604020202020204" pitchFamily="34" charset="0"/>
              <a:buAutoNum type="arabicPeriod"/>
            </a:pPr>
            <a:r>
              <a:rPr lang="en-US" altLang="en-US" dirty="0">
                <a:solidFill>
                  <a:srgbClr val="FF0000"/>
                </a:solidFill>
                <a:cs typeface="Times" panose="02020603050405020304" pitchFamily="18" charset="0"/>
              </a:rPr>
              <a:t>Concurrency transparency: </a:t>
            </a:r>
            <a:r>
              <a:rPr lang="en-US" altLang="en-US" dirty="0">
                <a:cs typeface="Times" panose="02020603050405020304" pitchFamily="18" charset="0"/>
              </a:rPr>
              <a:t>enables several processes to operate concurrently using shared  resources without interference between them.</a:t>
            </a:r>
          </a:p>
          <a:p>
            <a:pPr>
              <a:buFont typeface="Arial" panose="020B0604020202020204" pitchFamily="34" charset="0"/>
              <a:buAutoNum type="arabicPeriod"/>
            </a:pPr>
            <a:r>
              <a:rPr lang="en-US" altLang="en-US" dirty="0">
                <a:solidFill>
                  <a:srgbClr val="FF0000"/>
                </a:solidFill>
                <a:cs typeface="Times" panose="02020603050405020304" pitchFamily="18" charset="0"/>
              </a:rPr>
              <a:t>Replication transparency: </a:t>
            </a:r>
            <a:r>
              <a:rPr lang="en-US" altLang="en-US" dirty="0">
                <a:cs typeface="Times" panose="02020603050405020304" pitchFamily="18" charset="0"/>
              </a:rPr>
              <a:t>enables multiple instances of resources to be used to increase reliability and performance without knowledge of the replicas by users or application programmers.</a:t>
            </a:r>
          </a:p>
          <a:p>
            <a:pPr marL="0" indent="0">
              <a:buNone/>
            </a:pPr>
            <a:endParaRPr lang="en-IN" dirty="0"/>
          </a:p>
        </p:txBody>
      </p:sp>
    </p:spTree>
    <p:extLst>
      <p:ext uri="{BB962C8B-B14F-4D97-AF65-F5344CB8AC3E}">
        <p14:creationId xmlns:p14="http://schemas.microsoft.com/office/powerpoint/2010/main" val="32633164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F66397-E366-4AD6-B7CA-F59ADD59C48A}"/>
              </a:ext>
            </a:extLst>
          </p:cNvPr>
          <p:cNvSpPr>
            <a:spLocks noGrp="1"/>
          </p:cNvSpPr>
          <p:nvPr>
            <p:ph idx="1"/>
          </p:nvPr>
        </p:nvSpPr>
        <p:spPr>
          <a:xfrm>
            <a:off x="783771" y="522514"/>
            <a:ext cx="10570029" cy="5654449"/>
          </a:xfrm>
        </p:spPr>
        <p:txBody>
          <a:bodyPr>
            <a:normAutofit/>
          </a:bodyPr>
          <a:lstStyle/>
          <a:p>
            <a:pPr marL="457200" indent="-457200">
              <a:buFontTx/>
              <a:buAutoNum type="arabicPeriod" startAt="6"/>
            </a:pPr>
            <a:r>
              <a:rPr lang="en-US" altLang="en-US" dirty="0">
                <a:solidFill>
                  <a:srgbClr val="FF0000"/>
                </a:solidFill>
                <a:cs typeface="Times" panose="02020603050405020304" pitchFamily="18" charset="0"/>
              </a:rPr>
              <a:t>Failure transparency: </a:t>
            </a:r>
            <a:r>
              <a:rPr lang="en-US" altLang="en-US" dirty="0">
                <a:cs typeface="Times" panose="02020603050405020304" pitchFamily="18" charset="0"/>
              </a:rPr>
              <a:t>enables the concealment of faults, allowing users and application programs to complete their tasks despite the failure of hardware or software components.</a:t>
            </a:r>
          </a:p>
          <a:p>
            <a:pPr marL="457200" indent="-457200">
              <a:buFontTx/>
              <a:buAutoNum type="arabicPeriod" startAt="6"/>
            </a:pPr>
            <a:r>
              <a:rPr lang="en-US" altLang="en-US" dirty="0">
                <a:solidFill>
                  <a:srgbClr val="FF0000"/>
                </a:solidFill>
                <a:cs typeface="Times" panose="02020603050405020304" pitchFamily="18" charset="0"/>
              </a:rPr>
              <a:t>Mobility transparency: </a:t>
            </a:r>
            <a:r>
              <a:rPr lang="en-US" altLang="en-US" dirty="0">
                <a:cs typeface="Times" panose="02020603050405020304" pitchFamily="18" charset="0"/>
              </a:rPr>
              <a:t>allows the movement of resources and clients within a system without affecting the operation of users or programs.</a:t>
            </a:r>
          </a:p>
          <a:p>
            <a:pPr marL="457200" indent="-457200">
              <a:buFontTx/>
              <a:buAutoNum type="arabicPeriod" startAt="6"/>
            </a:pPr>
            <a:r>
              <a:rPr lang="en-US" altLang="en-US" dirty="0">
                <a:solidFill>
                  <a:srgbClr val="FF0000"/>
                </a:solidFill>
                <a:cs typeface="Times" panose="02020603050405020304" pitchFamily="18" charset="0"/>
              </a:rPr>
              <a:t>Performance transparency: </a:t>
            </a:r>
            <a:r>
              <a:rPr lang="en-US" altLang="en-US" dirty="0">
                <a:cs typeface="Times" panose="02020603050405020304" pitchFamily="18" charset="0"/>
              </a:rPr>
              <a:t>allows the system to be reconfigured to improve performance </a:t>
            </a:r>
            <a:br>
              <a:rPr lang="en-US" altLang="en-US" dirty="0">
                <a:cs typeface="Times" panose="02020603050405020304" pitchFamily="18" charset="0"/>
              </a:rPr>
            </a:br>
            <a:r>
              <a:rPr lang="en-US" altLang="en-US" dirty="0">
                <a:cs typeface="Times" panose="02020603050405020304" pitchFamily="18" charset="0"/>
              </a:rPr>
              <a:t>     as loads vary.</a:t>
            </a:r>
          </a:p>
          <a:p>
            <a:pPr marL="457200" indent="-457200">
              <a:buFontTx/>
              <a:buAutoNum type="arabicPeriod" startAt="6"/>
            </a:pPr>
            <a:r>
              <a:rPr lang="en-US" altLang="en-US" dirty="0">
                <a:solidFill>
                  <a:srgbClr val="FF0000"/>
                </a:solidFill>
                <a:cs typeface="Times" panose="02020603050405020304" pitchFamily="18" charset="0"/>
              </a:rPr>
              <a:t>Scaling transparency: </a:t>
            </a:r>
            <a:r>
              <a:rPr lang="en-US" altLang="en-US" dirty="0">
                <a:cs typeface="Times" panose="02020603050405020304" pitchFamily="18" charset="0"/>
              </a:rPr>
              <a:t>allows the system and applications to expand in scale without change     to the system structure or the application algorithms.</a:t>
            </a:r>
          </a:p>
          <a:p>
            <a:endParaRPr lang="en-IN" dirty="0"/>
          </a:p>
        </p:txBody>
      </p:sp>
    </p:spTree>
    <p:extLst>
      <p:ext uri="{BB962C8B-B14F-4D97-AF65-F5344CB8AC3E}">
        <p14:creationId xmlns:p14="http://schemas.microsoft.com/office/powerpoint/2010/main" val="40587267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21AD9-258A-2557-E84F-82DB464DC77B}"/>
              </a:ext>
            </a:extLst>
          </p:cNvPr>
          <p:cNvSpPr>
            <a:spLocks noGrp="1"/>
          </p:cNvSpPr>
          <p:nvPr>
            <p:ph type="title"/>
          </p:nvPr>
        </p:nvSpPr>
        <p:spPr/>
        <p:txBody>
          <a:bodyPr/>
          <a:lstStyle/>
          <a:p>
            <a:r>
              <a:rPr lang="en-US" b="1" dirty="0">
                <a:solidFill>
                  <a:srgbClr val="333333"/>
                </a:solidFill>
                <a:latin typeface="Times New Roman" panose="02020603050405020304" pitchFamily="18" charset="0"/>
                <a:cs typeface="Times New Roman" panose="02020603050405020304" pitchFamily="18" charset="0"/>
              </a:rPr>
              <a:t>Access Transparency, </a:t>
            </a:r>
            <a:r>
              <a:rPr lang="en-US" sz="3600" b="1" dirty="0">
                <a:solidFill>
                  <a:srgbClr val="333333"/>
                </a:solidFill>
                <a:latin typeface="Times New Roman" panose="02020603050405020304" pitchFamily="18" charset="0"/>
                <a:cs typeface="Times New Roman" panose="02020603050405020304" pitchFamily="18" charset="0"/>
              </a:rPr>
              <a:t>Location Transparency</a:t>
            </a:r>
            <a:endParaRPr lang="en-IN" dirty="0"/>
          </a:p>
        </p:txBody>
      </p:sp>
      <p:sp>
        <p:nvSpPr>
          <p:cNvPr id="3" name="Content Placeholder 2">
            <a:extLst>
              <a:ext uri="{FF2B5EF4-FFF2-40B4-BE49-F238E27FC236}">
                <a16:creationId xmlns:a16="http://schemas.microsoft.com/office/drawing/2014/main" id="{3F08AC8F-D478-6977-91CE-BC08F9A5C2DB}"/>
              </a:ext>
            </a:extLst>
          </p:cNvPr>
          <p:cNvSpPr>
            <a:spLocks noGrp="1"/>
          </p:cNvSpPr>
          <p:nvPr>
            <p:ph idx="1"/>
          </p:nvPr>
        </p:nvSpPr>
        <p:spPr/>
        <p:txBody>
          <a:bodyPr>
            <a:normAutofit lnSpcReduction="10000"/>
          </a:bodyPr>
          <a:lstStyle/>
          <a:p>
            <a:pPr marL="0" lvl="0" indent="0" algn="just" eaLnBrk="0" fontAlgn="base" hangingPunct="0">
              <a:lnSpc>
                <a:spcPct val="100000"/>
              </a:lnSpc>
              <a:spcBef>
                <a:spcPct val="0"/>
              </a:spcBef>
              <a:spcAft>
                <a:spcPct val="0"/>
              </a:spcAft>
              <a:buNone/>
            </a:pPr>
            <a:r>
              <a:rPr lang="en-US" dirty="0">
                <a:solidFill>
                  <a:srgbClr val="333333"/>
                </a:solidFill>
                <a:cs typeface="Times New Roman" panose="02020603050405020304" pitchFamily="18" charset="0"/>
              </a:rPr>
              <a:t>Enables local and remote information objects to be accessed using identical operations.</a:t>
            </a:r>
            <a:endParaRPr lang="en-US" dirty="0"/>
          </a:p>
          <a:p>
            <a:pPr marL="0" lvl="0" indent="0" algn="just" eaLnBrk="0" fontAlgn="base" hangingPunct="0">
              <a:lnSpc>
                <a:spcPct val="100000"/>
              </a:lnSpc>
              <a:spcBef>
                <a:spcPct val="0"/>
              </a:spcBef>
              <a:spcAft>
                <a:spcPct val="0"/>
              </a:spcAft>
              <a:buNone/>
            </a:pPr>
            <a:r>
              <a:rPr lang="en-US" dirty="0">
                <a:solidFill>
                  <a:srgbClr val="333333"/>
                </a:solidFill>
                <a:cs typeface="Times New Roman" panose="02020603050405020304" pitchFamily="18" charset="0"/>
              </a:rPr>
              <a:t> </a:t>
            </a:r>
            <a:r>
              <a:rPr lang="en-US" dirty="0">
                <a:solidFill>
                  <a:srgbClr val="333333"/>
                </a:solidFill>
                <a:cs typeface="Courier New" panose="02070309020205020404" pitchFamily="49" charset="0"/>
              </a:rPr>
              <a:t>o</a:t>
            </a:r>
            <a:r>
              <a:rPr lang="en-US" dirty="0">
                <a:solidFill>
                  <a:srgbClr val="333333"/>
                </a:solidFill>
                <a:cs typeface="Times New Roman" panose="02020603050405020304" pitchFamily="18" charset="0"/>
              </a:rPr>
              <a:t>   Example: File system operations in NFS.</a:t>
            </a:r>
            <a:endParaRPr lang="en-US" dirty="0"/>
          </a:p>
          <a:p>
            <a:pPr marL="0" lvl="0" indent="0" algn="just" eaLnBrk="0" fontAlgn="base" hangingPunct="0">
              <a:lnSpc>
                <a:spcPct val="100000"/>
              </a:lnSpc>
              <a:spcBef>
                <a:spcPct val="0"/>
              </a:spcBef>
              <a:spcAft>
                <a:spcPct val="0"/>
              </a:spcAft>
              <a:buNone/>
            </a:pPr>
            <a:r>
              <a:rPr lang="en-US" dirty="0">
                <a:solidFill>
                  <a:srgbClr val="333333"/>
                </a:solidFill>
                <a:cs typeface="Courier New" panose="02070309020205020404" pitchFamily="49" charset="0"/>
              </a:rPr>
              <a:t>o</a:t>
            </a:r>
            <a:r>
              <a:rPr lang="en-US" dirty="0">
                <a:solidFill>
                  <a:srgbClr val="333333"/>
                </a:solidFill>
                <a:cs typeface="Times New Roman" panose="02020603050405020304" pitchFamily="18" charset="0"/>
              </a:rPr>
              <a:t>   Example: Navigation in the Web.</a:t>
            </a:r>
            <a:endParaRPr lang="en-US" dirty="0"/>
          </a:p>
          <a:p>
            <a:pPr marL="0" lvl="0" indent="0" algn="just" eaLnBrk="0" fontAlgn="base" hangingPunct="0">
              <a:lnSpc>
                <a:spcPct val="100000"/>
              </a:lnSpc>
              <a:spcBef>
                <a:spcPct val="0"/>
              </a:spcBef>
              <a:spcAft>
                <a:spcPct val="0"/>
              </a:spcAft>
              <a:buNone/>
            </a:pPr>
            <a:r>
              <a:rPr lang="en-US" dirty="0">
                <a:solidFill>
                  <a:srgbClr val="333333"/>
                </a:solidFill>
                <a:cs typeface="Courier New" panose="02070309020205020404" pitchFamily="49" charset="0"/>
              </a:rPr>
              <a:t>o</a:t>
            </a:r>
            <a:r>
              <a:rPr lang="en-US" dirty="0">
                <a:solidFill>
                  <a:srgbClr val="333333"/>
                </a:solidFill>
                <a:cs typeface="Times New Roman" panose="02020603050405020304" pitchFamily="18" charset="0"/>
              </a:rPr>
              <a:t>   Example: SQL Queries</a:t>
            </a:r>
            <a:endParaRPr lang="en-US" dirty="0"/>
          </a:p>
          <a:p>
            <a:pPr marL="0" lvl="0" indent="0" algn="just" eaLnBrk="0" fontAlgn="base" hangingPunct="0">
              <a:lnSpc>
                <a:spcPct val="100000"/>
              </a:lnSpc>
              <a:spcBef>
                <a:spcPct val="0"/>
              </a:spcBef>
              <a:spcAft>
                <a:spcPct val="0"/>
              </a:spcAft>
              <a:buNone/>
            </a:pPr>
            <a:endParaRPr lang="en-US" dirty="0">
              <a:solidFill>
                <a:srgbClr val="333333"/>
              </a:solidFill>
              <a:cs typeface="Times New Roman" panose="02020603050405020304" pitchFamily="18" charset="0"/>
            </a:endParaRPr>
          </a:p>
          <a:p>
            <a:pPr marL="0" lvl="0" indent="0" algn="just" eaLnBrk="0" fontAlgn="base" hangingPunct="0">
              <a:lnSpc>
                <a:spcPct val="100000"/>
              </a:lnSpc>
              <a:spcBef>
                <a:spcPct val="0"/>
              </a:spcBef>
              <a:spcAft>
                <a:spcPct val="0"/>
              </a:spcAft>
              <a:buNone/>
            </a:pPr>
            <a:r>
              <a:rPr lang="en-US" dirty="0">
                <a:solidFill>
                  <a:srgbClr val="333333"/>
                </a:solidFill>
                <a:cs typeface="Times New Roman" panose="02020603050405020304" pitchFamily="18" charset="0"/>
              </a:rPr>
              <a:t>Enables information objects to be accessed without knowledge of their location.</a:t>
            </a:r>
            <a:endParaRPr lang="en-US" dirty="0"/>
          </a:p>
          <a:p>
            <a:pPr marL="0" lvl="0" indent="0" algn="just" eaLnBrk="0" fontAlgn="base" hangingPunct="0">
              <a:lnSpc>
                <a:spcPct val="100000"/>
              </a:lnSpc>
              <a:spcBef>
                <a:spcPct val="0"/>
              </a:spcBef>
              <a:spcAft>
                <a:spcPct val="0"/>
              </a:spcAft>
              <a:buNone/>
            </a:pPr>
            <a:r>
              <a:rPr lang="en-US" dirty="0">
                <a:solidFill>
                  <a:srgbClr val="333333"/>
                </a:solidFill>
                <a:cs typeface="Times New Roman" panose="02020603050405020304" pitchFamily="18" charset="0"/>
              </a:rPr>
              <a:t> </a:t>
            </a:r>
            <a:r>
              <a:rPr lang="en-US" dirty="0">
                <a:solidFill>
                  <a:srgbClr val="333333"/>
                </a:solidFill>
                <a:cs typeface="Courier New" panose="02070309020205020404" pitchFamily="49" charset="0"/>
              </a:rPr>
              <a:t>o</a:t>
            </a:r>
            <a:r>
              <a:rPr lang="en-US" dirty="0">
                <a:solidFill>
                  <a:srgbClr val="333333"/>
                </a:solidFill>
                <a:cs typeface="Times New Roman" panose="02020603050405020304" pitchFamily="18" charset="0"/>
              </a:rPr>
              <a:t>   Example: File system operations in NFS</a:t>
            </a:r>
            <a:endParaRPr lang="en-US" dirty="0"/>
          </a:p>
          <a:p>
            <a:pPr marL="0" lvl="0" indent="0" algn="just" eaLnBrk="0" fontAlgn="base" hangingPunct="0">
              <a:lnSpc>
                <a:spcPct val="100000"/>
              </a:lnSpc>
              <a:spcBef>
                <a:spcPct val="0"/>
              </a:spcBef>
              <a:spcAft>
                <a:spcPct val="0"/>
              </a:spcAft>
              <a:buNone/>
            </a:pPr>
            <a:r>
              <a:rPr lang="en-US" dirty="0">
                <a:solidFill>
                  <a:srgbClr val="333333"/>
                </a:solidFill>
                <a:cs typeface="Courier New" panose="02070309020205020404" pitchFamily="49" charset="0"/>
              </a:rPr>
              <a:t>o</a:t>
            </a:r>
            <a:r>
              <a:rPr lang="en-US" dirty="0">
                <a:solidFill>
                  <a:srgbClr val="333333"/>
                </a:solidFill>
                <a:cs typeface="Times New Roman" panose="02020603050405020304" pitchFamily="18" charset="0"/>
              </a:rPr>
              <a:t>   Example: Pages in the Web</a:t>
            </a:r>
            <a:endParaRPr lang="en-US" dirty="0"/>
          </a:p>
          <a:p>
            <a:pPr marL="0" lvl="0" indent="0" algn="just" eaLnBrk="0" fontAlgn="base" hangingPunct="0">
              <a:lnSpc>
                <a:spcPct val="100000"/>
              </a:lnSpc>
              <a:spcBef>
                <a:spcPct val="0"/>
              </a:spcBef>
              <a:spcAft>
                <a:spcPct val="0"/>
              </a:spcAft>
              <a:buNone/>
            </a:pPr>
            <a:r>
              <a:rPr lang="en-US" dirty="0">
                <a:solidFill>
                  <a:srgbClr val="333333"/>
                </a:solidFill>
                <a:cs typeface="Courier New" panose="02070309020205020404" pitchFamily="49" charset="0"/>
              </a:rPr>
              <a:t>o</a:t>
            </a:r>
            <a:r>
              <a:rPr lang="en-US" dirty="0">
                <a:solidFill>
                  <a:srgbClr val="333333"/>
                </a:solidFill>
                <a:cs typeface="Times New Roman" panose="02020603050405020304" pitchFamily="18" charset="0"/>
              </a:rPr>
              <a:t>   Example: Tables in distributed databases</a:t>
            </a:r>
            <a:endParaRPr lang="en-US" dirty="0"/>
          </a:p>
          <a:p>
            <a:pPr marL="0" indent="0">
              <a:buNone/>
            </a:pPr>
            <a:endParaRPr lang="en-IN" dirty="0"/>
          </a:p>
        </p:txBody>
      </p:sp>
    </p:spTree>
    <p:extLst>
      <p:ext uri="{BB962C8B-B14F-4D97-AF65-F5344CB8AC3E}">
        <p14:creationId xmlns:p14="http://schemas.microsoft.com/office/powerpoint/2010/main" val="38291850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E3120-4C37-5863-502E-4F53A7516071}"/>
              </a:ext>
            </a:extLst>
          </p:cNvPr>
          <p:cNvSpPr>
            <a:spLocks noGrp="1"/>
          </p:cNvSpPr>
          <p:nvPr>
            <p:ph type="title"/>
          </p:nvPr>
        </p:nvSpPr>
        <p:spPr/>
        <p:txBody>
          <a:bodyPr/>
          <a:lstStyle/>
          <a:p>
            <a:r>
              <a:rPr lang="en-US" b="1" dirty="0"/>
              <a:t>Access Transparency:</a:t>
            </a:r>
            <a:endParaRPr lang="en-IN" dirty="0"/>
          </a:p>
        </p:txBody>
      </p:sp>
      <p:sp>
        <p:nvSpPr>
          <p:cNvPr id="3" name="Content Placeholder 2">
            <a:extLst>
              <a:ext uri="{FF2B5EF4-FFF2-40B4-BE49-F238E27FC236}">
                <a16:creationId xmlns:a16="http://schemas.microsoft.com/office/drawing/2014/main" id="{A11DD0BD-601B-B484-D2F7-38E11AEE974D}"/>
              </a:ext>
            </a:extLst>
          </p:cNvPr>
          <p:cNvSpPr>
            <a:spLocks noGrp="1"/>
          </p:cNvSpPr>
          <p:nvPr>
            <p:ph idx="1"/>
          </p:nvPr>
        </p:nvSpPr>
        <p:spPr/>
        <p:txBody>
          <a:bodyPr/>
          <a:lstStyle/>
          <a:p>
            <a:r>
              <a:rPr lang="en-US" dirty="0"/>
              <a:t>Access transparency hides differences in data representation and invocation mechanisms, allowing users to access resources without knowing the specifics of their location or technology.</a:t>
            </a:r>
          </a:p>
          <a:p>
            <a:r>
              <a:rPr lang="en-US" b="1" dirty="0"/>
              <a:t>Example:</a:t>
            </a:r>
            <a:r>
              <a:rPr lang="en-US" dirty="0"/>
              <a:t> A file stored on a remote server can be accessed by a user using the same commands as if the file were stored on their local machine. Network File System (NFS) and Windows Distributed File System (DFS) achieve this by providing a unified file access interface.</a:t>
            </a:r>
          </a:p>
          <a:p>
            <a:pPr marL="0" indent="0">
              <a:buNone/>
            </a:pPr>
            <a:endParaRPr lang="en-IN" dirty="0"/>
          </a:p>
        </p:txBody>
      </p:sp>
    </p:spTree>
    <p:extLst>
      <p:ext uri="{BB962C8B-B14F-4D97-AF65-F5344CB8AC3E}">
        <p14:creationId xmlns:p14="http://schemas.microsoft.com/office/powerpoint/2010/main" val="11621446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C3C5E-B1BD-EB0E-1A31-65DFAD9B65A0}"/>
              </a:ext>
            </a:extLst>
          </p:cNvPr>
          <p:cNvSpPr>
            <a:spLocks noGrp="1"/>
          </p:cNvSpPr>
          <p:nvPr>
            <p:ph type="title"/>
          </p:nvPr>
        </p:nvSpPr>
        <p:spPr/>
        <p:txBody>
          <a:bodyPr/>
          <a:lstStyle/>
          <a:p>
            <a:r>
              <a:rPr lang="en-US" b="1" dirty="0"/>
              <a:t>Location Transparency:</a:t>
            </a:r>
            <a:endParaRPr lang="en-IN" dirty="0"/>
          </a:p>
        </p:txBody>
      </p:sp>
      <p:sp>
        <p:nvSpPr>
          <p:cNvPr id="3" name="Content Placeholder 2">
            <a:extLst>
              <a:ext uri="{FF2B5EF4-FFF2-40B4-BE49-F238E27FC236}">
                <a16:creationId xmlns:a16="http://schemas.microsoft.com/office/drawing/2014/main" id="{FDB4021B-041E-EC8F-2CFA-0A31F9B82869}"/>
              </a:ext>
            </a:extLst>
          </p:cNvPr>
          <p:cNvSpPr>
            <a:spLocks noGrp="1"/>
          </p:cNvSpPr>
          <p:nvPr>
            <p:ph idx="1"/>
          </p:nvPr>
        </p:nvSpPr>
        <p:spPr/>
        <p:txBody>
          <a:bodyPr/>
          <a:lstStyle/>
          <a:p>
            <a:r>
              <a:rPr lang="en-US" dirty="0"/>
              <a:t>Location transparency hides the physical location of a resource from users and applications, making it appear as if all resources are located locally.</a:t>
            </a:r>
          </a:p>
          <a:p>
            <a:r>
              <a:rPr lang="en-US" b="1" dirty="0"/>
              <a:t>Example:</a:t>
            </a:r>
            <a:r>
              <a:rPr lang="en-US" dirty="0"/>
              <a:t> A user in New York can access a database server located in London without knowing the server's actual location. The distributed database system routes the requests to the appropriate server, providing the illusion that the database is local.</a:t>
            </a:r>
          </a:p>
          <a:p>
            <a:pPr marL="0" indent="0">
              <a:buNone/>
            </a:pPr>
            <a:endParaRPr lang="en-IN" dirty="0"/>
          </a:p>
        </p:txBody>
      </p:sp>
    </p:spTree>
    <p:extLst>
      <p:ext uri="{BB962C8B-B14F-4D97-AF65-F5344CB8AC3E}">
        <p14:creationId xmlns:p14="http://schemas.microsoft.com/office/powerpoint/2010/main" val="23769615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A6D65-7835-1ADD-0C94-75A52B60DDB4}"/>
              </a:ext>
            </a:extLst>
          </p:cNvPr>
          <p:cNvSpPr>
            <a:spLocks noGrp="1"/>
          </p:cNvSpPr>
          <p:nvPr>
            <p:ph type="title"/>
          </p:nvPr>
        </p:nvSpPr>
        <p:spPr/>
        <p:txBody>
          <a:bodyPr/>
          <a:lstStyle/>
          <a:p>
            <a:r>
              <a:rPr lang="en-US" b="1" dirty="0"/>
              <a:t>Migration Transparency:</a:t>
            </a:r>
            <a:endParaRPr lang="en-IN" dirty="0"/>
          </a:p>
        </p:txBody>
      </p:sp>
      <p:sp>
        <p:nvSpPr>
          <p:cNvPr id="3" name="Content Placeholder 2">
            <a:extLst>
              <a:ext uri="{FF2B5EF4-FFF2-40B4-BE49-F238E27FC236}">
                <a16:creationId xmlns:a16="http://schemas.microsoft.com/office/drawing/2014/main" id="{7C950EBC-AC47-34FB-961B-AAFF284C6656}"/>
              </a:ext>
            </a:extLst>
          </p:cNvPr>
          <p:cNvSpPr>
            <a:spLocks noGrp="1"/>
          </p:cNvSpPr>
          <p:nvPr>
            <p:ph idx="1"/>
          </p:nvPr>
        </p:nvSpPr>
        <p:spPr/>
        <p:txBody>
          <a:bodyPr/>
          <a:lstStyle/>
          <a:p>
            <a:r>
              <a:rPr lang="en-US" dirty="0"/>
              <a:t>Migration transparency allows resources to move from one location to another without affecting the operation of the system or the users.</a:t>
            </a:r>
          </a:p>
          <a:p>
            <a:r>
              <a:rPr lang="en-US" b="1" dirty="0"/>
              <a:t>Example:</a:t>
            </a:r>
            <a:r>
              <a:rPr lang="en-US" dirty="0"/>
              <a:t> Virtual machines (VMs) in a cloud environment can be migrated from one physical server to another for load balancing or maintenance. Users accessing the services hosted on the VMs experience no disruption or change in performance during the migration.</a:t>
            </a:r>
          </a:p>
          <a:p>
            <a:endParaRPr lang="en-IN" dirty="0"/>
          </a:p>
        </p:txBody>
      </p:sp>
    </p:spTree>
    <p:extLst>
      <p:ext uri="{BB962C8B-B14F-4D97-AF65-F5344CB8AC3E}">
        <p14:creationId xmlns:p14="http://schemas.microsoft.com/office/powerpoint/2010/main" val="20674994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F89E8-C64F-F420-33E8-5AA5AFD070A6}"/>
              </a:ext>
            </a:extLst>
          </p:cNvPr>
          <p:cNvSpPr>
            <a:spLocks noGrp="1"/>
          </p:cNvSpPr>
          <p:nvPr>
            <p:ph type="title"/>
          </p:nvPr>
        </p:nvSpPr>
        <p:spPr/>
        <p:txBody>
          <a:bodyPr/>
          <a:lstStyle/>
          <a:p>
            <a:r>
              <a:rPr lang="en-US" b="1" dirty="0"/>
              <a:t>Replication Transparency:</a:t>
            </a:r>
            <a:endParaRPr lang="en-IN" dirty="0"/>
          </a:p>
        </p:txBody>
      </p:sp>
      <p:sp>
        <p:nvSpPr>
          <p:cNvPr id="3" name="Content Placeholder 2">
            <a:extLst>
              <a:ext uri="{FF2B5EF4-FFF2-40B4-BE49-F238E27FC236}">
                <a16:creationId xmlns:a16="http://schemas.microsoft.com/office/drawing/2014/main" id="{C7492C25-A22A-8FEE-F78F-DD03649C11D7}"/>
              </a:ext>
            </a:extLst>
          </p:cNvPr>
          <p:cNvSpPr>
            <a:spLocks noGrp="1"/>
          </p:cNvSpPr>
          <p:nvPr>
            <p:ph idx="1"/>
          </p:nvPr>
        </p:nvSpPr>
        <p:spPr/>
        <p:txBody>
          <a:bodyPr/>
          <a:lstStyle/>
          <a:p>
            <a:r>
              <a:rPr lang="en-US" dirty="0"/>
              <a:t>Replication transparency hides the replication of resources from users, allowing multiple copies of resources to exist without users being aware of the replication process.</a:t>
            </a:r>
          </a:p>
          <a:p>
            <a:r>
              <a:rPr lang="en-US" b="1" dirty="0"/>
              <a:t>Example:</a:t>
            </a:r>
            <a:r>
              <a:rPr lang="en-US" dirty="0"/>
              <a:t> A web application might replicate its data across multiple servers to ensure high availability and fault tolerance. Users accessing the application do not need to know which server they are connected to, as the system handles replication and consistency behind the scenes.</a:t>
            </a:r>
          </a:p>
          <a:p>
            <a:pPr marL="0" indent="0">
              <a:buNone/>
            </a:pPr>
            <a:endParaRPr lang="en-IN" dirty="0"/>
          </a:p>
        </p:txBody>
      </p:sp>
    </p:spTree>
    <p:extLst>
      <p:ext uri="{BB962C8B-B14F-4D97-AF65-F5344CB8AC3E}">
        <p14:creationId xmlns:p14="http://schemas.microsoft.com/office/powerpoint/2010/main" val="15113306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61564-4346-46E0-DF54-73E39CD6FEA3}"/>
              </a:ext>
            </a:extLst>
          </p:cNvPr>
          <p:cNvSpPr>
            <a:spLocks noGrp="1"/>
          </p:cNvSpPr>
          <p:nvPr>
            <p:ph type="title"/>
          </p:nvPr>
        </p:nvSpPr>
        <p:spPr/>
        <p:txBody>
          <a:bodyPr/>
          <a:lstStyle/>
          <a:p>
            <a:r>
              <a:rPr lang="en-US" b="1" dirty="0"/>
              <a:t>Failure Transparency:</a:t>
            </a:r>
            <a:endParaRPr lang="en-IN" dirty="0"/>
          </a:p>
        </p:txBody>
      </p:sp>
      <p:sp>
        <p:nvSpPr>
          <p:cNvPr id="3" name="Content Placeholder 2">
            <a:extLst>
              <a:ext uri="{FF2B5EF4-FFF2-40B4-BE49-F238E27FC236}">
                <a16:creationId xmlns:a16="http://schemas.microsoft.com/office/drawing/2014/main" id="{7B3415E0-EC1E-38E9-655A-082C4D3ED510}"/>
              </a:ext>
            </a:extLst>
          </p:cNvPr>
          <p:cNvSpPr>
            <a:spLocks noGrp="1"/>
          </p:cNvSpPr>
          <p:nvPr>
            <p:ph idx="1"/>
          </p:nvPr>
        </p:nvSpPr>
        <p:spPr/>
        <p:txBody>
          <a:bodyPr/>
          <a:lstStyle/>
          <a:p>
            <a:r>
              <a:rPr lang="en-US" dirty="0"/>
              <a:t>Failure transparency enables a system to continue functioning correctly even in the presence of hardware or software failures, making these failures invisible to users.</a:t>
            </a:r>
          </a:p>
          <a:p>
            <a:r>
              <a:rPr lang="en-US" b="1" dirty="0"/>
              <a:t>Example:</a:t>
            </a:r>
            <a:r>
              <a:rPr lang="en-US" dirty="0"/>
              <a:t> In a distributed e-commerce system, if one of the servers handling transactions fails, another server takes over without the user's transaction being interrupted or lost. The system employs failover mechanisms and redundancy to maintain service continuity.</a:t>
            </a:r>
          </a:p>
          <a:p>
            <a:pPr marL="0" indent="0">
              <a:buNone/>
            </a:pPr>
            <a:endParaRPr lang="en-IN" dirty="0"/>
          </a:p>
        </p:txBody>
      </p:sp>
    </p:spTree>
    <p:extLst>
      <p:ext uri="{BB962C8B-B14F-4D97-AF65-F5344CB8AC3E}">
        <p14:creationId xmlns:p14="http://schemas.microsoft.com/office/powerpoint/2010/main" val="42227269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1CBAD-5F27-5FF1-846C-1317605615D0}"/>
              </a:ext>
            </a:extLst>
          </p:cNvPr>
          <p:cNvSpPr>
            <a:spLocks noGrp="1"/>
          </p:cNvSpPr>
          <p:nvPr>
            <p:ph type="title"/>
          </p:nvPr>
        </p:nvSpPr>
        <p:spPr/>
        <p:txBody>
          <a:bodyPr/>
          <a:lstStyle/>
          <a:p>
            <a:r>
              <a:rPr lang="en-US" b="1" dirty="0">
                <a:solidFill>
                  <a:srgbClr val="333333"/>
                </a:solidFill>
                <a:latin typeface="Times New Roman" panose="02020603050405020304" pitchFamily="18" charset="0"/>
                <a:cs typeface="Times New Roman" panose="02020603050405020304" pitchFamily="18" charset="0"/>
              </a:rPr>
              <a:t>Concurrency Transparency</a:t>
            </a:r>
            <a:br>
              <a:rPr lang="en-US" sz="3600" dirty="0"/>
            </a:br>
            <a:endParaRPr lang="en-IN" dirty="0"/>
          </a:p>
        </p:txBody>
      </p:sp>
      <p:sp>
        <p:nvSpPr>
          <p:cNvPr id="3" name="Content Placeholder 2">
            <a:extLst>
              <a:ext uri="{FF2B5EF4-FFF2-40B4-BE49-F238E27FC236}">
                <a16:creationId xmlns:a16="http://schemas.microsoft.com/office/drawing/2014/main" id="{C9B674AD-EAC7-8F09-CFE5-1650F3B08BA1}"/>
              </a:ext>
            </a:extLst>
          </p:cNvPr>
          <p:cNvSpPr>
            <a:spLocks noGrp="1"/>
          </p:cNvSpPr>
          <p:nvPr>
            <p:ph idx="1"/>
          </p:nvPr>
        </p:nvSpPr>
        <p:spPr/>
        <p:txBody>
          <a:bodyPr/>
          <a:lstStyle/>
          <a:p>
            <a:pPr marL="0" lvl="0" indent="0" algn="just" eaLnBrk="0" fontAlgn="base" hangingPunct="0">
              <a:lnSpc>
                <a:spcPct val="100000"/>
              </a:lnSpc>
              <a:spcBef>
                <a:spcPct val="0"/>
              </a:spcBef>
              <a:spcAft>
                <a:spcPct val="0"/>
              </a:spcAft>
              <a:buNone/>
            </a:pPr>
            <a:r>
              <a:rPr lang="en-US" dirty="0">
                <a:solidFill>
                  <a:srgbClr val="333333"/>
                </a:solidFill>
                <a:latin typeface="Times New Roman" panose="02020603050405020304" pitchFamily="18" charset="0"/>
                <a:cs typeface="Times New Roman" panose="02020603050405020304" pitchFamily="18" charset="0"/>
              </a:rPr>
              <a:t>Enables several processes to operate concurrently using shared information objects without interference between them.</a:t>
            </a:r>
            <a:endParaRPr lang="en-US" sz="2000" dirty="0"/>
          </a:p>
          <a:p>
            <a:pPr marL="0" lvl="0" indent="0" algn="just" eaLnBrk="0" fontAlgn="base" hangingPunct="0">
              <a:lnSpc>
                <a:spcPct val="100000"/>
              </a:lnSpc>
              <a:spcBef>
                <a:spcPct val="0"/>
              </a:spcBef>
              <a:spcAft>
                <a:spcPct val="0"/>
              </a:spcAft>
              <a:buNone/>
            </a:pPr>
            <a:r>
              <a:rPr lang="en-US" dirty="0">
                <a:solidFill>
                  <a:srgbClr val="333333"/>
                </a:solidFill>
                <a:latin typeface="Times New Roman" panose="02020603050405020304" pitchFamily="18" charset="0"/>
                <a:cs typeface="Times New Roman" panose="02020603050405020304" pitchFamily="18" charset="0"/>
              </a:rPr>
              <a:t> </a:t>
            </a:r>
            <a:endParaRPr lang="en-US" sz="2000" dirty="0"/>
          </a:p>
          <a:p>
            <a:pPr marL="0" lvl="0" indent="0" algn="just" eaLnBrk="0" fontAlgn="base" hangingPunct="0">
              <a:lnSpc>
                <a:spcPct val="100000"/>
              </a:lnSpc>
              <a:spcBef>
                <a:spcPct val="0"/>
              </a:spcBef>
              <a:spcAft>
                <a:spcPct val="0"/>
              </a:spcAft>
              <a:buNone/>
            </a:pPr>
            <a:r>
              <a:rPr lang="en-US" dirty="0">
                <a:solidFill>
                  <a:srgbClr val="333333"/>
                </a:solidFill>
                <a:latin typeface="Courier New" panose="02070309020205020404" pitchFamily="49" charset="0"/>
                <a:cs typeface="Courier New" panose="02070309020205020404" pitchFamily="49" charset="0"/>
              </a:rPr>
              <a:t>o</a:t>
            </a:r>
            <a:r>
              <a:rPr lang="en-US" sz="800" dirty="0">
                <a:solidFill>
                  <a:srgbClr val="333333"/>
                </a:solidFill>
                <a:latin typeface="Times New Roman" panose="02020603050405020304" pitchFamily="18" charset="0"/>
                <a:cs typeface="Times New Roman" panose="02020603050405020304" pitchFamily="18" charset="0"/>
              </a:rPr>
              <a:t>   </a:t>
            </a:r>
            <a:r>
              <a:rPr lang="en-US" dirty="0">
                <a:solidFill>
                  <a:srgbClr val="333333"/>
                </a:solidFill>
                <a:latin typeface="Times New Roman" panose="02020603050405020304" pitchFamily="18" charset="0"/>
                <a:cs typeface="Times New Roman" panose="02020603050405020304" pitchFamily="18" charset="0"/>
              </a:rPr>
              <a:t>Example: NFS</a:t>
            </a:r>
            <a:endParaRPr lang="en-US" sz="2000" dirty="0"/>
          </a:p>
          <a:p>
            <a:pPr marL="0" lvl="0" indent="0" algn="just" eaLnBrk="0" fontAlgn="base" hangingPunct="0">
              <a:lnSpc>
                <a:spcPct val="100000"/>
              </a:lnSpc>
              <a:spcBef>
                <a:spcPct val="0"/>
              </a:spcBef>
              <a:spcAft>
                <a:spcPct val="0"/>
              </a:spcAft>
              <a:buNone/>
            </a:pPr>
            <a:r>
              <a:rPr lang="en-US" dirty="0">
                <a:solidFill>
                  <a:srgbClr val="333333"/>
                </a:solidFill>
                <a:latin typeface="Courier New" panose="02070309020205020404" pitchFamily="49" charset="0"/>
                <a:cs typeface="Courier New" panose="02070309020205020404" pitchFamily="49" charset="0"/>
              </a:rPr>
              <a:t>o</a:t>
            </a:r>
            <a:r>
              <a:rPr lang="en-US" sz="800" dirty="0">
                <a:solidFill>
                  <a:srgbClr val="333333"/>
                </a:solidFill>
                <a:latin typeface="Times New Roman" panose="02020603050405020304" pitchFamily="18" charset="0"/>
                <a:cs typeface="Times New Roman" panose="02020603050405020304" pitchFamily="18" charset="0"/>
              </a:rPr>
              <a:t>   </a:t>
            </a:r>
            <a:r>
              <a:rPr lang="en-US" dirty="0">
                <a:solidFill>
                  <a:srgbClr val="333333"/>
                </a:solidFill>
                <a:latin typeface="Times New Roman" panose="02020603050405020304" pitchFamily="18" charset="0"/>
                <a:cs typeface="Times New Roman" panose="02020603050405020304" pitchFamily="18" charset="0"/>
              </a:rPr>
              <a:t>Example: Automatic teller machine network</a:t>
            </a:r>
            <a:endParaRPr lang="en-US" sz="2000" dirty="0"/>
          </a:p>
          <a:p>
            <a:pPr marL="0" lvl="0" indent="0" algn="just" eaLnBrk="0" fontAlgn="base" hangingPunct="0">
              <a:lnSpc>
                <a:spcPct val="100000"/>
              </a:lnSpc>
              <a:spcBef>
                <a:spcPct val="0"/>
              </a:spcBef>
              <a:spcAft>
                <a:spcPct val="0"/>
              </a:spcAft>
              <a:buNone/>
            </a:pPr>
            <a:r>
              <a:rPr lang="en-US" dirty="0">
                <a:solidFill>
                  <a:srgbClr val="333333"/>
                </a:solidFill>
                <a:latin typeface="Courier New" panose="02070309020205020404" pitchFamily="49" charset="0"/>
                <a:cs typeface="Courier New" panose="02070309020205020404" pitchFamily="49" charset="0"/>
              </a:rPr>
              <a:t>o</a:t>
            </a:r>
            <a:r>
              <a:rPr lang="en-US" sz="800" dirty="0">
                <a:solidFill>
                  <a:srgbClr val="333333"/>
                </a:solidFill>
                <a:latin typeface="Times New Roman" panose="02020603050405020304" pitchFamily="18" charset="0"/>
                <a:cs typeface="Times New Roman" panose="02020603050405020304" pitchFamily="18" charset="0"/>
              </a:rPr>
              <a:t>   </a:t>
            </a:r>
            <a:r>
              <a:rPr lang="en-US" dirty="0">
                <a:solidFill>
                  <a:srgbClr val="333333"/>
                </a:solidFill>
                <a:latin typeface="Times New Roman" panose="02020603050405020304" pitchFamily="18" charset="0"/>
                <a:cs typeface="Times New Roman" panose="02020603050405020304" pitchFamily="18" charset="0"/>
              </a:rPr>
              <a:t>Example: Database management system</a:t>
            </a:r>
            <a:endParaRPr lang="en-US" sz="3600" dirty="0">
              <a:latin typeface="Arial" panose="020B0604020202020204" pitchFamily="34" charset="0"/>
            </a:endParaRPr>
          </a:p>
          <a:p>
            <a:pPr marL="0" indent="0">
              <a:buNone/>
            </a:pPr>
            <a:endParaRPr lang="en-IN" dirty="0"/>
          </a:p>
        </p:txBody>
      </p:sp>
    </p:spTree>
    <p:extLst>
      <p:ext uri="{BB962C8B-B14F-4D97-AF65-F5344CB8AC3E}">
        <p14:creationId xmlns:p14="http://schemas.microsoft.com/office/powerpoint/2010/main" val="6001485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54B30-1BC3-B585-6BC4-D9753668DCB4}"/>
              </a:ext>
            </a:extLst>
          </p:cNvPr>
          <p:cNvSpPr>
            <a:spLocks noGrp="1"/>
          </p:cNvSpPr>
          <p:nvPr>
            <p:ph type="title"/>
          </p:nvPr>
        </p:nvSpPr>
        <p:spPr/>
        <p:txBody>
          <a:bodyPr/>
          <a:lstStyle/>
          <a:p>
            <a:r>
              <a:rPr lang="en-US" b="1" dirty="0">
                <a:solidFill>
                  <a:srgbClr val="333333"/>
                </a:solidFill>
                <a:cs typeface="Times New Roman" panose="02020603050405020304" pitchFamily="18" charset="0"/>
              </a:rPr>
              <a:t>Replication Transparency</a:t>
            </a:r>
            <a:endParaRPr lang="en-IN" dirty="0"/>
          </a:p>
        </p:txBody>
      </p:sp>
      <p:sp>
        <p:nvSpPr>
          <p:cNvPr id="3" name="Content Placeholder 2">
            <a:extLst>
              <a:ext uri="{FF2B5EF4-FFF2-40B4-BE49-F238E27FC236}">
                <a16:creationId xmlns:a16="http://schemas.microsoft.com/office/drawing/2014/main" id="{17C2E898-8235-214C-831C-5D10D8E1693A}"/>
              </a:ext>
            </a:extLst>
          </p:cNvPr>
          <p:cNvSpPr>
            <a:spLocks noGrp="1"/>
          </p:cNvSpPr>
          <p:nvPr>
            <p:ph idx="1"/>
          </p:nvPr>
        </p:nvSpPr>
        <p:spPr/>
        <p:txBody>
          <a:bodyPr>
            <a:normAutofit fontScale="92500" lnSpcReduction="10000"/>
          </a:bodyPr>
          <a:lstStyle/>
          <a:p>
            <a:pPr marL="0" lvl="0" indent="0" algn="just" eaLnBrk="0" fontAlgn="base" hangingPunct="0">
              <a:lnSpc>
                <a:spcPct val="100000"/>
              </a:lnSpc>
              <a:spcBef>
                <a:spcPct val="0"/>
              </a:spcBef>
              <a:spcAft>
                <a:spcPct val="0"/>
              </a:spcAft>
              <a:buNone/>
            </a:pPr>
            <a:r>
              <a:rPr kumimoji="0" lang="en-US" b="0" i="0" u="none" strike="noStrike" cap="none" normalizeH="0" baseline="0" dirty="0">
                <a:ln>
                  <a:noFill/>
                </a:ln>
                <a:solidFill>
                  <a:srgbClr val="333333"/>
                </a:solidFill>
                <a:effectLst/>
                <a:latin typeface="+mn-lt"/>
                <a:cs typeface="Times New Roman" panose="02020603050405020304" pitchFamily="18" charset="0"/>
              </a:rPr>
              <a:t>Enables multiple instances of information objects to be used to increase reliability and performance without knowledge of the replicas by users or application programs</a:t>
            </a:r>
            <a:endParaRPr kumimoji="0" lang="en-US" b="0" i="0" u="none" strike="noStrike" cap="none" normalizeH="0" baseline="0" dirty="0">
              <a:ln>
                <a:noFill/>
              </a:ln>
              <a:solidFill>
                <a:schemeClr val="tx1"/>
              </a:solidFill>
              <a:effectLst/>
              <a:latin typeface="+mn-lt"/>
            </a:endParaRPr>
          </a:p>
          <a:p>
            <a:pPr marL="0" lvl="0" indent="0" algn="just" eaLnBrk="0" fontAlgn="base" hangingPunct="0">
              <a:lnSpc>
                <a:spcPct val="100000"/>
              </a:lnSpc>
              <a:spcBef>
                <a:spcPct val="0"/>
              </a:spcBef>
              <a:spcAft>
                <a:spcPct val="0"/>
              </a:spcAft>
              <a:buNone/>
            </a:pPr>
            <a:r>
              <a:rPr kumimoji="0" lang="en-US" b="0" i="0" u="none" strike="noStrike" cap="none" normalizeH="0" baseline="0" dirty="0">
                <a:ln>
                  <a:noFill/>
                </a:ln>
                <a:solidFill>
                  <a:srgbClr val="333333"/>
                </a:solidFill>
                <a:effectLst/>
                <a:latin typeface="+mn-lt"/>
                <a:cs typeface="Courier New" panose="02070309020205020404" pitchFamily="49" charset="0"/>
              </a:rPr>
              <a:t>o</a:t>
            </a:r>
            <a:r>
              <a:rPr kumimoji="0" lang="en-US" b="0" i="0" u="none" strike="noStrike" cap="none" normalizeH="0" baseline="0" dirty="0">
                <a:ln>
                  <a:noFill/>
                </a:ln>
                <a:solidFill>
                  <a:srgbClr val="333333"/>
                </a:solidFill>
                <a:effectLst/>
                <a:latin typeface="+mn-lt"/>
                <a:cs typeface="Times New Roman" panose="02020603050405020304" pitchFamily="18" charset="0"/>
              </a:rPr>
              <a:t>   Example: Distributed DBMS</a:t>
            </a:r>
            <a:endParaRPr kumimoji="0" lang="en-US" b="0" i="0" u="none" strike="noStrike" cap="none" normalizeH="0" baseline="0" dirty="0">
              <a:ln>
                <a:noFill/>
              </a:ln>
              <a:solidFill>
                <a:schemeClr val="tx1"/>
              </a:solidFill>
              <a:effectLst/>
              <a:latin typeface="+mn-lt"/>
            </a:endParaRPr>
          </a:p>
          <a:p>
            <a:pPr marL="0" lvl="0" indent="0" algn="just" eaLnBrk="0" fontAlgn="base" hangingPunct="0">
              <a:lnSpc>
                <a:spcPct val="100000"/>
              </a:lnSpc>
              <a:spcBef>
                <a:spcPct val="0"/>
              </a:spcBef>
              <a:spcAft>
                <a:spcPct val="0"/>
              </a:spcAft>
              <a:buNone/>
            </a:pPr>
            <a:r>
              <a:rPr kumimoji="0" lang="en-US" b="0" i="0" u="none" strike="noStrike" cap="none" normalizeH="0" baseline="0" dirty="0">
                <a:ln>
                  <a:noFill/>
                </a:ln>
                <a:solidFill>
                  <a:srgbClr val="333333"/>
                </a:solidFill>
                <a:effectLst/>
                <a:latin typeface="+mn-lt"/>
                <a:cs typeface="Courier New" panose="02070309020205020404" pitchFamily="49" charset="0"/>
              </a:rPr>
              <a:t>o</a:t>
            </a:r>
            <a:r>
              <a:rPr kumimoji="0" lang="en-US" b="0" i="0" u="none" strike="noStrike" cap="none" normalizeH="0" baseline="0" dirty="0">
                <a:ln>
                  <a:noFill/>
                </a:ln>
                <a:solidFill>
                  <a:srgbClr val="333333"/>
                </a:solidFill>
                <a:effectLst/>
                <a:latin typeface="+mn-lt"/>
                <a:cs typeface="Times New Roman" panose="02020603050405020304" pitchFamily="18" charset="0"/>
              </a:rPr>
              <a:t>   Example: Mirroring Web Pages.</a:t>
            </a:r>
            <a:endParaRPr kumimoji="0" lang="en-US" b="0" i="0" u="none" strike="noStrike" cap="none" normalizeH="0" baseline="0" dirty="0">
              <a:ln>
                <a:noFill/>
              </a:ln>
              <a:solidFill>
                <a:schemeClr val="tx1"/>
              </a:solidFill>
              <a:effectLst/>
              <a:latin typeface="+mn-lt"/>
            </a:endParaRPr>
          </a:p>
          <a:p>
            <a:pPr marL="0" lvl="0" indent="0" algn="just" eaLnBrk="0" fontAlgn="base" hangingPunct="0">
              <a:lnSpc>
                <a:spcPct val="100000"/>
              </a:lnSpc>
              <a:spcBef>
                <a:spcPct val="0"/>
              </a:spcBef>
              <a:spcAft>
                <a:spcPct val="0"/>
              </a:spcAft>
              <a:buNone/>
            </a:pPr>
            <a:r>
              <a:rPr kumimoji="0" lang="en-US" b="0" i="0" u="none" strike="noStrike" cap="none" normalizeH="0" baseline="0" dirty="0">
                <a:ln>
                  <a:noFill/>
                </a:ln>
                <a:solidFill>
                  <a:srgbClr val="333333"/>
                </a:solidFill>
                <a:effectLst/>
                <a:latin typeface="+mn-lt"/>
                <a:cs typeface="Times New Roman" panose="02020603050405020304" pitchFamily="18" charset="0"/>
              </a:rPr>
              <a:t> </a:t>
            </a:r>
            <a:endParaRPr kumimoji="0" lang="en-US" b="0" i="0" u="none" strike="noStrike" cap="none" normalizeH="0" baseline="0" dirty="0">
              <a:ln>
                <a:noFill/>
              </a:ln>
              <a:solidFill>
                <a:schemeClr val="tx1"/>
              </a:solidFill>
              <a:effectLst/>
              <a:latin typeface="+mn-lt"/>
            </a:endParaRPr>
          </a:p>
          <a:p>
            <a:pPr marL="0" lvl="0" indent="0" algn="just" eaLnBrk="0" fontAlgn="base" hangingPunct="0">
              <a:lnSpc>
                <a:spcPct val="100000"/>
              </a:lnSpc>
              <a:spcBef>
                <a:spcPct val="0"/>
              </a:spcBef>
              <a:spcAft>
                <a:spcPct val="0"/>
              </a:spcAft>
              <a:buNone/>
            </a:pPr>
            <a:r>
              <a:rPr kumimoji="0" lang="en-US" sz="4000" b="1" i="0" u="none" strike="noStrike" cap="none" normalizeH="0" baseline="0" dirty="0">
                <a:ln>
                  <a:noFill/>
                </a:ln>
                <a:solidFill>
                  <a:srgbClr val="333333"/>
                </a:solidFill>
                <a:effectLst/>
                <a:latin typeface="+mn-lt"/>
                <a:cs typeface="Times New Roman" panose="02020603050405020304" pitchFamily="18" charset="0"/>
              </a:rPr>
              <a:t>Failure Transparency</a:t>
            </a:r>
            <a:endParaRPr kumimoji="0" lang="en-US" sz="4000" b="0" i="0" u="none" strike="noStrike" cap="none" normalizeH="0" baseline="0" dirty="0">
              <a:ln>
                <a:noFill/>
              </a:ln>
              <a:solidFill>
                <a:schemeClr val="tx1"/>
              </a:solidFill>
              <a:effectLst/>
              <a:latin typeface="+mn-lt"/>
            </a:endParaRPr>
          </a:p>
          <a:p>
            <a:pPr marL="0" lvl="0" indent="0" algn="just" eaLnBrk="0" fontAlgn="base" hangingPunct="0">
              <a:lnSpc>
                <a:spcPct val="100000"/>
              </a:lnSpc>
              <a:spcBef>
                <a:spcPct val="0"/>
              </a:spcBef>
              <a:spcAft>
                <a:spcPct val="0"/>
              </a:spcAft>
              <a:buNone/>
            </a:pPr>
            <a:r>
              <a:rPr kumimoji="0" lang="en-US" b="0" i="0" u="none" strike="noStrike" cap="none" normalizeH="0" baseline="0" dirty="0">
                <a:ln>
                  <a:noFill/>
                </a:ln>
                <a:solidFill>
                  <a:srgbClr val="333333"/>
                </a:solidFill>
                <a:effectLst/>
                <a:latin typeface="+mn-lt"/>
                <a:cs typeface="Times New Roman" panose="02020603050405020304" pitchFamily="18" charset="0"/>
              </a:rPr>
              <a:t> </a:t>
            </a:r>
            <a:r>
              <a:rPr kumimoji="0" lang="en-US" b="0" i="0" u="none" strike="noStrike" cap="none" normalizeH="0" baseline="0" dirty="0">
                <a:ln>
                  <a:noFill/>
                </a:ln>
                <a:solidFill>
                  <a:srgbClr val="333333"/>
                </a:solidFill>
                <a:effectLst/>
                <a:latin typeface="+mn-lt"/>
                <a:cs typeface="Courier New" panose="02070309020205020404" pitchFamily="49" charset="0"/>
              </a:rPr>
              <a:t>o</a:t>
            </a:r>
            <a:r>
              <a:rPr kumimoji="0" lang="en-US" b="0" i="0" u="none" strike="noStrike" cap="none" normalizeH="0" baseline="0" dirty="0">
                <a:ln>
                  <a:noFill/>
                </a:ln>
                <a:solidFill>
                  <a:srgbClr val="333333"/>
                </a:solidFill>
                <a:effectLst/>
                <a:latin typeface="+mn-lt"/>
                <a:cs typeface="Times New Roman" panose="02020603050405020304" pitchFamily="18" charset="0"/>
              </a:rPr>
              <a:t>   Enables the concealment of faults</a:t>
            </a:r>
            <a:endParaRPr kumimoji="0" lang="en-US" b="0" i="0" u="none" strike="noStrike" cap="none" normalizeH="0" baseline="0" dirty="0">
              <a:ln>
                <a:noFill/>
              </a:ln>
              <a:solidFill>
                <a:schemeClr val="tx1"/>
              </a:solidFill>
              <a:effectLst/>
              <a:latin typeface="+mn-lt"/>
            </a:endParaRPr>
          </a:p>
          <a:p>
            <a:pPr marL="0" lvl="0" indent="0" algn="just" eaLnBrk="0" fontAlgn="base" hangingPunct="0">
              <a:lnSpc>
                <a:spcPct val="100000"/>
              </a:lnSpc>
              <a:spcBef>
                <a:spcPct val="0"/>
              </a:spcBef>
              <a:spcAft>
                <a:spcPct val="0"/>
              </a:spcAft>
              <a:buNone/>
            </a:pPr>
            <a:r>
              <a:rPr kumimoji="0" lang="en-US" b="0" i="0" u="none" strike="noStrike" cap="none" normalizeH="0" baseline="0" dirty="0">
                <a:ln>
                  <a:noFill/>
                </a:ln>
                <a:solidFill>
                  <a:srgbClr val="333333"/>
                </a:solidFill>
                <a:effectLst/>
                <a:latin typeface="+mn-lt"/>
                <a:cs typeface="Times New Roman" panose="02020603050405020304" pitchFamily="18" charset="0"/>
              </a:rPr>
              <a:t> </a:t>
            </a:r>
            <a:r>
              <a:rPr kumimoji="0" lang="en-US" b="0" i="0" u="none" strike="noStrike" cap="none" normalizeH="0" baseline="0" dirty="0">
                <a:ln>
                  <a:noFill/>
                </a:ln>
                <a:solidFill>
                  <a:srgbClr val="333333"/>
                </a:solidFill>
                <a:effectLst/>
                <a:latin typeface="+mn-lt"/>
                <a:cs typeface="Courier New" panose="02070309020205020404" pitchFamily="49" charset="0"/>
              </a:rPr>
              <a:t>o</a:t>
            </a:r>
            <a:r>
              <a:rPr kumimoji="0" lang="en-US" b="0" i="0" u="none" strike="noStrike" cap="none" normalizeH="0" baseline="0" dirty="0">
                <a:ln>
                  <a:noFill/>
                </a:ln>
                <a:solidFill>
                  <a:srgbClr val="333333"/>
                </a:solidFill>
                <a:effectLst/>
                <a:latin typeface="+mn-lt"/>
                <a:cs typeface="Times New Roman" panose="02020603050405020304" pitchFamily="18" charset="0"/>
              </a:rPr>
              <a:t>   Allows users and applications to complete their tasks despite the failure of other components.</a:t>
            </a:r>
            <a:endParaRPr kumimoji="0" lang="en-US" b="0" i="0" u="none" strike="noStrike" cap="none" normalizeH="0" baseline="0" dirty="0">
              <a:ln>
                <a:noFill/>
              </a:ln>
              <a:solidFill>
                <a:schemeClr val="tx1"/>
              </a:solidFill>
              <a:effectLst/>
              <a:latin typeface="+mn-lt"/>
            </a:endParaRPr>
          </a:p>
          <a:p>
            <a:pPr marL="0" lvl="0" indent="0" algn="just" eaLnBrk="0" fontAlgn="base" hangingPunct="0">
              <a:lnSpc>
                <a:spcPct val="100000"/>
              </a:lnSpc>
              <a:spcBef>
                <a:spcPct val="0"/>
              </a:spcBef>
              <a:spcAft>
                <a:spcPct val="0"/>
              </a:spcAft>
              <a:buNone/>
            </a:pPr>
            <a:r>
              <a:rPr kumimoji="0" lang="en-US" b="0" i="0" u="none" strike="noStrike" cap="none" normalizeH="0" baseline="0" dirty="0">
                <a:ln>
                  <a:noFill/>
                </a:ln>
                <a:solidFill>
                  <a:srgbClr val="333333"/>
                </a:solidFill>
                <a:effectLst/>
                <a:latin typeface="+mn-lt"/>
                <a:cs typeface="Times New Roman" panose="02020603050405020304" pitchFamily="18" charset="0"/>
              </a:rPr>
              <a:t> </a:t>
            </a:r>
            <a:r>
              <a:rPr kumimoji="0" lang="en-US" b="0" i="0" u="none" strike="noStrike" cap="none" normalizeH="0" baseline="0" dirty="0">
                <a:ln>
                  <a:noFill/>
                </a:ln>
                <a:solidFill>
                  <a:srgbClr val="333333"/>
                </a:solidFill>
                <a:effectLst/>
                <a:latin typeface="+mn-lt"/>
                <a:cs typeface="Courier New" panose="02070309020205020404" pitchFamily="49" charset="0"/>
              </a:rPr>
              <a:t>o</a:t>
            </a:r>
            <a:r>
              <a:rPr kumimoji="0" lang="en-US" b="0" i="0" u="none" strike="noStrike" cap="none" normalizeH="0" baseline="0" dirty="0">
                <a:ln>
                  <a:noFill/>
                </a:ln>
                <a:solidFill>
                  <a:srgbClr val="333333"/>
                </a:solidFill>
                <a:effectLst/>
                <a:latin typeface="+mn-lt"/>
                <a:cs typeface="Times New Roman" panose="02020603050405020304" pitchFamily="18" charset="0"/>
              </a:rPr>
              <a:t>   Example: Database Management System</a:t>
            </a:r>
            <a:endParaRPr lang="en-IN" dirty="0"/>
          </a:p>
        </p:txBody>
      </p:sp>
    </p:spTree>
    <p:extLst>
      <p:ext uri="{BB962C8B-B14F-4D97-AF65-F5344CB8AC3E}">
        <p14:creationId xmlns:p14="http://schemas.microsoft.com/office/powerpoint/2010/main" val="29497662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4FF2FA-51B6-161A-FC63-93A8E5658C81}"/>
              </a:ext>
            </a:extLst>
          </p:cNvPr>
          <p:cNvSpPr>
            <a:spLocks noGrp="1"/>
          </p:cNvSpPr>
          <p:nvPr>
            <p:ph idx="1"/>
          </p:nvPr>
        </p:nvSpPr>
        <p:spPr>
          <a:xfrm>
            <a:off x="669471" y="734786"/>
            <a:ext cx="10684329" cy="5442177"/>
          </a:xfrm>
        </p:spPr>
        <p:txBody>
          <a:bodyPr>
            <a:normAutofit/>
          </a:bodyPr>
          <a:lstStyle/>
          <a:p>
            <a:pPr marL="0" lvl="0" indent="0" algn="just" eaLnBrk="0" fontAlgn="base" hangingPunct="0">
              <a:lnSpc>
                <a:spcPct val="100000"/>
              </a:lnSpc>
              <a:spcBef>
                <a:spcPct val="0"/>
              </a:spcBef>
              <a:spcAft>
                <a:spcPct val="0"/>
              </a:spcAft>
              <a:buNone/>
            </a:pPr>
            <a:r>
              <a:rPr kumimoji="0" lang="en-US" b="1" i="0" u="none" strike="noStrike" cap="none" normalizeH="0" baseline="0" dirty="0">
                <a:ln>
                  <a:noFill/>
                </a:ln>
                <a:solidFill>
                  <a:srgbClr val="333333"/>
                </a:solidFill>
                <a:effectLst/>
                <a:latin typeface="+mn-lt"/>
                <a:cs typeface="Times New Roman" panose="02020603050405020304" pitchFamily="18" charset="0"/>
              </a:rPr>
              <a:t>Performance Transparency</a:t>
            </a:r>
            <a:endParaRPr kumimoji="0" lang="en-US" b="0" i="0" u="none" strike="noStrike" cap="none" normalizeH="0" baseline="0" dirty="0">
              <a:ln>
                <a:noFill/>
              </a:ln>
              <a:solidFill>
                <a:schemeClr val="tx1"/>
              </a:solidFill>
              <a:effectLst/>
              <a:latin typeface="+mn-lt"/>
            </a:endParaRPr>
          </a:p>
          <a:p>
            <a:pPr marL="0" lvl="0" indent="0" algn="just" eaLnBrk="0" fontAlgn="base" hangingPunct="0">
              <a:lnSpc>
                <a:spcPct val="100000"/>
              </a:lnSpc>
              <a:spcBef>
                <a:spcPct val="0"/>
              </a:spcBef>
              <a:spcAft>
                <a:spcPct val="0"/>
              </a:spcAft>
              <a:buNone/>
            </a:pPr>
            <a:r>
              <a:rPr kumimoji="0" lang="en-US" b="0" i="0" u="none" strike="noStrike" cap="none" normalizeH="0" baseline="0" dirty="0">
                <a:ln>
                  <a:noFill/>
                </a:ln>
                <a:solidFill>
                  <a:srgbClr val="333333"/>
                </a:solidFill>
                <a:effectLst/>
                <a:latin typeface="+mn-lt"/>
                <a:cs typeface="Times New Roman" panose="02020603050405020304" pitchFamily="18" charset="0"/>
              </a:rPr>
              <a:t>Allows the system to be reconfigured to improve performance as loads vary.</a:t>
            </a:r>
            <a:endParaRPr kumimoji="0" lang="en-US" b="0" i="0" u="none" strike="noStrike" cap="none" normalizeH="0" baseline="0" dirty="0">
              <a:ln>
                <a:noFill/>
              </a:ln>
              <a:solidFill>
                <a:schemeClr val="tx1"/>
              </a:solidFill>
              <a:effectLst/>
              <a:latin typeface="+mn-lt"/>
            </a:endParaRPr>
          </a:p>
          <a:p>
            <a:pPr marL="0" lvl="0" indent="0" algn="just" eaLnBrk="0" fontAlgn="base" hangingPunct="0">
              <a:lnSpc>
                <a:spcPct val="100000"/>
              </a:lnSpc>
              <a:spcBef>
                <a:spcPct val="0"/>
              </a:spcBef>
              <a:spcAft>
                <a:spcPct val="0"/>
              </a:spcAft>
              <a:buNone/>
            </a:pPr>
            <a:r>
              <a:rPr kumimoji="0" lang="en-US" b="0" i="0" u="none" strike="noStrike" cap="none" normalizeH="0" baseline="0" dirty="0">
                <a:ln>
                  <a:noFill/>
                </a:ln>
                <a:solidFill>
                  <a:srgbClr val="333333"/>
                </a:solidFill>
                <a:effectLst/>
                <a:latin typeface="+mn-lt"/>
                <a:cs typeface="Times New Roman" panose="02020603050405020304" pitchFamily="18" charset="0"/>
              </a:rPr>
              <a:t> Example: Distributed make.</a:t>
            </a:r>
            <a:endParaRPr kumimoji="0" lang="en-US" b="0" i="0" u="none" strike="noStrike" cap="none" normalizeH="0" baseline="0" dirty="0">
              <a:ln>
                <a:noFill/>
              </a:ln>
              <a:solidFill>
                <a:schemeClr val="tx1"/>
              </a:solidFill>
              <a:effectLst/>
              <a:latin typeface="+mn-lt"/>
            </a:endParaRPr>
          </a:p>
          <a:p>
            <a:pPr marL="0" lvl="0" indent="0" algn="just" eaLnBrk="0" fontAlgn="base" hangingPunct="0">
              <a:lnSpc>
                <a:spcPct val="100000"/>
              </a:lnSpc>
              <a:spcBef>
                <a:spcPct val="0"/>
              </a:spcBef>
              <a:spcAft>
                <a:spcPct val="0"/>
              </a:spcAft>
              <a:buNone/>
            </a:pPr>
            <a:r>
              <a:rPr kumimoji="0" lang="en-US" b="0" i="0" u="none" strike="noStrike" cap="none" normalizeH="0" baseline="0" dirty="0">
                <a:ln>
                  <a:noFill/>
                </a:ln>
                <a:solidFill>
                  <a:srgbClr val="333333"/>
                </a:solidFill>
                <a:effectLst/>
                <a:latin typeface="+mn-lt"/>
                <a:cs typeface="Times New Roman" panose="02020603050405020304" pitchFamily="18" charset="0"/>
              </a:rPr>
              <a:t> </a:t>
            </a:r>
            <a:endParaRPr kumimoji="0" lang="en-US" b="0" i="0" u="none" strike="noStrike" cap="none" normalizeH="0" baseline="0" dirty="0">
              <a:ln>
                <a:noFill/>
              </a:ln>
              <a:solidFill>
                <a:schemeClr val="tx1"/>
              </a:solidFill>
              <a:effectLst/>
              <a:latin typeface="+mn-lt"/>
            </a:endParaRPr>
          </a:p>
          <a:p>
            <a:pPr marL="0" lvl="0" indent="0" algn="just" eaLnBrk="0" fontAlgn="base" hangingPunct="0">
              <a:lnSpc>
                <a:spcPct val="100000"/>
              </a:lnSpc>
              <a:spcBef>
                <a:spcPct val="0"/>
              </a:spcBef>
              <a:spcAft>
                <a:spcPct val="0"/>
              </a:spcAft>
              <a:buNone/>
            </a:pPr>
            <a:r>
              <a:rPr kumimoji="0" lang="en-US" b="1" i="0" u="none" strike="noStrike" cap="none" normalizeH="0" baseline="0" dirty="0">
                <a:ln>
                  <a:noFill/>
                </a:ln>
                <a:solidFill>
                  <a:srgbClr val="333333"/>
                </a:solidFill>
                <a:effectLst/>
                <a:latin typeface="+mn-lt"/>
                <a:cs typeface="Times New Roman" panose="02020603050405020304" pitchFamily="18" charset="0"/>
              </a:rPr>
              <a:t>Scaling Transparency</a:t>
            </a:r>
            <a:endParaRPr kumimoji="0" lang="en-US" b="0" i="0" u="none" strike="noStrike" cap="none" normalizeH="0" baseline="0" dirty="0">
              <a:ln>
                <a:noFill/>
              </a:ln>
              <a:solidFill>
                <a:schemeClr val="tx1"/>
              </a:solidFill>
              <a:effectLst/>
              <a:latin typeface="+mn-lt"/>
            </a:endParaRPr>
          </a:p>
          <a:p>
            <a:pPr marL="0" lvl="0" indent="0" algn="just" eaLnBrk="0" fontAlgn="base" hangingPunct="0">
              <a:lnSpc>
                <a:spcPct val="100000"/>
              </a:lnSpc>
              <a:spcBef>
                <a:spcPct val="0"/>
              </a:spcBef>
              <a:spcAft>
                <a:spcPct val="0"/>
              </a:spcAft>
              <a:buNone/>
            </a:pPr>
            <a:r>
              <a:rPr kumimoji="0" lang="en-US" b="1" i="0" u="none" strike="noStrike" cap="none" normalizeH="0" baseline="0" dirty="0">
                <a:ln>
                  <a:noFill/>
                </a:ln>
                <a:solidFill>
                  <a:srgbClr val="333333"/>
                </a:solidFill>
                <a:effectLst/>
                <a:latin typeface="+mn-lt"/>
                <a:cs typeface="Times New Roman" panose="02020603050405020304" pitchFamily="18" charset="0"/>
              </a:rPr>
              <a:t> </a:t>
            </a:r>
            <a:r>
              <a:rPr kumimoji="0" lang="en-US" b="0" i="0" u="none" strike="noStrike" cap="none" normalizeH="0" baseline="0" dirty="0">
                <a:ln>
                  <a:noFill/>
                </a:ln>
                <a:solidFill>
                  <a:srgbClr val="333333"/>
                </a:solidFill>
                <a:effectLst/>
                <a:latin typeface="+mn-lt"/>
                <a:cs typeface="Times New Roman" panose="02020603050405020304" pitchFamily="18" charset="0"/>
              </a:rPr>
              <a:t>Allows the system and applications to expand in scale without change to the system structure or the application algorithms.</a:t>
            </a:r>
            <a:endParaRPr kumimoji="0" lang="en-US" b="0" i="0" u="none" strike="noStrike" cap="none" normalizeH="0" baseline="0" dirty="0">
              <a:ln>
                <a:noFill/>
              </a:ln>
              <a:solidFill>
                <a:schemeClr val="tx1"/>
              </a:solidFill>
              <a:effectLst/>
              <a:latin typeface="+mn-lt"/>
            </a:endParaRPr>
          </a:p>
          <a:p>
            <a:pPr marL="0" lvl="0" indent="0" algn="just" eaLnBrk="0" fontAlgn="base" hangingPunct="0">
              <a:lnSpc>
                <a:spcPct val="100000"/>
              </a:lnSpc>
              <a:spcBef>
                <a:spcPct val="0"/>
              </a:spcBef>
              <a:spcAft>
                <a:spcPct val="0"/>
              </a:spcAft>
              <a:buNone/>
            </a:pPr>
            <a:r>
              <a:rPr kumimoji="0" lang="en-US" b="0" i="0" u="none" strike="noStrike" cap="none" normalizeH="0" baseline="0" dirty="0">
                <a:ln>
                  <a:noFill/>
                </a:ln>
                <a:solidFill>
                  <a:srgbClr val="333333"/>
                </a:solidFill>
                <a:effectLst/>
                <a:latin typeface="+mn-lt"/>
                <a:cs typeface="Times New Roman" panose="02020603050405020304" pitchFamily="18" charset="0"/>
              </a:rPr>
              <a:t> </a:t>
            </a:r>
            <a:r>
              <a:rPr kumimoji="0" lang="en-US" b="0" i="0" u="none" strike="noStrike" cap="none" normalizeH="0" baseline="0" dirty="0">
                <a:ln>
                  <a:noFill/>
                </a:ln>
                <a:solidFill>
                  <a:srgbClr val="333333"/>
                </a:solidFill>
                <a:effectLst/>
                <a:latin typeface="+mn-lt"/>
                <a:cs typeface="Courier New" panose="02070309020205020404" pitchFamily="49" charset="0"/>
              </a:rPr>
              <a:t>o</a:t>
            </a:r>
            <a:r>
              <a:rPr kumimoji="0" lang="en-US" b="0" i="0" u="none" strike="noStrike" cap="none" normalizeH="0" baseline="0" dirty="0">
                <a:ln>
                  <a:noFill/>
                </a:ln>
                <a:solidFill>
                  <a:srgbClr val="333333"/>
                </a:solidFill>
                <a:effectLst/>
                <a:latin typeface="+mn-lt"/>
                <a:cs typeface="Times New Roman" panose="02020603050405020304" pitchFamily="18" charset="0"/>
              </a:rPr>
              <a:t>   Example: World-Wide-Web</a:t>
            </a:r>
            <a:endParaRPr kumimoji="0" lang="en-US" b="0" i="0" u="none" strike="noStrike" cap="none" normalizeH="0" baseline="0" dirty="0">
              <a:ln>
                <a:noFill/>
              </a:ln>
              <a:solidFill>
                <a:schemeClr val="tx1"/>
              </a:solidFill>
              <a:effectLst/>
              <a:latin typeface="+mn-lt"/>
            </a:endParaRPr>
          </a:p>
          <a:p>
            <a:pPr marL="0" lvl="0" indent="0" algn="just" eaLnBrk="0" fontAlgn="base" hangingPunct="0">
              <a:lnSpc>
                <a:spcPct val="100000"/>
              </a:lnSpc>
              <a:spcBef>
                <a:spcPct val="0"/>
              </a:spcBef>
              <a:spcAft>
                <a:spcPct val="0"/>
              </a:spcAft>
              <a:buNone/>
            </a:pPr>
            <a:r>
              <a:rPr kumimoji="0" lang="en-US" b="0" i="0" u="none" strike="noStrike" cap="none" normalizeH="0" baseline="0" dirty="0">
                <a:ln>
                  <a:noFill/>
                </a:ln>
                <a:solidFill>
                  <a:srgbClr val="333333"/>
                </a:solidFill>
                <a:effectLst/>
                <a:latin typeface="+mn-lt"/>
                <a:cs typeface="Courier New" panose="02070309020205020404" pitchFamily="49" charset="0"/>
              </a:rPr>
              <a:t>o</a:t>
            </a:r>
            <a:r>
              <a:rPr kumimoji="0" lang="en-US" b="0" i="0" u="none" strike="noStrike" cap="none" normalizeH="0" baseline="0" dirty="0">
                <a:ln>
                  <a:noFill/>
                </a:ln>
                <a:solidFill>
                  <a:srgbClr val="333333"/>
                </a:solidFill>
                <a:effectLst/>
                <a:latin typeface="+mn-lt"/>
                <a:cs typeface="Times New Roman" panose="02020603050405020304" pitchFamily="18" charset="0"/>
              </a:rPr>
              <a:t>   Example: Distributed Database</a:t>
            </a:r>
            <a:endParaRPr kumimoji="0" lang="en-US" b="0" i="0" u="none" strike="noStrike" cap="none" normalizeH="0" baseline="0" dirty="0">
              <a:ln>
                <a:noFill/>
              </a:ln>
              <a:solidFill>
                <a:schemeClr val="tx1"/>
              </a:solidFill>
              <a:effectLst/>
              <a:latin typeface="+mn-lt"/>
            </a:endParaRPr>
          </a:p>
          <a:p>
            <a:endParaRPr lang="en-IN" dirty="0"/>
          </a:p>
        </p:txBody>
      </p:sp>
    </p:spTree>
    <p:extLst>
      <p:ext uri="{BB962C8B-B14F-4D97-AF65-F5344CB8AC3E}">
        <p14:creationId xmlns:p14="http://schemas.microsoft.com/office/powerpoint/2010/main" val="40693241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72C73-2920-5AA9-384C-B8FC8A897BED}"/>
              </a:ext>
            </a:extLst>
          </p:cNvPr>
          <p:cNvSpPr>
            <a:spLocks noGrp="1"/>
          </p:cNvSpPr>
          <p:nvPr>
            <p:ph type="title"/>
          </p:nvPr>
        </p:nvSpPr>
        <p:spPr/>
        <p:txBody>
          <a:bodyPr/>
          <a:lstStyle/>
          <a:p>
            <a:r>
              <a:rPr lang="en-US" b="1" dirty="0"/>
              <a:t>Goals of Distributed Systems</a:t>
            </a:r>
            <a:endParaRPr lang="en-IN" dirty="0"/>
          </a:p>
        </p:txBody>
      </p:sp>
      <p:sp>
        <p:nvSpPr>
          <p:cNvPr id="3" name="Content Placeholder 2">
            <a:extLst>
              <a:ext uri="{FF2B5EF4-FFF2-40B4-BE49-F238E27FC236}">
                <a16:creationId xmlns:a16="http://schemas.microsoft.com/office/drawing/2014/main" id="{DA31A95F-C601-1409-A786-3BB10AAD3D0B}"/>
              </a:ext>
            </a:extLst>
          </p:cNvPr>
          <p:cNvSpPr>
            <a:spLocks noGrp="1"/>
          </p:cNvSpPr>
          <p:nvPr>
            <p:ph idx="1"/>
          </p:nvPr>
        </p:nvSpPr>
        <p:spPr/>
        <p:txBody>
          <a:bodyPr/>
          <a:lstStyle/>
          <a:p>
            <a:r>
              <a:rPr lang="en-US" b="1" dirty="0"/>
              <a:t>Transparency:</a:t>
            </a:r>
            <a:endParaRPr lang="en-US" dirty="0"/>
          </a:p>
          <a:p>
            <a:pPr lvl="1"/>
            <a:r>
              <a:rPr lang="en-US" dirty="0"/>
              <a:t>Access, Location, Migration, Replication, Concurrency, and Failure.</a:t>
            </a:r>
          </a:p>
          <a:p>
            <a:r>
              <a:rPr lang="en-US" b="1" dirty="0"/>
              <a:t>Scalability:</a:t>
            </a:r>
            <a:endParaRPr lang="en-US" dirty="0"/>
          </a:p>
          <a:p>
            <a:pPr lvl="1"/>
            <a:r>
              <a:rPr lang="en-US" dirty="0"/>
              <a:t>Handle increased load by adding resources.</a:t>
            </a:r>
          </a:p>
          <a:p>
            <a:r>
              <a:rPr lang="en-US" b="1" dirty="0"/>
              <a:t>Fault Tolerance:.</a:t>
            </a:r>
            <a:endParaRPr lang="en-US" dirty="0"/>
          </a:p>
          <a:p>
            <a:pPr lvl="1"/>
            <a:r>
              <a:rPr lang="en-US" dirty="0"/>
              <a:t>System continuity despite component failures</a:t>
            </a:r>
            <a:endParaRPr lang="en-IN" dirty="0"/>
          </a:p>
        </p:txBody>
      </p:sp>
    </p:spTree>
    <p:extLst>
      <p:ext uri="{BB962C8B-B14F-4D97-AF65-F5344CB8AC3E}">
        <p14:creationId xmlns:p14="http://schemas.microsoft.com/office/powerpoint/2010/main" val="13977121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31895-38A2-8196-C67E-580EDEF14F4E}"/>
              </a:ext>
            </a:extLst>
          </p:cNvPr>
          <p:cNvSpPr>
            <a:spLocks noGrp="1"/>
          </p:cNvSpPr>
          <p:nvPr>
            <p:ph type="title"/>
          </p:nvPr>
        </p:nvSpPr>
        <p:spPr/>
        <p:txBody>
          <a:bodyPr/>
          <a:lstStyle/>
          <a:p>
            <a:r>
              <a:rPr lang="en-US" b="1" dirty="0"/>
              <a:t>Challenges in Distributed Systems</a:t>
            </a:r>
            <a:endParaRPr lang="en-IN" dirty="0"/>
          </a:p>
        </p:txBody>
      </p:sp>
      <p:sp>
        <p:nvSpPr>
          <p:cNvPr id="3" name="Content Placeholder 2">
            <a:extLst>
              <a:ext uri="{FF2B5EF4-FFF2-40B4-BE49-F238E27FC236}">
                <a16:creationId xmlns:a16="http://schemas.microsoft.com/office/drawing/2014/main" id="{1A81BDBD-AE6C-3C2F-BBA6-4C312799B98E}"/>
              </a:ext>
            </a:extLst>
          </p:cNvPr>
          <p:cNvSpPr>
            <a:spLocks noGrp="1"/>
          </p:cNvSpPr>
          <p:nvPr>
            <p:ph idx="1"/>
          </p:nvPr>
        </p:nvSpPr>
        <p:spPr/>
        <p:txBody>
          <a:bodyPr/>
          <a:lstStyle/>
          <a:p>
            <a:r>
              <a:rPr lang="en-US" b="1" dirty="0"/>
              <a:t>Heterogeneity:</a:t>
            </a:r>
            <a:endParaRPr lang="en-US" dirty="0"/>
          </a:p>
          <a:p>
            <a:pPr lvl="1"/>
            <a:r>
              <a:rPr lang="en-US" dirty="0"/>
              <a:t>Diverse hardware, software, and networks.</a:t>
            </a:r>
          </a:p>
          <a:p>
            <a:r>
              <a:rPr lang="en-US" b="1" dirty="0"/>
              <a:t>Security:</a:t>
            </a:r>
            <a:endParaRPr lang="en-US" dirty="0"/>
          </a:p>
          <a:p>
            <a:pPr lvl="1"/>
            <a:r>
              <a:rPr lang="en-US" dirty="0"/>
              <a:t>Protecting data and communication.</a:t>
            </a:r>
          </a:p>
          <a:p>
            <a:r>
              <a:rPr lang="en-US" b="1" dirty="0"/>
              <a:t>Synchronization:</a:t>
            </a:r>
            <a:endParaRPr lang="en-US" dirty="0"/>
          </a:p>
          <a:p>
            <a:pPr lvl="1"/>
            <a:r>
              <a:rPr lang="en-US" dirty="0"/>
              <a:t>Consistency in the presence of delays.</a:t>
            </a:r>
          </a:p>
          <a:p>
            <a:r>
              <a:rPr lang="en-US" b="1" dirty="0"/>
              <a:t>Fault Handling:</a:t>
            </a:r>
            <a:endParaRPr lang="en-US" dirty="0"/>
          </a:p>
          <a:p>
            <a:pPr lvl="1"/>
            <a:r>
              <a:rPr lang="en-US" dirty="0"/>
              <a:t>Detecting, recovering, and masking faults.</a:t>
            </a:r>
          </a:p>
          <a:p>
            <a:pPr marL="0" indent="0">
              <a:buNone/>
            </a:pPr>
            <a:endParaRPr lang="en-IN" dirty="0"/>
          </a:p>
        </p:txBody>
      </p:sp>
    </p:spTree>
    <p:extLst>
      <p:ext uri="{BB962C8B-B14F-4D97-AF65-F5344CB8AC3E}">
        <p14:creationId xmlns:p14="http://schemas.microsoft.com/office/powerpoint/2010/main" val="42589773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95E2A-D0CA-1189-3D67-1C86C646938A}"/>
              </a:ext>
            </a:extLst>
          </p:cNvPr>
          <p:cNvSpPr>
            <a:spLocks noGrp="1"/>
          </p:cNvSpPr>
          <p:nvPr>
            <p:ph type="title"/>
          </p:nvPr>
        </p:nvSpPr>
        <p:spPr/>
        <p:txBody>
          <a:bodyPr/>
          <a:lstStyle/>
          <a:p>
            <a:r>
              <a:rPr lang="en-US" dirty="0"/>
              <a:t>Largest and most complex distributed systems</a:t>
            </a:r>
            <a:endParaRPr lang="en-IN" dirty="0"/>
          </a:p>
        </p:txBody>
      </p:sp>
      <p:sp>
        <p:nvSpPr>
          <p:cNvPr id="3" name="Content Placeholder 2">
            <a:extLst>
              <a:ext uri="{FF2B5EF4-FFF2-40B4-BE49-F238E27FC236}">
                <a16:creationId xmlns:a16="http://schemas.microsoft.com/office/drawing/2014/main" id="{41C342C0-A4BC-3515-6D40-D9AD25C02DA3}"/>
              </a:ext>
            </a:extLst>
          </p:cNvPr>
          <p:cNvSpPr>
            <a:spLocks noGrp="1"/>
          </p:cNvSpPr>
          <p:nvPr>
            <p:ph idx="1"/>
          </p:nvPr>
        </p:nvSpPr>
        <p:spPr/>
        <p:txBody>
          <a:bodyPr/>
          <a:lstStyle/>
          <a:p>
            <a:pPr algn="just"/>
            <a:r>
              <a:rPr lang="en-US" sz="3200" b="1" dirty="0">
                <a:solidFill>
                  <a:srgbClr val="0000FF"/>
                </a:solidFill>
              </a:rPr>
              <a:t>Google applications and services such as Google Earth</a:t>
            </a:r>
            <a:r>
              <a:rPr lang="en-US" dirty="0"/>
              <a:t> </a:t>
            </a:r>
          </a:p>
          <a:p>
            <a:pPr algn="just"/>
            <a:r>
              <a:rPr lang="en-US" dirty="0"/>
              <a:t>Highlights of this infrastructure include: </a:t>
            </a:r>
          </a:p>
          <a:p>
            <a:pPr algn="just"/>
            <a:r>
              <a:rPr lang="en-US" dirty="0"/>
              <a:t>An underlying physical infrastructure consisting of very large numbers of networked computers located at data </a:t>
            </a:r>
            <a:r>
              <a:rPr lang="en-US" dirty="0" err="1"/>
              <a:t>centres</a:t>
            </a:r>
            <a:r>
              <a:rPr lang="en-US" dirty="0"/>
              <a:t> all around the world;</a:t>
            </a:r>
          </a:p>
          <a:p>
            <a:pPr algn="just"/>
            <a:r>
              <a:rPr lang="en-US" dirty="0"/>
              <a:t> A distributed file system designed to support very large files and heavily optimized for the style of usage required by search and other Google applications (especially reading from files at high and sustained rates); </a:t>
            </a:r>
          </a:p>
          <a:p>
            <a:endParaRPr lang="en-IN" dirty="0"/>
          </a:p>
        </p:txBody>
      </p:sp>
    </p:spTree>
    <p:extLst>
      <p:ext uri="{BB962C8B-B14F-4D97-AF65-F5344CB8AC3E}">
        <p14:creationId xmlns:p14="http://schemas.microsoft.com/office/powerpoint/2010/main" val="17247136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33378-99E8-52B7-888B-67EA0B7EB5AB}"/>
              </a:ext>
            </a:extLst>
          </p:cNvPr>
          <p:cNvSpPr>
            <a:spLocks noGrp="1"/>
          </p:cNvSpPr>
          <p:nvPr>
            <p:ph type="title"/>
          </p:nvPr>
        </p:nvSpPr>
        <p:spPr>
          <a:xfrm>
            <a:off x="838200" y="681037"/>
            <a:ext cx="10515600" cy="1325563"/>
          </a:xfrm>
        </p:spPr>
        <p:txBody>
          <a:bodyPr/>
          <a:lstStyle/>
          <a:p>
            <a:r>
              <a:rPr lang="en-US" b="1" dirty="0"/>
              <a:t>Significant consequences in DC</a:t>
            </a:r>
            <a:endParaRPr lang="en-IN" dirty="0"/>
          </a:p>
        </p:txBody>
      </p:sp>
      <p:sp>
        <p:nvSpPr>
          <p:cNvPr id="3" name="Content Placeholder 2">
            <a:extLst>
              <a:ext uri="{FF2B5EF4-FFF2-40B4-BE49-F238E27FC236}">
                <a16:creationId xmlns:a16="http://schemas.microsoft.com/office/drawing/2014/main" id="{17ECACC1-ABD8-912B-9B6D-8EAC0680B6C9}"/>
              </a:ext>
            </a:extLst>
          </p:cNvPr>
          <p:cNvSpPr>
            <a:spLocks noGrp="1"/>
          </p:cNvSpPr>
          <p:nvPr>
            <p:ph idx="1"/>
          </p:nvPr>
        </p:nvSpPr>
        <p:spPr/>
        <p:txBody>
          <a:bodyPr/>
          <a:lstStyle/>
          <a:p>
            <a:pPr marL="0" indent="0">
              <a:buNone/>
            </a:pPr>
            <a:r>
              <a:rPr lang="en-US" b="1" dirty="0">
                <a:solidFill>
                  <a:srgbClr val="0000FF"/>
                </a:solidFill>
              </a:rPr>
              <a:t>1. Concurrency: </a:t>
            </a:r>
          </a:p>
          <a:p>
            <a:pPr marL="0" indent="0">
              <a:buNone/>
            </a:pPr>
            <a:r>
              <a:rPr lang="en-US" dirty="0"/>
              <a:t> In a network of computers, concurrent program execution is the norm.</a:t>
            </a:r>
          </a:p>
          <a:p>
            <a:pPr marL="0" indent="0">
              <a:buNone/>
            </a:pPr>
            <a:r>
              <a:rPr lang="en-US" b="1" dirty="0">
                <a:solidFill>
                  <a:srgbClr val="0000FF"/>
                </a:solidFill>
              </a:rPr>
              <a:t>2. No global clock: </a:t>
            </a:r>
          </a:p>
          <a:p>
            <a:pPr marL="0" indent="0" algn="just">
              <a:buNone/>
            </a:pPr>
            <a:r>
              <a:rPr lang="en-US" dirty="0"/>
              <a:t>When programs need to cooperate they coordinate their actions by exchanging messages. Close coordination often depends on a shared idea of the time at which the programs’ actions occur</a:t>
            </a:r>
          </a:p>
          <a:p>
            <a:pPr marL="0" indent="0">
              <a:buNone/>
            </a:pPr>
            <a:r>
              <a:rPr lang="en-US" b="1" dirty="0">
                <a:solidFill>
                  <a:srgbClr val="0000FF"/>
                </a:solidFill>
              </a:rPr>
              <a:t>3. Independent failures: </a:t>
            </a:r>
          </a:p>
          <a:p>
            <a:pPr marL="0" indent="0" algn="just">
              <a:buNone/>
            </a:pPr>
            <a:r>
              <a:rPr lang="en-US"/>
              <a:t>All computer systems can fail, and it is the responsibility of system designers to plan for the consequences of possible failures. </a:t>
            </a:r>
          </a:p>
          <a:p>
            <a:endParaRPr lang="en-IN"/>
          </a:p>
        </p:txBody>
      </p:sp>
    </p:spTree>
    <p:extLst>
      <p:ext uri="{BB962C8B-B14F-4D97-AF65-F5344CB8AC3E}">
        <p14:creationId xmlns:p14="http://schemas.microsoft.com/office/powerpoint/2010/main" val="27260684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4A75A-5E6B-578B-E559-7228E8B0A1A5}"/>
              </a:ext>
            </a:extLst>
          </p:cNvPr>
          <p:cNvSpPr>
            <a:spLocks noGrp="1"/>
          </p:cNvSpPr>
          <p:nvPr>
            <p:ph type="title"/>
          </p:nvPr>
        </p:nvSpPr>
        <p:spPr>
          <a:xfrm>
            <a:off x="838200" y="365126"/>
            <a:ext cx="9210368" cy="529610"/>
          </a:xfrm>
        </p:spPr>
        <p:txBody>
          <a:bodyPr>
            <a:normAutofit fontScale="90000"/>
          </a:bodyPr>
          <a:lstStyle/>
          <a:p>
            <a:r>
              <a:rPr lang="en-US" dirty="0"/>
              <a:t>The key trends in distributed computing</a:t>
            </a:r>
            <a:endParaRPr lang="en-IN" dirty="0"/>
          </a:p>
        </p:txBody>
      </p:sp>
      <p:sp>
        <p:nvSpPr>
          <p:cNvPr id="3" name="Content Placeholder 2">
            <a:extLst>
              <a:ext uri="{FF2B5EF4-FFF2-40B4-BE49-F238E27FC236}">
                <a16:creationId xmlns:a16="http://schemas.microsoft.com/office/drawing/2014/main" id="{3D9860C1-03CB-FB15-D0FB-CE947A278FC5}"/>
              </a:ext>
            </a:extLst>
          </p:cNvPr>
          <p:cNvSpPr>
            <a:spLocks noGrp="1"/>
          </p:cNvSpPr>
          <p:nvPr>
            <p:ph idx="1"/>
          </p:nvPr>
        </p:nvSpPr>
        <p:spPr>
          <a:xfrm>
            <a:off x="589935" y="1081548"/>
            <a:ext cx="10763865" cy="5095415"/>
          </a:xfrm>
        </p:spPr>
        <p:txBody>
          <a:bodyPr>
            <a:normAutofit/>
          </a:bodyPr>
          <a:lstStyle/>
          <a:p>
            <a:pPr marL="0" indent="0">
              <a:buNone/>
            </a:pPr>
            <a:r>
              <a:rPr lang="en-US" dirty="0"/>
              <a:t>1. High-Speed and Advanced Networking Technologies The foundation of any distributed system is its network. Trends here focus on increasing bandwidth, reducing latency, and improving network intelligence: </a:t>
            </a:r>
          </a:p>
          <a:p>
            <a:pPr marL="0" indent="0">
              <a:buNone/>
            </a:pPr>
            <a:r>
              <a:rPr lang="en-US" dirty="0"/>
              <a:t>• 5G and Beyond (6G): The widespread rollout of 5G provides significantly faster speeds, lower latency, and greater capacity, which are critical for distributed applications, especially those involving mobile devices, IoT, and real-time data processing at the edge. Future generations like 6G promise even more transformative capabilities. </a:t>
            </a:r>
          </a:p>
          <a:p>
            <a:pPr marL="0" indent="0">
              <a:buNone/>
            </a:pPr>
            <a:r>
              <a:rPr lang="en-US" dirty="0"/>
              <a:t>• Optical Networks: Increased use of fiber optics provides higher bandwidth and lower latency compared to traditional copper cables, essential for interconnecting large data centers and geographically dispersed distributed systems. </a:t>
            </a:r>
          </a:p>
        </p:txBody>
      </p:sp>
    </p:spTree>
    <p:extLst>
      <p:ext uri="{BB962C8B-B14F-4D97-AF65-F5344CB8AC3E}">
        <p14:creationId xmlns:p14="http://schemas.microsoft.com/office/powerpoint/2010/main" val="11873362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309871-E7D4-3EC7-ADDE-B8C4CFE72C15}"/>
              </a:ext>
            </a:extLst>
          </p:cNvPr>
          <p:cNvSpPr>
            <a:spLocks noGrp="1"/>
          </p:cNvSpPr>
          <p:nvPr>
            <p:ph idx="1"/>
          </p:nvPr>
        </p:nvSpPr>
        <p:spPr>
          <a:xfrm>
            <a:off x="422787" y="727587"/>
            <a:ext cx="10931013" cy="5449376"/>
          </a:xfrm>
        </p:spPr>
        <p:txBody>
          <a:bodyPr>
            <a:normAutofit fontScale="92500" lnSpcReduction="10000"/>
          </a:bodyPr>
          <a:lstStyle/>
          <a:p>
            <a:pPr marL="0" indent="0">
              <a:buNone/>
            </a:pPr>
            <a:r>
              <a:rPr lang="en-US" dirty="0"/>
              <a:t>• Software-Defined Networking (SDN) and Network Function Virtualization (NFV): ◦ SDN decouples the network control plane from the data plane, allowing for flexible, programmable, and centralized management of network configurations. This enables dynamic adjustments based on traffic demands and optimizes routing and resource allocation in distributed environments. ◦ NFV virtualizes network services (like firewalls, load balancers) to run on standard hardware, making network function deployment more flexible, </a:t>
            </a:r>
            <a:r>
              <a:rPr lang="en-US" dirty="0" err="1"/>
              <a:t>costeffective</a:t>
            </a:r>
            <a:r>
              <a:rPr lang="en-US" dirty="0"/>
              <a:t>, and scalable within distributed systems,</a:t>
            </a:r>
          </a:p>
          <a:p>
            <a:pPr marL="0" indent="0">
              <a:buNone/>
            </a:pPr>
            <a:r>
              <a:rPr lang="en-US" dirty="0"/>
              <a:t>2. Edge Computing and IoT Networking • Distributed Processing at the Edge: The massive influx of data from IoT devices necessitates processing closer to the data source. Edge computing relies on robust, low-latency networking to connect these devices to local processing units and, when necessary, back to centralized cloud resources. • Real-time Communication: For applications like autonomous vehicles, industrial automation, and smart city infrastructure, networking at the edge must support ultra-low latency and high reliability to enable real-time decision-making and control.</a:t>
            </a:r>
            <a:endParaRPr lang="en-IN" dirty="0"/>
          </a:p>
          <a:p>
            <a:endParaRPr lang="en-IN" dirty="0"/>
          </a:p>
        </p:txBody>
      </p:sp>
    </p:spTree>
    <p:extLst>
      <p:ext uri="{BB962C8B-B14F-4D97-AF65-F5344CB8AC3E}">
        <p14:creationId xmlns:p14="http://schemas.microsoft.com/office/powerpoint/2010/main" val="36741645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45576A-1D8E-00ED-38D2-7997ED2A1638}"/>
              </a:ext>
            </a:extLst>
          </p:cNvPr>
          <p:cNvSpPr>
            <a:spLocks noGrp="1"/>
          </p:cNvSpPr>
          <p:nvPr>
            <p:ph idx="1"/>
          </p:nvPr>
        </p:nvSpPr>
        <p:spPr>
          <a:xfrm>
            <a:off x="412954" y="314632"/>
            <a:ext cx="11385755" cy="6154994"/>
          </a:xfrm>
        </p:spPr>
        <p:txBody>
          <a:bodyPr>
            <a:normAutofit fontScale="92500" lnSpcReduction="10000"/>
          </a:bodyPr>
          <a:lstStyle/>
          <a:p>
            <a:pPr marL="0" indent="0">
              <a:buNone/>
            </a:pPr>
            <a:r>
              <a:rPr lang="en-US" dirty="0"/>
              <a:t>• Fog Computing: An extension of edge computing, fog computing acts as an intermediary layer between edge devices and the cloud, providing localized processing, storage, and networking services to further reduce latency and optimize data flow. </a:t>
            </a:r>
          </a:p>
          <a:p>
            <a:pPr marL="0" indent="0">
              <a:buNone/>
            </a:pPr>
            <a:r>
              <a:rPr lang="en-US" dirty="0"/>
              <a:t>3. Network Automation and AI/ML for Network Management </a:t>
            </a:r>
          </a:p>
          <a:p>
            <a:pPr marL="0" indent="0">
              <a:buNone/>
            </a:pPr>
            <a:r>
              <a:rPr lang="en-US" dirty="0"/>
              <a:t>• Intelligent Networks: AI and Machine Learning are increasingly being integrated into network management to automate tasks, predict failures, optimize performance, and enhance security. This includes AIOps (Artificial Intelligence for IT Operations) for proactive monitoring and self-healing networks. </a:t>
            </a:r>
          </a:p>
          <a:p>
            <a:pPr marL="0" indent="0">
              <a:buNone/>
            </a:pPr>
            <a:r>
              <a:rPr lang="en-US" dirty="0"/>
              <a:t>• Intent-Based Networking (IBN): This is a more advanced form of SDN where network administrators define their desired business outcomes (intent), and the network automatically configures itself to achieve those goals, continually monitoring and adapting. </a:t>
            </a:r>
          </a:p>
          <a:p>
            <a:pPr marL="0" indent="0">
              <a:buNone/>
            </a:pPr>
            <a:r>
              <a:rPr lang="en-US" dirty="0"/>
              <a:t>• Network as a Service (</a:t>
            </a:r>
            <a:r>
              <a:rPr lang="en-US" dirty="0" err="1"/>
              <a:t>NaaS</a:t>
            </a:r>
            <a:r>
              <a:rPr lang="en-US" dirty="0"/>
              <a:t>): This trend involves consuming networking capabilities as a cloud service, abstracting away the underlying infrastructure management. This provides organizations with flexible, subscription-based networking solutions that can scale on demand</a:t>
            </a:r>
            <a:endParaRPr lang="en-IN" dirty="0"/>
          </a:p>
        </p:txBody>
      </p:sp>
    </p:spTree>
    <p:extLst>
      <p:ext uri="{BB962C8B-B14F-4D97-AF65-F5344CB8AC3E}">
        <p14:creationId xmlns:p14="http://schemas.microsoft.com/office/powerpoint/2010/main" val="19772096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FBCAEF-430D-FA77-EFC1-670C9D8EFE1B}"/>
              </a:ext>
            </a:extLst>
          </p:cNvPr>
          <p:cNvSpPr>
            <a:spLocks noGrp="1"/>
          </p:cNvSpPr>
          <p:nvPr>
            <p:ph idx="1"/>
          </p:nvPr>
        </p:nvSpPr>
        <p:spPr>
          <a:xfrm>
            <a:off x="442452" y="383458"/>
            <a:ext cx="10911348" cy="5793505"/>
          </a:xfrm>
        </p:spPr>
        <p:txBody>
          <a:bodyPr>
            <a:normAutofit/>
          </a:bodyPr>
          <a:lstStyle/>
          <a:p>
            <a:pPr marL="0" indent="0">
              <a:buNone/>
            </a:pPr>
            <a:r>
              <a:rPr lang="en-US" dirty="0"/>
              <a:t>4. Enhanced Network Security in Distributed Environments </a:t>
            </a:r>
          </a:p>
          <a:p>
            <a:pPr marL="0" indent="0">
              <a:buNone/>
            </a:pPr>
            <a:r>
              <a:rPr lang="en-US" dirty="0"/>
              <a:t>•Zero Trust Networking: As distributed systems expand, traditional perimeter-based security models are insufficient. Zero Trust mandates strict identity verification and continuous monitoring for every user and device attempting to access resources, regardless of their location. </a:t>
            </a:r>
          </a:p>
          <a:p>
            <a:pPr marL="0" indent="0">
              <a:buNone/>
            </a:pPr>
            <a:r>
              <a:rPr lang="en-US" dirty="0"/>
              <a:t>• Secure Access Service Edge (SASE): SASE converges networking and security functions into a single, cloud-native service. It provides secure access to distributed resources for remote workforces and cloud applications, moving security closer to the user and the data.</a:t>
            </a:r>
          </a:p>
          <a:p>
            <a:pPr marL="0" indent="0">
              <a:buNone/>
            </a:pPr>
            <a:r>
              <a:rPr lang="en-US" dirty="0"/>
              <a:t> •Advanced Threat Detection: AI and ML are being used to analyze network traffic patterns and identify anomalies that could indicate cyber threats in real-time across distributed infrastructures.</a:t>
            </a:r>
          </a:p>
          <a:p>
            <a:pPr marL="0" indent="0">
              <a:buNone/>
            </a:pPr>
            <a:r>
              <a:rPr lang="en-US" dirty="0"/>
              <a:t> </a:t>
            </a:r>
            <a:endParaRPr lang="en-IN" dirty="0"/>
          </a:p>
        </p:txBody>
      </p:sp>
    </p:spTree>
    <p:extLst>
      <p:ext uri="{BB962C8B-B14F-4D97-AF65-F5344CB8AC3E}">
        <p14:creationId xmlns:p14="http://schemas.microsoft.com/office/powerpoint/2010/main" val="17023601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854835-A4B3-93B4-7274-C840F742BF2F}"/>
              </a:ext>
            </a:extLst>
          </p:cNvPr>
          <p:cNvSpPr>
            <a:spLocks noGrp="1"/>
          </p:cNvSpPr>
          <p:nvPr>
            <p:ph idx="1"/>
          </p:nvPr>
        </p:nvSpPr>
        <p:spPr>
          <a:xfrm>
            <a:off x="796413" y="806245"/>
            <a:ext cx="10557387" cy="5370718"/>
          </a:xfrm>
        </p:spPr>
        <p:txBody>
          <a:bodyPr/>
          <a:lstStyle/>
          <a:p>
            <a:r>
              <a:rPr lang="en-US" dirty="0"/>
              <a:t>5. Quantum Networking </a:t>
            </a:r>
          </a:p>
          <a:p>
            <a:r>
              <a:rPr lang="en-US" dirty="0"/>
              <a:t>•Ultra-Secure Communication: While still largely in research, quantum networking aims to leverage quantum mechanics principles (like entanglement) to enable inherently secure communication channels, potentially resistant to even future quantum computer attacks. </a:t>
            </a:r>
          </a:p>
          <a:p>
            <a:r>
              <a:rPr lang="en-US" dirty="0"/>
              <a:t>•Distributed Quantum Computing: As quantum computers become more powerful, networking will be crucial to interconnect them, forming distributed quantum systems that can tackle even more complex problems</a:t>
            </a:r>
            <a:endParaRPr lang="en-IN" dirty="0"/>
          </a:p>
          <a:p>
            <a:endParaRPr lang="en-IN" dirty="0"/>
          </a:p>
        </p:txBody>
      </p:sp>
    </p:spTree>
    <p:extLst>
      <p:ext uri="{BB962C8B-B14F-4D97-AF65-F5344CB8AC3E}">
        <p14:creationId xmlns:p14="http://schemas.microsoft.com/office/powerpoint/2010/main" val="32410086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C91E5-8490-F1EF-4940-494C2C6AD52D}"/>
              </a:ext>
            </a:extLst>
          </p:cNvPr>
          <p:cNvSpPr>
            <a:spLocks noGrp="1"/>
          </p:cNvSpPr>
          <p:nvPr>
            <p:ph type="title"/>
          </p:nvPr>
        </p:nvSpPr>
        <p:spPr/>
        <p:txBody>
          <a:bodyPr/>
          <a:lstStyle/>
          <a:p>
            <a:r>
              <a:rPr lang="en-US" dirty="0"/>
              <a:t>Distributed Systems Models</a:t>
            </a:r>
            <a:endParaRPr lang="en-IN" dirty="0"/>
          </a:p>
        </p:txBody>
      </p:sp>
      <p:sp>
        <p:nvSpPr>
          <p:cNvPr id="3" name="Content Placeholder 2">
            <a:extLst>
              <a:ext uri="{FF2B5EF4-FFF2-40B4-BE49-F238E27FC236}">
                <a16:creationId xmlns:a16="http://schemas.microsoft.com/office/drawing/2014/main" id="{353257BB-7F58-7AEE-4132-198640CFC040}"/>
              </a:ext>
            </a:extLst>
          </p:cNvPr>
          <p:cNvSpPr>
            <a:spLocks noGrp="1"/>
          </p:cNvSpPr>
          <p:nvPr>
            <p:ph idx="1"/>
          </p:nvPr>
        </p:nvSpPr>
        <p:spPr/>
        <p:txBody>
          <a:bodyPr/>
          <a:lstStyle/>
          <a:p>
            <a:pPr marL="0" indent="0">
              <a:buNone/>
            </a:pPr>
            <a:r>
              <a:rPr lang="en-US" sz="3200" dirty="0">
                <a:solidFill>
                  <a:srgbClr val="0000FF"/>
                </a:solidFill>
              </a:rPr>
              <a:t>Systems Models</a:t>
            </a:r>
          </a:p>
          <a:p>
            <a:pPr marL="571500" indent="-571500">
              <a:buFont typeface="+mj-lt"/>
              <a:buAutoNum type="romanUcPeriod"/>
            </a:pPr>
            <a:r>
              <a:rPr lang="en-US" dirty="0"/>
              <a:t>Physical Model</a:t>
            </a:r>
          </a:p>
          <a:p>
            <a:pPr marL="571500" indent="-571500">
              <a:buFont typeface="+mj-lt"/>
              <a:buAutoNum type="romanUcPeriod"/>
            </a:pPr>
            <a:r>
              <a:rPr lang="en-US" dirty="0"/>
              <a:t>Architectural Model</a:t>
            </a:r>
          </a:p>
          <a:p>
            <a:pPr marL="571500" indent="-571500">
              <a:buFont typeface="+mj-lt"/>
              <a:buAutoNum type="romanUcPeriod"/>
            </a:pPr>
            <a:r>
              <a:rPr lang="en-US" dirty="0"/>
              <a:t>Fundamental Model</a:t>
            </a:r>
            <a:endParaRPr lang="en-IN" dirty="0"/>
          </a:p>
        </p:txBody>
      </p:sp>
    </p:spTree>
    <p:extLst>
      <p:ext uri="{BB962C8B-B14F-4D97-AF65-F5344CB8AC3E}">
        <p14:creationId xmlns:p14="http://schemas.microsoft.com/office/powerpoint/2010/main" val="22127970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03DB0-2137-27CF-2F29-6B329BEA71E6}"/>
              </a:ext>
            </a:extLst>
          </p:cNvPr>
          <p:cNvSpPr>
            <a:spLocks noGrp="1"/>
          </p:cNvSpPr>
          <p:nvPr>
            <p:ph type="title"/>
          </p:nvPr>
        </p:nvSpPr>
        <p:spPr/>
        <p:txBody>
          <a:bodyPr/>
          <a:lstStyle/>
          <a:p>
            <a:r>
              <a:rPr lang="en-US" dirty="0"/>
              <a:t>Physical models</a:t>
            </a:r>
            <a:endParaRPr lang="en-IN" dirty="0"/>
          </a:p>
        </p:txBody>
      </p:sp>
      <p:sp>
        <p:nvSpPr>
          <p:cNvPr id="3" name="Content Placeholder 2">
            <a:extLst>
              <a:ext uri="{FF2B5EF4-FFF2-40B4-BE49-F238E27FC236}">
                <a16:creationId xmlns:a16="http://schemas.microsoft.com/office/drawing/2014/main" id="{FE9312D1-F92D-F09E-649D-ABCD453BAC9F}"/>
              </a:ext>
            </a:extLst>
          </p:cNvPr>
          <p:cNvSpPr>
            <a:spLocks noGrp="1"/>
          </p:cNvSpPr>
          <p:nvPr>
            <p:ph idx="1"/>
          </p:nvPr>
        </p:nvSpPr>
        <p:spPr/>
        <p:txBody>
          <a:bodyPr>
            <a:normAutofit/>
          </a:bodyPr>
          <a:lstStyle/>
          <a:p>
            <a:pPr marL="742950" indent="-742950" algn="just">
              <a:buFont typeface="+mj-lt"/>
              <a:buAutoNum type="arabicPeriod"/>
            </a:pPr>
            <a:r>
              <a:rPr lang="en-US" dirty="0">
                <a:solidFill>
                  <a:srgbClr val="0000FF"/>
                </a:solidFill>
              </a:rPr>
              <a:t>Physical models </a:t>
            </a:r>
            <a:r>
              <a:rPr lang="en-US" dirty="0"/>
              <a:t>consider the types of computers and devices that constitute a system and their interconnectivity, without details of specific technologies. </a:t>
            </a:r>
          </a:p>
          <a:p>
            <a:pPr marL="742950" indent="-742950" algn="just">
              <a:buFont typeface="+mj-lt"/>
              <a:buAutoNum type="arabicPeriod"/>
            </a:pPr>
            <a:r>
              <a:rPr lang="en-US" dirty="0">
                <a:solidFill>
                  <a:srgbClr val="0000FF"/>
                </a:solidFill>
              </a:rPr>
              <a:t>Architectural models </a:t>
            </a:r>
            <a:r>
              <a:rPr lang="en-US" dirty="0"/>
              <a:t>describe a system in terms of the computational and communication tasks performed by its computational elements and the computational elements being individual computers or aggregates of them supported by appropriate network interconnections. Client-server and peer-to-peer are two of the most commonly used forms of architectural model for distributed systems. </a:t>
            </a:r>
          </a:p>
          <a:p>
            <a:endParaRPr lang="en-IN" dirty="0"/>
          </a:p>
        </p:txBody>
      </p:sp>
    </p:spTree>
    <p:extLst>
      <p:ext uri="{BB962C8B-B14F-4D97-AF65-F5344CB8AC3E}">
        <p14:creationId xmlns:p14="http://schemas.microsoft.com/office/powerpoint/2010/main" val="4085635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3BD213-77C2-6AF2-70E6-5F4FE940C9BF}"/>
              </a:ext>
            </a:extLst>
          </p:cNvPr>
          <p:cNvSpPr>
            <a:spLocks noGrp="1"/>
          </p:cNvSpPr>
          <p:nvPr>
            <p:ph idx="1"/>
          </p:nvPr>
        </p:nvSpPr>
        <p:spPr>
          <a:xfrm>
            <a:off x="502920" y="822960"/>
            <a:ext cx="10850880" cy="5354003"/>
          </a:xfrm>
        </p:spPr>
        <p:txBody>
          <a:bodyPr>
            <a:normAutofit fontScale="92500" lnSpcReduction="10000"/>
          </a:bodyPr>
          <a:lstStyle/>
          <a:p>
            <a:pPr marL="0" indent="0" algn="just">
              <a:buNone/>
            </a:pPr>
            <a:r>
              <a:rPr lang="en-US" dirty="0">
                <a:solidFill>
                  <a:srgbClr val="0000FF"/>
                </a:solidFill>
              </a:rPr>
              <a:t>3.Functional models </a:t>
            </a:r>
            <a:r>
              <a:rPr lang="en-US" dirty="0"/>
              <a:t>take an abstract perspective in order to describe solutions to individual issues faced by most distributed systems. the computational elements being individual computers or aggregates of them supported by appropriate network interconnections.</a:t>
            </a:r>
          </a:p>
          <a:p>
            <a:pPr marL="0" indent="0" algn="just">
              <a:buNone/>
            </a:pPr>
            <a:endParaRPr lang="en-US" dirty="0"/>
          </a:p>
          <a:p>
            <a:pPr algn="just"/>
            <a:r>
              <a:rPr lang="en-US" dirty="0">
                <a:solidFill>
                  <a:srgbClr val="0000FF"/>
                </a:solidFill>
              </a:rPr>
              <a:t>The interaction model </a:t>
            </a:r>
            <a:r>
              <a:rPr lang="en-US" dirty="0"/>
              <a:t>deals with performance and with the difficulty of setting time limits in a distributed system, for example for message delivery. </a:t>
            </a:r>
          </a:p>
          <a:p>
            <a:pPr algn="just"/>
            <a:r>
              <a:rPr lang="en-US" dirty="0">
                <a:solidFill>
                  <a:srgbClr val="0000FF"/>
                </a:solidFill>
              </a:rPr>
              <a:t>The failure model </a:t>
            </a:r>
            <a:r>
              <a:rPr lang="en-US" dirty="0"/>
              <a:t>attempts to give a precise specification of the faults that can be exhibited by processes and communication channels. It defines reliable communication and correct processes. </a:t>
            </a:r>
          </a:p>
          <a:p>
            <a:pPr algn="just"/>
            <a:r>
              <a:rPr lang="en-US" dirty="0">
                <a:solidFill>
                  <a:srgbClr val="0000FF"/>
                </a:solidFill>
              </a:rPr>
              <a:t>The security model </a:t>
            </a:r>
            <a:r>
              <a:rPr lang="en-US" dirty="0"/>
              <a:t>discusses the possible threats to processes and communication channels. It introduces the concept of a secure channel, which is secure against those threats.</a:t>
            </a:r>
            <a:endParaRPr lang="en-IN" dirty="0"/>
          </a:p>
          <a:p>
            <a:pPr marL="0" indent="0" algn="just">
              <a:buNone/>
            </a:pPr>
            <a:r>
              <a:rPr lang="en-US" dirty="0" err="1"/>
              <a:t>priate</a:t>
            </a:r>
            <a:r>
              <a:rPr lang="en-US" dirty="0"/>
              <a:t> network interconnections</a:t>
            </a:r>
            <a:endParaRPr lang="en-IN" dirty="0"/>
          </a:p>
        </p:txBody>
      </p:sp>
    </p:spTree>
    <p:extLst>
      <p:ext uri="{BB962C8B-B14F-4D97-AF65-F5344CB8AC3E}">
        <p14:creationId xmlns:p14="http://schemas.microsoft.com/office/powerpoint/2010/main" val="5966726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6D5C8-3853-DFB7-F1D6-45E78DADAA3A}"/>
              </a:ext>
            </a:extLst>
          </p:cNvPr>
          <p:cNvSpPr>
            <a:spLocks noGrp="1"/>
          </p:cNvSpPr>
          <p:nvPr>
            <p:ph type="title"/>
          </p:nvPr>
        </p:nvSpPr>
        <p:spPr>
          <a:xfrm>
            <a:off x="838200" y="365125"/>
            <a:ext cx="10515600" cy="808355"/>
          </a:xfrm>
        </p:spPr>
        <p:txBody>
          <a:bodyPr/>
          <a:lstStyle/>
          <a:p>
            <a:r>
              <a:rPr lang="en-US" dirty="0"/>
              <a:t>Physical models</a:t>
            </a:r>
            <a:endParaRPr lang="en-IN" dirty="0"/>
          </a:p>
        </p:txBody>
      </p:sp>
      <p:sp>
        <p:nvSpPr>
          <p:cNvPr id="3" name="Content Placeholder 2">
            <a:extLst>
              <a:ext uri="{FF2B5EF4-FFF2-40B4-BE49-F238E27FC236}">
                <a16:creationId xmlns:a16="http://schemas.microsoft.com/office/drawing/2014/main" id="{2A04595E-2CEA-D790-27B9-46032365DD39}"/>
              </a:ext>
            </a:extLst>
          </p:cNvPr>
          <p:cNvSpPr>
            <a:spLocks noGrp="1"/>
          </p:cNvSpPr>
          <p:nvPr>
            <p:ph idx="1"/>
          </p:nvPr>
        </p:nvSpPr>
        <p:spPr>
          <a:xfrm>
            <a:off x="838200" y="1173480"/>
            <a:ext cx="10515600" cy="5319395"/>
          </a:xfrm>
        </p:spPr>
        <p:txBody>
          <a:bodyPr/>
          <a:lstStyle/>
          <a:p>
            <a:r>
              <a:rPr lang="en-US" dirty="0">
                <a:solidFill>
                  <a:srgbClr val="0000FF"/>
                </a:solidFill>
              </a:rPr>
              <a:t>Physical models </a:t>
            </a:r>
            <a:r>
              <a:rPr lang="en-US" dirty="0"/>
              <a:t>are the most explicit way in which to describe a system; they capture the hardware composition of a system in terms of the computers (and other devices, such as mobile phones) and their interconnecting networks.</a:t>
            </a:r>
          </a:p>
          <a:p>
            <a:pPr algn="just"/>
            <a:r>
              <a:rPr lang="en-US" dirty="0"/>
              <a:t>A physical model is a representation of the underlying </a:t>
            </a:r>
            <a:r>
              <a:rPr lang="en-US" dirty="0">
                <a:solidFill>
                  <a:srgbClr val="0000FF"/>
                </a:solidFill>
              </a:rPr>
              <a:t>hardware elements of a distributed system </a:t>
            </a:r>
            <a:r>
              <a:rPr lang="en-US" dirty="0"/>
              <a:t>that abstracts away from specific details of the computer and networking technologies employed</a:t>
            </a:r>
            <a:endParaRPr lang="en-IN" dirty="0"/>
          </a:p>
          <a:p>
            <a:pPr marL="514350" indent="-514350">
              <a:buFont typeface="+mj-lt"/>
              <a:buAutoNum type="arabicPeriod"/>
            </a:pPr>
            <a:r>
              <a:rPr lang="en-IN" dirty="0"/>
              <a:t>Baseline physical model</a:t>
            </a:r>
          </a:p>
          <a:p>
            <a:pPr marL="514350" indent="-514350">
              <a:buFont typeface="+mj-lt"/>
              <a:buAutoNum type="arabicPeriod"/>
            </a:pPr>
            <a:r>
              <a:rPr lang="en-IN" dirty="0"/>
              <a:t>Early distributed systems</a:t>
            </a:r>
          </a:p>
          <a:p>
            <a:pPr marL="514350" indent="-514350">
              <a:buFont typeface="+mj-lt"/>
              <a:buAutoNum type="arabicPeriod"/>
            </a:pPr>
            <a:r>
              <a:rPr lang="en-IN" dirty="0"/>
              <a:t>Internet-scale distributed systems</a:t>
            </a:r>
          </a:p>
          <a:p>
            <a:pPr marL="514350" indent="-514350">
              <a:buFont typeface="+mj-lt"/>
              <a:buAutoNum type="arabicPeriod"/>
            </a:pPr>
            <a:r>
              <a:rPr lang="en-IN" dirty="0"/>
              <a:t>Contemporary distributed systems</a:t>
            </a:r>
          </a:p>
          <a:p>
            <a:endParaRPr lang="en-IN" dirty="0"/>
          </a:p>
        </p:txBody>
      </p:sp>
    </p:spTree>
    <p:extLst>
      <p:ext uri="{BB962C8B-B14F-4D97-AF65-F5344CB8AC3E}">
        <p14:creationId xmlns:p14="http://schemas.microsoft.com/office/powerpoint/2010/main" val="1427755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F309B-5D8E-DA6C-D13F-5FA5BEE19EE0}"/>
              </a:ext>
            </a:extLst>
          </p:cNvPr>
          <p:cNvSpPr>
            <a:spLocks noGrp="1"/>
          </p:cNvSpPr>
          <p:nvPr>
            <p:ph type="title"/>
          </p:nvPr>
        </p:nvSpPr>
        <p:spPr>
          <a:xfrm>
            <a:off x="838200" y="868993"/>
            <a:ext cx="10515600" cy="716915"/>
          </a:xfrm>
        </p:spPr>
        <p:txBody>
          <a:bodyPr>
            <a:normAutofit fontScale="90000"/>
          </a:bodyPr>
          <a:lstStyle/>
          <a:p>
            <a:r>
              <a:rPr lang="en-IN" dirty="0"/>
              <a:t>Significant challenges associated with Contemporary Distributed systems</a:t>
            </a:r>
            <a:br>
              <a:rPr lang="en-IN" dirty="0"/>
            </a:br>
            <a:endParaRPr lang="en-IN" dirty="0"/>
          </a:p>
        </p:txBody>
      </p:sp>
      <p:pic>
        <p:nvPicPr>
          <p:cNvPr id="4" name="Content Placeholder 3">
            <a:extLst>
              <a:ext uri="{FF2B5EF4-FFF2-40B4-BE49-F238E27FC236}">
                <a16:creationId xmlns:a16="http://schemas.microsoft.com/office/drawing/2014/main" id="{AD7F4037-4BED-7BD5-3940-9A0710A3CF9B}"/>
              </a:ext>
            </a:extLst>
          </p:cNvPr>
          <p:cNvPicPr>
            <a:picLocks noGrp="1" noChangeAspect="1"/>
          </p:cNvPicPr>
          <p:nvPr>
            <p:ph idx="1"/>
          </p:nvPr>
        </p:nvPicPr>
        <p:blipFill rotWithShape="1">
          <a:blip r:embed="rId2"/>
          <a:srcRect l="21819" t="42676" r="28042" b="13480"/>
          <a:stretch/>
        </p:blipFill>
        <p:spPr>
          <a:xfrm>
            <a:off x="731520" y="1585908"/>
            <a:ext cx="9980863" cy="4906967"/>
          </a:xfrm>
          <a:prstGeom prst="rect">
            <a:avLst/>
          </a:prstGeom>
        </p:spPr>
      </p:pic>
    </p:spTree>
    <p:extLst>
      <p:ext uri="{BB962C8B-B14F-4D97-AF65-F5344CB8AC3E}">
        <p14:creationId xmlns:p14="http://schemas.microsoft.com/office/powerpoint/2010/main" val="37905973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A4641-140F-26F5-C6F4-FA7702186789}"/>
              </a:ext>
            </a:extLst>
          </p:cNvPr>
          <p:cNvSpPr>
            <a:spLocks noGrp="1"/>
          </p:cNvSpPr>
          <p:nvPr>
            <p:ph type="title"/>
          </p:nvPr>
        </p:nvSpPr>
        <p:spPr>
          <a:xfrm>
            <a:off x="838200" y="365125"/>
            <a:ext cx="10515600" cy="975995"/>
          </a:xfrm>
        </p:spPr>
        <p:txBody>
          <a:bodyPr/>
          <a:lstStyle/>
          <a:p>
            <a:r>
              <a:rPr lang="en-US" dirty="0">
                <a:solidFill>
                  <a:srgbClr val="0000FF"/>
                </a:solidFill>
              </a:rPr>
              <a:t>Architectural Models</a:t>
            </a:r>
            <a:endParaRPr lang="en-IN" dirty="0"/>
          </a:p>
        </p:txBody>
      </p:sp>
      <p:sp>
        <p:nvSpPr>
          <p:cNvPr id="3" name="Content Placeholder 2">
            <a:extLst>
              <a:ext uri="{FF2B5EF4-FFF2-40B4-BE49-F238E27FC236}">
                <a16:creationId xmlns:a16="http://schemas.microsoft.com/office/drawing/2014/main" id="{E5E23D69-71AB-C33F-D63B-9D191186682C}"/>
              </a:ext>
            </a:extLst>
          </p:cNvPr>
          <p:cNvSpPr>
            <a:spLocks noGrp="1"/>
          </p:cNvSpPr>
          <p:nvPr>
            <p:ph idx="1"/>
          </p:nvPr>
        </p:nvSpPr>
        <p:spPr>
          <a:xfrm>
            <a:off x="609600" y="1341120"/>
            <a:ext cx="10744200" cy="4835843"/>
          </a:xfrm>
        </p:spPr>
        <p:txBody>
          <a:bodyPr>
            <a:normAutofit fontScale="77500" lnSpcReduction="20000"/>
          </a:bodyPr>
          <a:lstStyle/>
          <a:p>
            <a:pPr algn="just"/>
            <a:r>
              <a:rPr lang="en-US" dirty="0"/>
              <a:t>The architecture of a system is its structure in terms of separately specified components and their interrelationships. </a:t>
            </a:r>
          </a:p>
          <a:p>
            <a:pPr algn="just"/>
            <a:r>
              <a:rPr lang="en-US" dirty="0"/>
              <a:t>The overall goal is to ensure that the structure will meet present and likely future demands on it. </a:t>
            </a:r>
          </a:p>
          <a:p>
            <a:pPr algn="just"/>
            <a:r>
              <a:rPr lang="en-US" dirty="0"/>
              <a:t>Major concerns are to make the system reliable, manageable, adaptable and cost-effective. </a:t>
            </a:r>
          </a:p>
          <a:p>
            <a:r>
              <a:rPr lang="en-US" dirty="0"/>
              <a:t>The architectural design of a building has similar aspects – it determines not only its appearance but also its general structure and architectural style (gothic, neo-classical, modern) and provides a consistent frame of reference for the </a:t>
            </a:r>
            <a:r>
              <a:rPr lang="en-US" dirty="0" err="1"/>
              <a:t>designHow</a:t>
            </a:r>
            <a:r>
              <a:rPr lang="en-US" dirty="0"/>
              <a:t> do they communicate, or, more specifically, what communication paradigm is used?</a:t>
            </a:r>
          </a:p>
          <a:p>
            <a:pPr marL="514350" indent="-514350">
              <a:buFont typeface="+mj-lt"/>
              <a:buAutoNum type="arabicPeriod"/>
            </a:pPr>
            <a:r>
              <a:rPr lang="en-US" dirty="0"/>
              <a:t>Communication paradigms </a:t>
            </a:r>
          </a:p>
          <a:p>
            <a:r>
              <a:rPr lang="en-US" dirty="0"/>
              <a:t>• How entities communicate in a distributed system, and consider three types of communication paradigm: </a:t>
            </a:r>
          </a:p>
          <a:p>
            <a:pPr marL="514350" indent="-514350">
              <a:buFont typeface="+mj-lt"/>
              <a:buAutoNum type="arabicPeriod"/>
            </a:pPr>
            <a:r>
              <a:rPr lang="en-US" dirty="0"/>
              <a:t>Interposes communication;</a:t>
            </a:r>
          </a:p>
          <a:p>
            <a:pPr marL="514350" indent="-514350">
              <a:buFont typeface="+mj-lt"/>
              <a:buAutoNum type="arabicPeriod"/>
            </a:pPr>
            <a:r>
              <a:rPr lang="en-US" dirty="0"/>
              <a:t>Remote invocation; </a:t>
            </a:r>
          </a:p>
          <a:p>
            <a:pPr marL="514350" indent="-514350">
              <a:buFont typeface="+mj-lt"/>
              <a:buAutoNum type="arabicPeriod"/>
            </a:pPr>
            <a:r>
              <a:rPr lang="en-US" dirty="0"/>
              <a:t>Indirect communication.</a:t>
            </a:r>
            <a:endParaRPr lang="en-IN" dirty="0"/>
          </a:p>
          <a:p>
            <a:endParaRPr lang="en-IN" dirty="0"/>
          </a:p>
        </p:txBody>
      </p:sp>
    </p:spTree>
    <p:extLst>
      <p:ext uri="{BB962C8B-B14F-4D97-AF65-F5344CB8AC3E}">
        <p14:creationId xmlns:p14="http://schemas.microsoft.com/office/powerpoint/2010/main" val="14260613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76904-1A86-DD91-C81A-A7EB2CBFDFAC}"/>
              </a:ext>
            </a:extLst>
          </p:cNvPr>
          <p:cNvSpPr>
            <a:spLocks noGrp="1"/>
          </p:cNvSpPr>
          <p:nvPr>
            <p:ph type="title"/>
          </p:nvPr>
        </p:nvSpPr>
        <p:spPr/>
        <p:txBody>
          <a:bodyPr/>
          <a:lstStyle/>
          <a:p>
            <a:r>
              <a:rPr lang="en-US" dirty="0"/>
              <a:t>Communicating entities </a:t>
            </a:r>
            <a:endParaRPr lang="en-IN" dirty="0"/>
          </a:p>
        </p:txBody>
      </p:sp>
      <p:sp>
        <p:nvSpPr>
          <p:cNvPr id="3" name="Content Placeholder 2">
            <a:extLst>
              <a:ext uri="{FF2B5EF4-FFF2-40B4-BE49-F238E27FC236}">
                <a16:creationId xmlns:a16="http://schemas.microsoft.com/office/drawing/2014/main" id="{A6201CB4-E2C0-562D-615E-81B1C14CBFCD}"/>
              </a:ext>
            </a:extLst>
          </p:cNvPr>
          <p:cNvSpPr>
            <a:spLocks noGrp="1"/>
          </p:cNvSpPr>
          <p:nvPr>
            <p:ph idx="1"/>
          </p:nvPr>
        </p:nvSpPr>
        <p:spPr>
          <a:xfrm>
            <a:off x="731520" y="1690687"/>
            <a:ext cx="10622280" cy="4542473"/>
          </a:xfrm>
        </p:spPr>
        <p:txBody>
          <a:bodyPr/>
          <a:lstStyle/>
          <a:p>
            <a:pPr algn="just"/>
            <a:r>
              <a:rPr lang="en-US" dirty="0"/>
              <a:t>In distributed </a:t>
            </a:r>
            <a:r>
              <a:rPr lang="en-US" dirty="0">
                <a:solidFill>
                  <a:srgbClr val="FF0000"/>
                </a:solidFill>
              </a:rPr>
              <a:t>object-based approaches</a:t>
            </a:r>
            <a:r>
              <a:rPr lang="en-US" dirty="0"/>
              <a:t>, a computation consists of a number of interacting objects representing natural units of decomposition for the given problem domain. </a:t>
            </a:r>
          </a:p>
          <a:p>
            <a:pPr algn="just"/>
            <a:r>
              <a:rPr lang="en-US" dirty="0">
                <a:solidFill>
                  <a:srgbClr val="FF0000"/>
                </a:solidFill>
              </a:rPr>
              <a:t>Objects are accessed via interfaces, with an associated interface definition language (or IDL) </a:t>
            </a:r>
            <a:r>
              <a:rPr lang="en-US" dirty="0"/>
              <a:t>providing a specification of the methods defined on an object. Distributed objects have become a major area of study in distributed systems.</a:t>
            </a:r>
          </a:p>
          <a:p>
            <a:pPr algn="just"/>
            <a:r>
              <a:rPr lang="en-US" dirty="0"/>
              <a:t>Component-based middleware often provides additional support for key areas such as deployment and support for server-side programming.</a:t>
            </a:r>
            <a:endParaRPr lang="en-IN" dirty="0"/>
          </a:p>
          <a:p>
            <a:endParaRPr lang="en-IN" dirty="0"/>
          </a:p>
        </p:txBody>
      </p:sp>
    </p:spTree>
    <p:extLst>
      <p:ext uri="{BB962C8B-B14F-4D97-AF65-F5344CB8AC3E}">
        <p14:creationId xmlns:p14="http://schemas.microsoft.com/office/powerpoint/2010/main" val="5902282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F9FDB-C09C-E6BD-DD78-A977A8F3ECB4}"/>
              </a:ext>
            </a:extLst>
          </p:cNvPr>
          <p:cNvSpPr>
            <a:spLocks noGrp="1"/>
          </p:cNvSpPr>
          <p:nvPr>
            <p:ph type="title"/>
          </p:nvPr>
        </p:nvSpPr>
        <p:spPr/>
        <p:txBody>
          <a:bodyPr/>
          <a:lstStyle/>
          <a:p>
            <a:r>
              <a:rPr lang="en-US" dirty="0"/>
              <a:t>Interfaces in Programming Languages</a:t>
            </a:r>
            <a:endParaRPr lang="en-IN" dirty="0"/>
          </a:p>
        </p:txBody>
      </p:sp>
      <p:sp>
        <p:nvSpPr>
          <p:cNvPr id="3" name="Content Placeholder 2">
            <a:extLst>
              <a:ext uri="{FF2B5EF4-FFF2-40B4-BE49-F238E27FC236}">
                <a16:creationId xmlns:a16="http://schemas.microsoft.com/office/drawing/2014/main" id="{699AB67A-A15A-BBF3-ACCA-EF1E9A3CEC26}"/>
              </a:ext>
            </a:extLst>
          </p:cNvPr>
          <p:cNvSpPr>
            <a:spLocks noGrp="1"/>
          </p:cNvSpPr>
          <p:nvPr>
            <p:ph idx="1"/>
          </p:nvPr>
        </p:nvSpPr>
        <p:spPr/>
        <p:txBody>
          <a:bodyPr/>
          <a:lstStyle/>
          <a:p>
            <a:pPr algn="just"/>
            <a:r>
              <a:rPr lang="en-US" dirty="0"/>
              <a:t>Current PL allow programs to be developed as a set of modules that communicate with each other. </a:t>
            </a:r>
          </a:p>
          <a:p>
            <a:pPr algn="just"/>
            <a:r>
              <a:rPr lang="en-US" dirty="0"/>
              <a:t>A specified interface can be implemented by different modules without the need to modify other modules using the interface </a:t>
            </a:r>
          </a:p>
          <a:p>
            <a:pPr algn="just"/>
            <a:r>
              <a:rPr lang="en-US" b="1" dirty="0">
                <a:solidFill>
                  <a:srgbClr val="0000FF"/>
                </a:solidFill>
              </a:rPr>
              <a:t>Interfaces in Distributed Systems </a:t>
            </a:r>
            <a:r>
              <a:rPr lang="en-US" dirty="0"/>
              <a:t>– </a:t>
            </a:r>
            <a:r>
              <a:rPr lang="en-US" dirty="0">
                <a:solidFill>
                  <a:srgbClr val="FF0000"/>
                </a:solidFill>
              </a:rPr>
              <a:t>When modules are in different processes or on different hosts there are limitations on the interactions that can occur. </a:t>
            </a:r>
          </a:p>
          <a:p>
            <a:pPr algn="just"/>
            <a:r>
              <a:rPr lang="en-US" dirty="0"/>
              <a:t>Only actions with parameters that are fully specified and understood can communicate effectively to request or provide services to modules in another process</a:t>
            </a:r>
            <a:endParaRPr lang="en-IN" dirty="0"/>
          </a:p>
          <a:p>
            <a:endParaRPr lang="en-IN" dirty="0"/>
          </a:p>
        </p:txBody>
      </p:sp>
    </p:spTree>
    <p:extLst>
      <p:ext uri="{BB962C8B-B14F-4D97-AF65-F5344CB8AC3E}">
        <p14:creationId xmlns:p14="http://schemas.microsoft.com/office/powerpoint/2010/main" val="13102337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Ctd. </a:t>
            </a:r>
            <a:endParaRPr lang="en-IN" dirty="0"/>
          </a:p>
        </p:txBody>
      </p:sp>
      <p:sp>
        <p:nvSpPr>
          <p:cNvPr id="3" name="Content Placeholder 2"/>
          <p:cNvSpPr>
            <a:spLocks noGrp="1"/>
          </p:cNvSpPr>
          <p:nvPr>
            <p:ph idx="1"/>
          </p:nvPr>
        </p:nvSpPr>
        <p:spPr/>
        <p:txBody>
          <a:bodyPr/>
          <a:lstStyle/>
          <a:p>
            <a:r>
              <a:rPr lang="en-US" dirty="0"/>
              <a:t> A </a:t>
            </a:r>
            <a:r>
              <a:rPr lang="en-US" dirty="0">
                <a:solidFill>
                  <a:srgbClr val="FF0000"/>
                </a:solidFill>
              </a:rPr>
              <a:t>service interface allows </a:t>
            </a:r>
            <a:r>
              <a:rPr lang="en-US" dirty="0"/>
              <a:t>a client to request and a server to provide particular services – A remote interface allows objects to be passed as arguments to and results from distributed modules</a:t>
            </a:r>
            <a:endParaRPr lang="en-IN" dirty="0"/>
          </a:p>
          <a:p>
            <a:pPr marL="0" indent="0">
              <a:buNone/>
            </a:pPr>
            <a:r>
              <a:rPr lang="en-US" dirty="0"/>
              <a:t> </a:t>
            </a:r>
            <a:r>
              <a:rPr lang="en-US" b="1" dirty="0">
                <a:solidFill>
                  <a:srgbClr val="0000FF"/>
                </a:solidFill>
              </a:rPr>
              <a:t>Object Interfaces </a:t>
            </a:r>
          </a:p>
          <a:p>
            <a:pPr algn="just"/>
            <a:r>
              <a:rPr lang="en-US" dirty="0"/>
              <a:t>An interface defines the signatures of a set of methods, including arguments, argument types, return values and exceptions. Implementation details are not included in an interface. </a:t>
            </a:r>
          </a:p>
          <a:p>
            <a:pPr algn="just"/>
            <a:r>
              <a:rPr lang="en-US" dirty="0"/>
              <a:t>A class may implement an interface by specifying behavior for each method in the interface. Interfaces do not have constructors.</a:t>
            </a:r>
            <a:endParaRPr lang="en-IN" dirty="0"/>
          </a:p>
          <a:p>
            <a:endParaRPr lang="en-IN" dirty="0"/>
          </a:p>
        </p:txBody>
      </p:sp>
    </p:spTree>
    <p:extLst>
      <p:ext uri="{BB962C8B-B14F-4D97-AF65-F5344CB8AC3E}">
        <p14:creationId xmlns:p14="http://schemas.microsoft.com/office/powerpoint/2010/main" val="15879780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1"/>
          <p:cNvSpPr>
            <a:spLocks/>
          </p:cNvSpPr>
          <p:nvPr/>
        </p:nvSpPr>
        <p:spPr bwMode="auto">
          <a:xfrm>
            <a:off x="3506788" y="6330950"/>
            <a:ext cx="55626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40640" bIns="0" anchor="b"/>
          <a:lstStyle>
            <a:lvl1pPr marL="39688">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algn="ctr">
              <a:spcBef>
                <a:spcPts val="500"/>
              </a:spcBef>
            </a:pPr>
            <a:r>
              <a:rPr lang="en-US" altLang="en-US" sz="800" dirty="0">
                <a:solidFill>
                  <a:schemeClr val="tx1"/>
                </a:solidFill>
                <a:cs typeface="Times" panose="02020603050405020304" pitchFamily="18" charset="0"/>
              </a:rPr>
              <a:t>Instructor’s Guide for  </a:t>
            </a:r>
            <a:r>
              <a:rPr lang="en-US" altLang="en-US" sz="800" dirty="0" err="1">
                <a:solidFill>
                  <a:schemeClr val="tx1"/>
                </a:solidFill>
                <a:cs typeface="Times" panose="02020603050405020304" pitchFamily="18" charset="0"/>
              </a:rPr>
              <a:t>Coulouris</a:t>
            </a:r>
            <a:r>
              <a:rPr lang="en-US" altLang="en-US" sz="800" dirty="0">
                <a:solidFill>
                  <a:schemeClr val="tx1"/>
                </a:solidFill>
                <a:cs typeface="Times" panose="02020603050405020304" pitchFamily="18" charset="0"/>
              </a:rPr>
              <a:t>, </a:t>
            </a:r>
            <a:r>
              <a:rPr lang="en-US" altLang="en-US" sz="800" dirty="0" err="1">
                <a:solidFill>
                  <a:schemeClr val="tx1"/>
                </a:solidFill>
                <a:cs typeface="Times" panose="02020603050405020304" pitchFamily="18" charset="0"/>
              </a:rPr>
              <a:t>Dollimore</a:t>
            </a:r>
            <a:r>
              <a:rPr lang="en-US" altLang="en-US" sz="800" dirty="0">
                <a:solidFill>
                  <a:schemeClr val="tx1"/>
                </a:solidFill>
                <a:cs typeface="Times" panose="02020603050405020304" pitchFamily="18" charset="0"/>
              </a:rPr>
              <a:t>, </a:t>
            </a:r>
            <a:r>
              <a:rPr lang="en-US" altLang="en-US" sz="800" dirty="0" err="1">
                <a:solidFill>
                  <a:schemeClr val="tx1"/>
                </a:solidFill>
                <a:cs typeface="Times" panose="02020603050405020304" pitchFamily="18" charset="0"/>
              </a:rPr>
              <a:t>Kindberg</a:t>
            </a:r>
            <a:r>
              <a:rPr lang="en-US" altLang="en-US" sz="800" dirty="0">
                <a:solidFill>
                  <a:schemeClr val="tx1"/>
                </a:solidFill>
                <a:cs typeface="Times" panose="02020603050405020304" pitchFamily="18" charset="0"/>
              </a:rPr>
              <a:t> and Blair,  Distributed Systems: Concepts and Design   </a:t>
            </a:r>
            <a:r>
              <a:rPr lang="en-US" altLang="en-US" sz="800" dirty="0" err="1">
                <a:solidFill>
                  <a:schemeClr val="tx1"/>
                </a:solidFill>
                <a:cs typeface="Times" panose="02020603050405020304" pitchFamily="18" charset="0"/>
              </a:rPr>
              <a:t>Edn</a:t>
            </a:r>
            <a:r>
              <a:rPr lang="en-US" altLang="en-US" sz="800" dirty="0">
                <a:solidFill>
                  <a:schemeClr val="tx1"/>
                </a:solidFill>
                <a:cs typeface="Times" panose="02020603050405020304" pitchFamily="18" charset="0"/>
              </a:rPr>
              <a:t>. 5   </a:t>
            </a:r>
            <a:br>
              <a:rPr lang="en-US" altLang="en-US" sz="800" dirty="0">
                <a:solidFill>
                  <a:schemeClr val="tx1"/>
                </a:solidFill>
                <a:cs typeface="Times" panose="02020603050405020304" pitchFamily="18" charset="0"/>
              </a:rPr>
            </a:br>
            <a:r>
              <a:rPr lang="en-US" altLang="en-US" sz="800" dirty="0">
                <a:solidFill>
                  <a:schemeClr val="tx1"/>
                </a:solidFill>
                <a:cs typeface="Times" panose="02020603050405020304" pitchFamily="18" charset="0"/>
              </a:rPr>
              <a:t>©  Pearson Education 2012 </a:t>
            </a:r>
          </a:p>
        </p:txBody>
      </p:sp>
      <p:sp>
        <p:nvSpPr>
          <p:cNvPr id="5125" name="Rectangle 3"/>
          <p:cNvSpPr>
            <a:spLocks noGrp="1" noChangeArrowheads="1"/>
          </p:cNvSpPr>
          <p:nvPr>
            <p:ph type="title"/>
          </p:nvPr>
        </p:nvSpPr>
        <p:spPr>
          <a:xfrm>
            <a:off x="838200" y="209550"/>
            <a:ext cx="10515600" cy="1325563"/>
          </a:xfrm>
        </p:spPr>
        <p:txBody>
          <a:bodyPr vert="horz" lIns="91440" tIns="45720" rIns="132080" bIns="45720" rtlCol="0" anchor="ctr">
            <a:normAutofit/>
          </a:bodyPr>
          <a:lstStyle/>
          <a:p>
            <a:pPr eaLnBrk="1" hangingPunct="1"/>
            <a:r>
              <a:rPr lang="en-US" altLang="en-US" dirty="0"/>
              <a:t>Communicating entities and communication paradigms</a:t>
            </a:r>
          </a:p>
        </p:txBody>
      </p:sp>
      <p:pic>
        <p:nvPicPr>
          <p:cNvPr id="512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2130" y="1535113"/>
            <a:ext cx="9551916" cy="5186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round/>
                <a:headEnd/>
                <a:tailEnd/>
              </a14:hiddenLine>
            </a:ext>
          </a:extLst>
        </p:spPr>
      </p:pic>
    </p:spTree>
    <p:extLst>
      <p:ext uri="{BB962C8B-B14F-4D97-AF65-F5344CB8AC3E}">
        <p14:creationId xmlns:p14="http://schemas.microsoft.com/office/powerpoint/2010/main" val="13778111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01472" y="257577"/>
            <a:ext cx="10515600" cy="1325563"/>
          </a:xfrm>
        </p:spPr>
        <p:txBody>
          <a:bodyPr>
            <a:normAutofit/>
          </a:bodyPr>
          <a:lstStyle/>
          <a:p>
            <a:r>
              <a:rPr lang="en-IN" altLang="en-US" sz="3600" dirty="0"/>
              <a:t>Architectural Elements and Communicating Paradigms</a:t>
            </a:r>
            <a:br>
              <a:rPr lang="en-IN" altLang="en-US" sz="3600" dirty="0"/>
            </a:br>
            <a:endParaRPr lang="en-IN" altLang="en-US" sz="3600" dirty="0"/>
          </a:p>
        </p:txBody>
      </p:sp>
      <p:sp>
        <p:nvSpPr>
          <p:cNvPr id="6147" name="Content Placeholder 2"/>
          <p:cNvSpPr>
            <a:spLocks noGrp="1"/>
          </p:cNvSpPr>
          <p:nvPr>
            <p:ph idx="1"/>
          </p:nvPr>
        </p:nvSpPr>
        <p:spPr>
          <a:xfrm>
            <a:off x="1187356" y="1583140"/>
            <a:ext cx="7898594" cy="4500373"/>
          </a:xfrm>
        </p:spPr>
        <p:txBody>
          <a:bodyPr>
            <a:noAutofit/>
          </a:bodyPr>
          <a:lstStyle/>
          <a:p>
            <a:r>
              <a:rPr lang="en-IN" altLang="en-US" sz="3200" dirty="0">
                <a:solidFill>
                  <a:srgbClr val="FF0000"/>
                </a:solidFill>
              </a:rPr>
              <a:t>Elements</a:t>
            </a:r>
          </a:p>
          <a:p>
            <a:pPr marL="514350" indent="-514350">
              <a:buFont typeface="+mj-lt"/>
              <a:buAutoNum type="arabicPeriod"/>
            </a:pPr>
            <a:r>
              <a:rPr lang="en-IN" altLang="en-US" sz="3200" dirty="0"/>
              <a:t>Objects</a:t>
            </a:r>
          </a:p>
          <a:p>
            <a:pPr marL="514350" indent="-514350">
              <a:buFont typeface="+mj-lt"/>
              <a:buAutoNum type="arabicPeriod"/>
            </a:pPr>
            <a:r>
              <a:rPr lang="en-IN" altLang="en-US" sz="3200" dirty="0"/>
              <a:t>Components</a:t>
            </a:r>
          </a:p>
          <a:p>
            <a:pPr marL="514350" indent="-514350">
              <a:buFont typeface="+mj-lt"/>
              <a:buAutoNum type="arabicPeriod"/>
            </a:pPr>
            <a:r>
              <a:rPr lang="en-IN" altLang="en-US" sz="3200" dirty="0"/>
              <a:t>Web services</a:t>
            </a:r>
          </a:p>
          <a:p>
            <a:r>
              <a:rPr lang="en-IN" altLang="en-US" sz="3200" dirty="0">
                <a:solidFill>
                  <a:srgbClr val="FF0000"/>
                </a:solidFill>
              </a:rPr>
              <a:t>Communicating paradigms</a:t>
            </a:r>
          </a:p>
          <a:p>
            <a:pPr marL="514350" indent="-514350">
              <a:buFont typeface="+mj-lt"/>
              <a:buAutoNum type="arabicPeriod"/>
            </a:pPr>
            <a:r>
              <a:rPr lang="en-IN" altLang="en-US" sz="3200" dirty="0"/>
              <a:t>Inter process Communication IPC</a:t>
            </a:r>
          </a:p>
          <a:p>
            <a:pPr marL="514350" indent="-514350">
              <a:buFont typeface="+mj-lt"/>
              <a:buAutoNum type="arabicPeriod"/>
            </a:pPr>
            <a:r>
              <a:rPr lang="en-IN" altLang="en-US" sz="3200" dirty="0"/>
              <a:t>Remote invocation RI</a:t>
            </a:r>
          </a:p>
          <a:p>
            <a:pPr marL="514350" indent="-514350">
              <a:buFont typeface="+mj-lt"/>
              <a:buAutoNum type="arabicPeriod"/>
            </a:pPr>
            <a:r>
              <a:rPr lang="en-IN" altLang="en-US" sz="3200" dirty="0"/>
              <a:t>Indirect Communication</a:t>
            </a:r>
          </a:p>
        </p:txBody>
      </p:sp>
    </p:spTree>
    <p:extLst>
      <p:ext uri="{BB962C8B-B14F-4D97-AF65-F5344CB8AC3E}">
        <p14:creationId xmlns:p14="http://schemas.microsoft.com/office/powerpoint/2010/main" val="23266305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IN" altLang="en-US" dirty="0"/>
              <a:t>IPC</a:t>
            </a:r>
          </a:p>
        </p:txBody>
      </p:sp>
      <p:sp>
        <p:nvSpPr>
          <p:cNvPr id="3" name="Content Placeholder 2"/>
          <p:cNvSpPr>
            <a:spLocks noGrp="1"/>
          </p:cNvSpPr>
          <p:nvPr>
            <p:ph idx="1"/>
          </p:nvPr>
        </p:nvSpPr>
        <p:spPr/>
        <p:txBody>
          <a:bodyPr>
            <a:normAutofit/>
          </a:bodyPr>
          <a:lstStyle/>
          <a:p>
            <a:pPr algn="just">
              <a:defRPr/>
            </a:pPr>
            <a:r>
              <a:rPr lang="en-US" sz="3200" i="1" dirty="0"/>
              <a:t>Inter process communication </a:t>
            </a:r>
            <a:r>
              <a:rPr lang="en-US" sz="3200" dirty="0"/>
              <a:t>refers to the relatively low-level support for communication between processes in distributed systems, </a:t>
            </a:r>
          </a:p>
          <a:p>
            <a:pPr marL="514350" indent="-514350">
              <a:buFont typeface="+mj-lt"/>
              <a:buAutoNum type="arabicPeriod"/>
              <a:defRPr/>
            </a:pPr>
            <a:r>
              <a:rPr lang="en-US" sz="3200" dirty="0"/>
              <a:t>Including message-passing primitives, </a:t>
            </a:r>
          </a:p>
          <a:p>
            <a:pPr marL="514350" indent="-514350">
              <a:buFont typeface="+mj-lt"/>
              <a:buAutoNum type="arabicPeriod"/>
              <a:defRPr/>
            </a:pPr>
            <a:r>
              <a:rPr lang="en-US" sz="3200" dirty="0"/>
              <a:t>Direct access to the API offered by Internet protocols (</a:t>
            </a:r>
            <a:r>
              <a:rPr lang="en-US" sz="3200" dirty="0">
                <a:solidFill>
                  <a:srgbClr val="FF0000"/>
                </a:solidFill>
              </a:rPr>
              <a:t>socket programming</a:t>
            </a:r>
            <a:r>
              <a:rPr lang="en-US" sz="3200" dirty="0"/>
              <a:t>)</a:t>
            </a:r>
          </a:p>
          <a:p>
            <a:pPr marL="514350" indent="-514350">
              <a:buFont typeface="+mj-lt"/>
              <a:buAutoNum type="arabicPeriod"/>
              <a:defRPr/>
            </a:pPr>
            <a:r>
              <a:rPr lang="en-US" sz="3200" dirty="0"/>
              <a:t>Support for multicast communication.</a:t>
            </a:r>
            <a:endParaRPr lang="en-IN" sz="3200" dirty="0"/>
          </a:p>
        </p:txBody>
      </p:sp>
    </p:spTree>
    <p:extLst>
      <p:ext uri="{BB962C8B-B14F-4D97-AF65-F5344CB8AC3E}">
        <p14:creationId xmlns:p14="http://schemas.microsoft.com/office/powerpoint/2010/main" val="32267964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normAutofit/>
          </a:bodyPr>
          <a:lstStyle/>
          <a:p>
            <a:r>
              <a:rPr lang="en-IN" altLang="en-US" sz="4000" dirty="0">
                <a:solidFill>
                  <a:srgbClr val="FF0000"/>
                </a:solidFill>
              </a:rPr>
              <a:t>Remote Invocation</a:t>
            </a:r>
          </a:p>
        </p:txBody>
      </p:sp>
      <p:sp>
        <p:nvSpPr>
          <p:cNvPr id="8195" name="Content Placeholder 2"/>
          <p:cNvSpPr>
            <a:spLocks noGrp="1"/>
          </p:cNvSpPr>
          <p:nvPr>
            <p:ph idx="1"/>
          </p:nvPr>
        </p:nvSpPr>
        <p:spPr>
          <a:xfrm>
            <a:off x="1068456" y="1775999"/>
            <a:ext cx="10055087" cy="4351338"/>
          </a:xfrm>
        </p:spPr>
        <p:txBody>
          <a:bodyPr>
            <a:normAutofit/>
          </a:bodyPr>
          <a:lstStyle/>
          <a:p>
            <a:pPr algn="just"/>
            <a:r>
              <a:rPr lang="en-US" altLang="en-US" sz="3200" i="1" dirty="0"/>
              <a:t>Remote invocation </a:t>
            </a:r>
            <a:r>
              <a:rPr lang="en-US" altLang="en-US" sz="3200" dirty="0"/>
              <a:t>represents the most common communication paradigm in distributed systems,</a:t>
            </a:r>
          </a:p>
          <a:p>
            <a:pPr algn="just"/>
            <a:endParaRPr lang="en-US" altLang="en-US" sz="3200" dirty="0"/>
          </a:p>
          <a:p>
            <a:pPr algn="just"/>
            <a:r>
              <a:rPr lang="en-US" altLang="en-US" sz="3200" dirty="0"/>
              <a:t>Covering a range of techniques based on a</a:t>
            </a:r>
          </a:p>
          <a:p>
            <a:pPr algn="just"/>
            <a:r>
              <a:rPr lang="en-US" altLang="en-US" sz="3200" dirty="0"/>
              <a:t>   Two-way exchange between communicating entities in a distributed system and resulting in the calling of a remote operation, procedure or method,</a:t>
            </a:r>
            <a:endParaRPr lang="en-IN" altLang="en-US" sz="3200" dirty="0"/>
          </a:p>
        </p:txBody>
      </p:sp>
    </p:spTree>
    <p:extLst>
      <p:ext uri="{BB962C8B-B14F-4D97-AF65-F5344CB8AC3E}">
        <p14:creationId xmlns:p14="http://schemas.microsoft.com/office/powerpoint/2010/main" val="37543104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Remote method invocation:</a:t>
            </a:r>
            <a:endParaRPr lang="en-IN" dirty="0"/>
          </a:p>
        </p:txBody>
      </p:sp>
      <p:sp>
        <p:nvSpPr>
          <p:cNvPr id="3" name="Content Placeholder 2"/>
          <p:cNvSpPr>
            <a:spLocks noGrp="1"/>
          </p:cNvSpPr>
          <p:nvPr>
            <p:ph idx="1"/>
          </p:nvPr>
        </p:nvSpPr>
        <p:spPr/>
        <p:txBody>
          <a:bodyPr/>
          <a:lstStyle/>
          <a:p>
            <a:r>
              <a:rPr lang="en-US" dirty="0"/>
              <a:t>Remote method invocation (RMI) strongly resembles remote procedure calls but in a world of distributed objects. </a:t>
            </a:r>
          </a:p>
          <a:p>
            <a:r>
              <a:rPr lang="en-US" dirty="0"/>
              <a:t>With this approach, a calling object can invoke a method in a remote object. </a:t>
            </a:r>
          </a:p>
          <a:p>
            <a:r>
              <a:rPr lang="en-US" dirty="0"/>
              <a:t>As with RPC, the underlying details are generally hidden from the user. </a:t>
            </a:r>
          </a:p>
          <a:p>
            <a:pPr algn="just"/>
            <a:r>
              <a:rPr lang="en-US" dirty="0"/>
              <a:t>RMI implementations may, though, go further by supporting object identity and the associated ability to pass object identifiers as parameters in remote calls</a:t>
            </a:r>
            <a:endParaRPr lang="en-IN" dirty="0"/>
          </a:p>
        </p:txBody>
      </p:sp>
    </p:spTree>
    <p:extLst>
      <p:ext uri="{BB962C8B-B14F-4D97-AF65-F5344CB8AC3E}">
        <p14:creationId xmlns:p14="http://schemas.microsoft.com/office/powerpoint/2010/main" val="23952868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IN" altLang="en-US" sz="2800"/>
              <a:t>Preferred Distributed Communication </a:t>
            </a:r>
          </a:p>
        </p:txBody>
      </p:sp>
      <p:sp>
        <p:nvSpPr>
          <p:cNvPr id="10243" name="Content Placeholder 2"/>
          <p:cNvSpPr>
            <a:spLocks noGrp="1"/>
          </p:cNvSpPr>
          <p:nvPr>
            <p:ph idx="1"/>
          </p:nvPr>
        </p:nvSpPr>
        <p:spPr>
          <a:xfrm>
            <a:off x="838200" y="1507573"/>
            <a:ext cx="10515600" cy="4351338"/>
          </a:xfrm>
        </p:spPr>
        <p:txBody>
          <a:bodyPr>
            <a:normAutofit lnSpcReduction="10000"/>
          </a:bodyPr>
          <a:lstStyle/>
          <a:p>
            <a:r>
              <a:rPr lang="en-IN" altLang="en-US" sz="3200" i="1" dirty="0">
                <a:solidFill>
                  <a:srgbClr val="FF0000"/>
                </a:solidFill>
              </a:rPr>
              <a:t>Remote procedure calls</a:t>
            </a:r>
          </a:p>
          <a:p>
            <a:r>
              <a:rPr lang="en-US" altLang="en-US" dirty="0"/>
              <a:t>RPC works is that a sender or client creates a request in the form of a procedure, function or method call to a remote server, which RPC translates and sends. </a:t>
            </a:r>
          </a:p>
          <a:p>
            <a:pPr>
              <a:buFontTx/>
              <a:buChar char="•"/>
            </a:pPr>
            <a:r>
              <a:rPr lang="en-US" altLang="en-US" dirty="0"/>
              <a:t>When the remote server receives the request, it sends a response back to the client and the application continues its process.</a:t>
            </a:r>
          </a:p>
          <a:p>
            <a:pPr>
              <a:buFontTx/>
              <a:buChar char="•"/>
            </a:pPr>
            <a:r>
              <a:rPr lang="en-US" altLang="en-US" dirty="0"/>
              <a:t>When the server processes the call or request, the client waits for the server to finish processing before resuming its process. </a:t>
            </a:r>
          </a:p>
          <a:p>
            <a:pPr>
              <a:buFontTx/>
              <a:buChar char="•"/>
            </a:pPr>
            <a:r>
              <a:rPr lang="en-US" altLang="en-US" dirty="0"/>
              <a:t>In general, RPC applications use software modules called proxies and stubs, which make them look like local procedure calls (LPC).</a:t>
            </a:r>
          </a:p>
          <a:p>
            <a:endParaRPr lang="en-IN" altLang="en-US" dirty="0"/>
          </a:p>
          <a:p>
            <a:endParaRPr lang="en-IN" altLang="en-US" dirty="0"/>
          </a:p>
        </p:txBody>
      </p:sp>
    </p:spTree>
    <p:extLst>
      <p:ext uri="{BB962C8B-B14F-4D97-AF65-F5344CB8AC3E}">
        <p14:creationId xmlns:p14="http://schemas.microsoft.com/office/powerpoint/2010/main" val="38683564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techniques for indirect communication include</a:t>
            </a:r>
            <a:endParaRPr lang="en-IN" dirty="0"/>
          </a:p>
        </p:txBody>
      </p:sp>
      <p:sp>
        <p:nvSpPr>
          <p:cNvPr id="3" name="Content Placeholder 2"/>
          <p:cNvSpPr>
            <a:spLocks noGrp="1"/>
          </p:cNvSpPr>
          <p:nvPr>
            <p:ph idx="1"/>
          </p:nvPr>
        </p:nvSpPr>
        <p:spPr/>
        <p:txBody>
          <a:bodyPr/>
          <a:lstStyle/>
          <a:p>
            <a:r>
              <a:rPr lang="en-US" dirty="0"/>
              <a:t>Group communication: Group communication is concerned with the delivery of messages to a set of recipients and hence is a multiparty communication paradigm supporting one-to-many communication.</a:t>
            </a:r>
          </a:p>
          <a:p>
            <a:r>
              <a:rPr lang="en-US" dirty="0"/>
              <a:t>Group communication relies on the abstraction of a group which is represented in the system by a group identifier. </a:t>
            </a:r>
          </a:p>
          <a:p>
            <a:r>
              <a:rPr lang="en-US" dirty="0"/>
              <a:t>Group Id , Recipients elect to receive messages sent to a group by joining the group. Senders then send messages to the group via the group identifier</a:t>
            </a:r>
            <a:endParaRPr lang="en-IN" dirty="0"/>
          </a:p>
        </p:txBody>
      </p:sp>
    </p:spTree>
    <p:extLst>
      <p:ext uri="{BB962C8B-B14F-4D97-AF65-F5344CB8AC3E}">
        <p14:creationId xmlns:p14="http://schemas.microsoft.com/office/powerpoint/2010/main" val="243737442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838200" y="347350"/>
            <a:ext cx="10515600" cy="1325563"/>
          </a:xfrm>
        </p:spPr>
        <p:txBody>
          <a:bodyPr>
            <a:normAutofit/>
          </a:bodyPr>
          <a:lstStyle/>
          <a:p>
            <a:r>
              <a:rPr lang="en-IN" altLang="en-US" sz="3200" i="1" dirty="0"/>
              <a:t>Request-reply protocols</a:t>
            </a:r>
          </a:p>
        </p:txBody>
      </p:sp>
      <p:sp>
        <p:nvSpPr>
          <p:cNvPr id="9219" name="Content Placeholder 2"/>
          <p:cNvSpPr>
            <a:spLocks noGrp="1"/>
          </p:cNvSpPr>
          <p:nvPr>
            <p:ph idx="1"/>
          </p:nvPr>
        </p:nvSpPr>
        <p:spPr>
          <a:xfrm>
            <a:off x="705678" y="1507572"/>
            <a:ext cx="10515600" cy="4351338"/>
          </a:xfrm>
        </p:spPr>
        <p:txBody>
          <a:bodyPr>
            <a:noAutofit/>
          </a:bodyPr>
          <a:lstStyle/>
          <a:p>
            <a:r>
              <a:rPr lang="en-US" altLang="en-US" i="1" dirty="0"/>
              <a:t>Request-reply protocols</a:t>
            </a:r>
            <a:r>
              <a:rPr lang="en-US" altLang="en-US" dirty="0"/>
              <a:t>: Request-reply protocols are effectively a pattern imposed on an underlying message-passing service to support client-server computing</a:t>
            </a:r>
          </a:p>
          <a:p>
            <a:r>
              <a:rPr lang="en-US" altLang="en-US" dirty="0"/>
              <a:t>Involve a pairwise exchange of messages from client to server and then from server back to client, with</a:t>
            </a:r>
          </a:p>
          <a:p>
            <a:pPr>
              <a:buFontTx/>
              <a:buChar char="•"/>
            </a:pPr>
            <a:r>
              <a:rPr lang="en-US" altLang="en-US" dirty="0"/>
              <a:t>   first message containing an encoding of the operation to be executed at the server and also an array of bytes holding associated arguments </a:t>
            </a:r>
          </a:p>
          <a:p>
            <a:pPr>
              <a:buFontTx/>
              <a:buChar char="•"/>
            </a:pPr>
            <a:r>
              <a:rPr lang="en-US" altLang="en-US" dirty="0"/>
              <a:t>second message containing any results of the operation, again encoded as an array of bytes.</a:t>
            </a:r>
            <a:endParaRPr lang="en-IN" altLang="en-US" i="1" dirty="0"/>
          </a:p>
        </p:txBody>
      </p:sp>
    </p:spTree>
    <p:extLst>
      <p:ext uri="{BB962C8B-B14F-4D97-AF65-F5344CB8AC3E}">
        <p14:creationId xmlns:p14="http://schemas.microsoft.com/office/powerpoint/2010/main" val="386844032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Request-reply protocols: Request-reply protocols are effectively a pattern imposed on an underlying message-passing service to support client-server computing.</a:t>
            </a:r>
          </a:p>
          <a:p>
            <a:r>
              <a:rPr lang="en-US" dirty="0"/>
              <a:t>involve a pairwise exchange of messages from client to server and then from server back to client</a:t>
            </a:r>
          </a:p>
          <a:p>
            <a:r>
              <a:rPr lang="en-US" dirty="0"/>
              <a:t>The approach is also used in the HTTP protocol</a:t>
            </a:r>
            <a:endParaRPr lang="en-IN" dirty="0"/>
          </a:p>
        </p:txBody>
      </p:sp>
    </p:spTree>
    <p:extLst>
      <p:ext uri="{BB962C8B-B14F-4D97-AF65-F5344CB8AC3E}">
        <p14:creationId xmlns:p14="http://schemas.microsoft.com/office/powerpoint/2010/main" val="36710524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3C1E0-672D-4477-949B-FBBC7D6322E9}"/>
              </a:ext>
            </a:extLst>
          </p:cNvPr>
          <p:cNvSpPr>
            <a:spLocks noGrp="1"/>
          </p:cNvSpPr>
          <p:nvPr>
            <p:ph type="title"/>
          </p:nvPr>
        </p:nvSpPr>
        <p:spPr/>
        <p:txBody>
          <a:bodyPr/>
          <a:lstStyle/>
          <a:p>
            <a:r>
              <a:rPr lang="en-US" dirty="0"/>
              <a:t>Architectural Models</a:t>
            </a:r>
            <a:endParaRPr lang="en-IN" dirty="0"/>
          </a:p>
        </p:txBody>
      </p:sp>
      <p:sp>
        <p:nvSpPr>
          <p:cNvPr id="3" name="Content Placeholder 2">
            <a:extLst>
              <a:ext uri="{FF2B5EF4-FFF2-40B4-BE49-F238E27FC236}">
                <a16:creationId xmlns:a16="http://schemas.microsoft.com/office/drawing/2014/main" id="{83554D18-65E5-43C1-B645-AB4BFE6768F2}"/>
              </a:ext>
            </a:extLst>
          </p:cNvPr>
          <p:cNvSpPr>
            <a:spLocks noGrp="1"/>
          </p:cNvSpPr>
          <p:nvPr>
            <p:ph idx="1"/>
          </p:nvPr>
        </p:nvSpPr>
        <p:spPr/>
        <p:txBody>
          <a:bodyPr/>
          <a:lstStyle/>
          <a:p>
            <a:pPr marL="514350" indent="-514350">
              <a:buFont typeface="+mj-lt"/>
              <a:buAutoNum type="arabicPeriod"/>
            </a:pPr>
            <a:r>
              <a:rPr lang="en-US" dirty="0"/>
              <a:t>Client-Server</a:t>
            </a:r>
          </a:p>
          <a:p>
            <a:pPr marL="514350" indent="-514350">
              <a:buFont typeface="+mj-lt"/>
              <a:buAutoNum type="arabicPeriod"/>
            </a:pPr>
            <a:r>
              <a:rPr lang="en-US" dirty="0"/>
              <a:t>Peer-Peer</a:t>
            </a:r>
          </a:p>
          <a:p>
            <a:pPr marL="514350" indent="-514350">
              <a:buFont typeface="+mj-lt"/>
              <a:buAutoNum type="arabicPeriod"/>
            </a:pPr>
            <a:r>
              <a:rPr lang="en-US" dirty="0"/>
              <a:t>Multi-tier</a:t>
            </a:r>
          </a:p>
          <a:p>
            <a:pPr marL="514350" indent="-514350">
              <a:buFont typeface="+mj-lt"/>
              <a:buAutoNum type="arabicPeriod"/>
            </a:pPr>
            <a:r>
              <a:rPr lang="en-US" dirty="0"/>
              <a:t>Broker architecture</a:t>
            </a:r>
          </a:p>
          <a:p>
            <a:pPr marL="514350" indent="-514350">
              <a:buFont typeface="+mj-lt"/>
              <a:buAutoNum type="arabicPeriod"/>
            </a:pPr>
            <a:r>
              <a:rPr lang="en-US" dirty="0"/>
              <a:t>SOA</a:t>
            </a:r>
          </a:p>
          <a:p>
            <a:pPr marL="514350" indent="-514350">
              <a:buFont typeface="+mj-lt"/>
              <a:buAutoNum type="arabicPeriod"/>
            </a:pPr>
            <a:r>
              <a:rPr lang="en-US" dirty="0"/>
              <a:t>Microservices </a:t>
            </a:r>
            <a:r>
              <a:rPr lang="en-US" dirty="0" err="1"/>
              <a:t>arcgitecture</a:t>
            </a:r>
            <a:endParaRPr lang="en-IN" dirty="0"/>
          </a:p>
        </p:txBody>
      </p:sp>
    </p:spTree>
    <p:extLst>
      <p:ext uri="{BB962C8B-B14F-4D97-AF65-F5344CB8AC3E}">
        <p14:creationId xmlns:p14="http://schemas.microsoft.com/office/powerpoint/2010/main" val="13209511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p:cNvSpPr>
          <p:nvPr/>
        </p:nvSpPr>
        <p:spPr bwMode="auto">
          <a:xfrm>
            <a:off x="3506788" y="6330950"/>
            <a:ext cx="55626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40640" bIns="0" anchor="b"/>
          <a:lstStyle>
            <a:lvl1pPr marL="39688">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algn="ctr">
              <a:spcBef>
                <a:spcPts val="500"/>
              </a:spcBef>
            </a:pPr>
            <a:r>
              <a:rPr lang="en-US" altLang="en-US" sz="800" dirty="0">
                <a:solidFill>
                  <a:schemeClr val="tx1"/>
                </a:solidFill>
                <a:cs typeface="Times" panose="02020603050405020304" pitchFamily="18" charset="0"/>
              </a:rPr>
              <a:t>Instructor’s Guide for  Coulouris, </a:t>
            </a:r>
            <a:r>
              <a:rPr lang="en-US" altLang="en-US" sz="800" dirty="0" err="1">
                <a:solidFill>
                  <a:schemeClr val="tx1"/>
                </a:solidFill>
                <a:cs typeface="Times" panose="02020603050405020304" pitchFamily="18" charset="0"/>
              </a:rPr>
              <a:t>Dollimore</a:t>
            </a:r>
            <a:r>
              <a:rPr lang="en-US" altLang="en-US" sz="800" dirty="0">
                <a:solidFill>
                  <a:schemeClr val="tx1"/>
                </a:solidFill>
                <a:cs typeface="Times" panose="02020603050405020304" pitchFamily="18" charset="0"/>
              </a:rPr>
              <a:t>, </a:t>
            </a:r>
            <a:r>
              <a:rPr lang="en-US" altLang="en-US" sz="800" dirty="0" err="1">
                <a:solidFill>
                  <a:schemeClr val="tx1"/>
                </a:solidFill>
                <a:cs typeface="Times" panose="02020603050405020304" pitchFamily="18" charset="0"/>
              </a:rPr>
              <a:t>Kindberg</a:t>
            </a:r>
            <a:r>
              <a:rPr lang="en-US" altLang="en-US" sz="800" dirty="0">
                <a:solidFill>
                  <a:schemeClr val="tx1"/>
                </a:solidFill>
                <a:cs typeface="Times" panose="02020603050405020304" pitchFamily="18" charset="0"/>
              </a:rPr>
              <a:t> and Blair,  Distributed Systems: Concepts and Design   </a:t>
            </a:r>
            <a:r>
              <a:rPr lang="en-US" altLang="en-US" sz="800" dirty="0" err="1">
                <a:solidFill>
                  <a:schemeClr val="tx1"/>
                </a:solidFill>
                <a:cs typeface="Times" panose="02020603050405020304" pitchFamily="18" charset="0"/>
              </a:rPr>
              <a:t>Edn</a:t>
            </a:r>
            <a:r>
              <a:rPr lang="en-US" altLang="en-US" sz="800" dirty="0">
                <a:solidFill>
                  <a:schemeClr val="tx1"/>
                </a:solidFill>
                <a:cs typeface="Times" panose="02020603050405020304" pitchFamily="18" charset="0"/>
              </a:rPr>
              <a:t>. 5   </a:t>
            </a:r>
            <a:br>
              <a:rPr lang="en-US" altLang="en-US" sz="800" dirty="0">
                <a:solidFill>
                  <a:schemeClr val="tx1"/>
                </a:solidFill>
                <a:cs typeface="Times" panose="02020603050405020304" pitchFamily="18" charset="0"/>
              </a:rPr>
            </a:br>
            <a:r>
              <a:rPr lang="en-US" altLang="en-US" sz="800" dirty="0">
                <a:solidFill>
                  <a:schemeClr val="tx1"/>
                </a:solidFill>
                <a:cs typeface="Times" panose="02020603050405020304" pitchFamily="18" charset="0"/>
              </a:rPr>
              <a:t>©  Pearson Education 2012 </a:t>
            </a:r>
          </a:p>
        </p:txBody>
      </p:sp>
      <p:sp>
        <p:nvSpPr>
          <p:cNvPr id="12292" name="Rectangle 3"/>
          <p:cNvSpPr>
            <a:spLocks noGrp="1" noChangeArrowheads="1"/>
          </p:cNvSpPr>
          <p:nvPr>
            <p:ph type="title"/>
          </p:nvPr>
        </p:nvSpPr>
        <p:spPr>
          <a:xfrm>
            <a:off x="497005" y="30958"/>
            <a:ext cx="10515600" cy="1325563"/>
          </a:xfrm>
        </p:spPr>
        <p:txBody>
          <a:bodyPr vert="horz" lIns="91440" tIns="45720" rIns="132080" bIns="45720" rtlCol="0" anchor="ctr">
            <a:normAutofit/>
          </a:bodyPr>
          <a:lstStyle/>
          <a:p>
            <a:pPr eaLnBrk="1" hangingPunct="1"/>
            <a:br>
              <a:rPr lang="en-US" altLang="en-US" dirty="0"/>
            </a:br>
            <a:r>
              <a:rPr lang="en-US" altLang="en-US" dirty="0"/>
              <a:t>Clients - servers</a:t>
            </a:r>
          </a:p>
        </p:txBody>
      </p:sp>
      <p:pic>
        <p:nvPicPr>
          <p:cNvPr id="12293" name="Picture 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2447" y="2797790"/>
            <a:ext cx="7445305" cy="2934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p:nvPr/>
        </p:nvSpPr>
        <p:spPr>
          <a:xfrm>
            <a:off x="620629" y="1538546"/>
            <a:ext cx="9888939" cy="830997"/>
          </a:xfrm>
          <a:prstGeom prst="rect">
            <a:avLst/>
          </a:prstGeom>
        </p:spPr>
        <p:txBody>
          <a:bodyPr wrap="square">
            <a:spAutoFit/>
          </a:bodyPr>
          <a:lstStyle/>
          <a:p>
            <a:r>
              <a:rPr lang="en-US" sz="2400" dirty="0"/>
              <a:t>Illustrates the simple structure in which processes take on the roles of being clients or servers. </a:t>
            </a:r>
            <a:r>
              <a:rPr lang="en-US" altLang="en-US" sz="2400" dirty="0"/>
              <a:t>Clients invoke individual servers</a:t>
            </a:r>
            <a:endParaRPr lang="en-IN" sz="2400" dirty="0"/>
          </a:p>
        </p:txBody>
      </p:sp>
    </p:spTree>
    <p:extLst>
      <p:ext uri="{BB962C8B-B14F-4D97-AF65-F5344CB8AC3E}">
        <p14:creationId xmlns:p14="http://schemas.microsoft.com/office/powerpoint/2010/main" val="216784328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Client-server:</a:t>
            </a:r>
            <a:endParaRPr lang="en-IN" dirty="0"/>
          </a:p>
        </p:txBody>
      </p:sp>
      <p:sp>
        <p:nvSpPr>
          <p:cNvPr id="3" name="Content Placeholder 2"/>
          <p:cNvSpPr>
            <a:spLocks noGrp="1"/>
          </p:cNvSpPr>
          <p:nvPr>
            <p:ph idx="1"/>
          </p:nvPr>
        </p:nvSpPr>
        <p:spPr/>
        <p:txBody>
          <a:bodyPr>
            <a:normAutofit/>
          </a:bodyPr>
          <a:lstStyle/>
          <a:p>
            <a:pPr algn="just"/>
            <a:r>
              <a:rPr lang="en-US" dirty="0"/>
              <a:t>In particular, client processes interact with individual server processes in potentially separate host computers in order to access the shared resources that they manage. </a:t>
            </a:r>
          </a:p>
          <a:p>
            <a:r>
              <a:rPr lang="en-US" dirty="0"/>
              <a:t>Servers may in turn be clients of other servers, as the figure indicates. </a:t>
            </a:r>
          </a:p>
          <a:p>
            <a:r>
              <a:rPr lang="en-US" dirty="0"/>
              <a:t>For example, a web server is often a client of a local file server that manages the files in which the web pages are stored. </a:t>
            </a:r>
          </a:p>
          <a:p>
            <a:r>
              <a:rPr lang="en-US" dirty="0"/>
              <a:t>Web servers and most other Internet services are clients of the DNS service, which translates Internet domain names to network addresses.</a:t>
            </a:r>
            <a:endParaRPr lang="en-IN" dirty="0"/>
          </a:p>
        </p:txBody>
      </p:sp>
    </p:spTree>
    <p:extLst>
      <p:ext uri="{BB962C8B-B14F-4D97-AF65-F5344CB8AC3E}">
        <p14:creationId xmlns:p14="http://schemas.microsoft.com/office/powerpoint/2010/main" val="53169418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Ctd.. </a:t>
            </a:r>
            <a:endParaRPr lang="en-IN" dirty="0"/>
          </a:p>
        </p:txBody>
      </p:sp>
      <p:sp>
        <p:nvSpPr>
          <p:cNvPr id="3" name="Content Placeholder 2"/>
          <p:cNvSpPr>
            <a:spLocks noGrp="1"/>
          </p:cNvSpPr>
          <p:nvPr>
            <p:ph idx="1"/>
          </p:nvPr>
        </p:nvSpPr>
        <p:spPr/>
        <p:txBody>
          <a:bodyPr/>
          <a:lstStyle/>
          <a:p>
            <a:r>
              <a:rPr lang="en-US" dirty="0"/>
              <a:t>Another web-related example concerns search engines, which enable users to look up summaries of information available on web pages at sites throughout the Internet. </a:t>
            </a:r>
          </a:p>
          <a:p>
            <a:r>
              <a:rPr lang="en-US" dirty="0"/>
              <a:t>These summaries are made by programs called web crawlers, which run in the background at a search engine site using HTTP requests to access web servers throughout the Internet. </a:t>
            </a:r>
          </a:p>
          <a:p>
            <a:r>
              <a:rPr lang="en-US" b="1" dirty="0">
                <a:solidFill>
                  <a:srgbClr val="FF0000"/>
                </a:solidFill>
              </a:rPr>
              <a:t>What about a Search Engine , It is client or Server?</a:t>
            </a:r>
          </a:p>
        </p:txBody>
      </p:sp>
    </p:spTree>
    <p:extLst>
      <p:ext uri="{BB962C8B-B14F-4D97-AF65-F5344CB8AC3E}">
        <p14:creationId xmlns:p14="http://schemas.microsoft.com/office/powerpoint/2010/main" val="35342350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Search Engine , It is client or Server</a:t>
            </a:r>
            <a:endParaRPr lang="en-IN" dirty="0"/>
          </a:p>
        </p:txBody>
      </p:sp>
      <p:sp>
        <p:nvSpPr>
          <p:cNvPr id="3" name="Content Placeholder 2"/>
          <p:cNvSpPr>
            <a:spLocks noGrp="1"/>
          </p:cNvSpPr>
          <p:nvPr>
            <p:ph idx="1"/>
          </p:nvPr>
        </p:nvSpPr>
        <p:spPr/>
        <p:txBody>
          <a:bodyPr/>
          <a:lstStyle/>
          <a:p>
            <a:r>
              <a:rPr lang="en-US" dirty="0"/>
              <a:t>A search engine is both a server and a client </a:t>
            </a:r>
          </a:p>
          <a:p>
            <a:r>
              <a:rPr lang="en-US" dirty="0"/>
              <a:t>it responds to queries from browser clients </a:t>
            </a:r>
          </a:p>
          <a:p>
            <a:r>
              <a:rPr lang="en-US" dirty="0"/>
              <a:t>it runs web crawlers that act as clients of other web servers</a:t>
            </a:r>
            <a:endParaRPr lang="en-IN" dirty="0"/>
          </a:p>
          <a:p>
            <a:endParaRPr lang="en-IN" dirty="0"/>
          </a:p>
        </p:txBody>
      </p:sp>
    </p:spTree>
    <p:extLst>
      <p:ext uri="{BB962C8B-B14F-4D97-AF65-F5344CB8AC3E}">
        <p14:creationId xmlns:p14="http://schemas.microsoft.com/office/powerpoint/2010/main" val="345482307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
          <p:cNvSpPr>
            <a:spLocks/>
          </p:cNvSpPr>
          <p:nvPr/>
        </p:nvSpPr>
        <p:spPr bwMode="auto">
          <a:xfrm>
            <a:off x="3506788" y="6330950"/>
            <a:ext cx="55626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40640" bIns="0" anchor="b"/>
          <a:lstStyle>
            <a:lvl1pPr marL="39688">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algn="ctr">
              <a:spcBef>
                <a:spcPts val="500"/>
              </a:spcBef>
            </a:pPr>
            <a:r>
              <a:rPr lang="en-US" altLang="en-US" sz="800">
                <a:solidFill>
                  <a:schemeClr val="tx1"/>
                </a:solidFill>
                <a:cs typeface="Times" panose="02020603050405020304" pitchFamily="18" charset="0"/>
              </a:rPr>
              <a:t>Instructor’s Guide for  Coulouris, Dollimore, Kindberg and Blair,  Distributed Systems: Concepts and Design   Edn. 5   </a:t>
            </a:r>
            <a:br>
              <a:rPr lang="en-US" altLang="en-US" sz="800">
                <a:solidFill>
                  <a:schemeClr val="tx1"/>
                </a:solidFill>
                <a:cs typeface="Times" panose="02020603050405020304" pitchFamily="18" charset="0"/>
              </a:rPr>
            </a:br>
            <a:r>
              <a:rPr lang="en-US" altLang="en-US" sz="800">
                <a:solidFill>
                  <a:schemeClr val="tx1"/>
                </a:solidFill>
                <a:cs typeface="Times" panose="02020603050405020304" pitchFamily="18" charset="0"/>
              </a:rPr>
              <a:t>©  Pearson Education 2012 </a:t>
            </a:r>
          </a:p>
        </p:txBody>
      </p:sp>
      <p:sp>
        <p:nvSpPr>
          <p:cNvPr id="14340" name="Rectangle 3"/>
          <p:cNvSpPr>
            <a:spLocks noGrp="1" noChangeArrowheads="1"/>
          </p:cNvSpPr>
          <p:nvPr>
            <p:ph type="title"/>
          </p:nvPr>
        </p:nvSpPr>
        <p:spPr>
          <a:xfrm>
            <a:off x="1030288" y="-11111"/>
            <a:ext cx="10515600" cy="1325563"/>
          </a:xfrm>
        </p:spPr>
        <p:txBody>
          <a:bodyPr vert="horz" lIns="91440" tIns="45720" rIns="132080" bIns="45720" rtlCol="0" anchor="ctr">
            <a:normAutofit/>
          </a:bodyPr>
          <a:lstStyle/>
          <a:p>
            <a:pPr eaLnBrk="1" hangingPunct="1"/>
            <a:br>
              <a:rPr lang="en-US" altLang="en-US" dirty="0"/>
            </a:br>
            <a:r>
              <a:rPr lang="en-US" altLang="en-US" dirty="0"/>
              <a:t>A service provided by multiple servers</a:t>
            </a:r>
          </a:p>
        </p:txBody>
      </p:sp>
      <p:pic>
        <p:nvPicPr>
          <p:cNvPr id="14341" name="Picture 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6089" y="1455739"/>
            <a:ext cx="5908675" cy="459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5011890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1"/>
          <p:cNvSpPr>
            <a:spLocks/>
          </p:cNvSpPr>
          <p:nvPr/>
        </p:nvSpPr>
        <p:spPr bwMode="auto">
          <a:xfrm>
            <a:off x="3506788" y="6330950"/>
            <a:ext cx="55626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40640" bIns="0" anchor="b"/>
          <a:lstStyle>
            <a:lvl1pPr marL="39688">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algn="ctr">
              <a:spcBef>
                <a:spcPts val="500"/>
              </a:spcBef>
            </a:pPr>
            <a:r>
              <a:rPr lang="en-US" altLang="en-US" sz="800" dirty="0">
                <a:solidFill>
                  <a:schemeClr val="tx1"/>
                </a:solidFill>
                <a:cs typeface="Times" panose="02020603050405020304" pitchFamily="18" charset="0"/>
              </a:rPr>
              <a:t>Instructor’s Guide for  </a:t>
            </a:r>
            <a:r>
              <a:rPr lang="en-US" altLang="en-US" sz="800" dirty="0" err="1">
                <a:solidFill>
                  <a:schemeClr val="tx1"/>
                </a:solidFill>
                <a:cs typeface="Times" panose="02020603050405020304" pitchFamily="18" charset="0"/>
              </a:rPr>
              <a:t>Coulouris</a:t>
            </a:r>
            <a:r>
              <a:rPr lang="en-US" altLang="en-US" sz="800" dirty="0">
                <a:solidFill>
                  <a:schemeClr val="tx1"/>
                </a:solidFill>
                <a:cs typeface="Times" panose="02020603050405020304" pitchFamily="18" charset="0"/>
              </a:rPr>
              <a:t>, Dollimore, Kindberg and Blair,  Distributed Systems: Concepts and Design   </a:t>
            </a:r>
            <a:r>
              <a:rPr lang="en-US" altLang="en-US" sz="800" dirty="0" err="1">
                <a:solidFill>
                  <a:schemeClr val="tx1"/>
                </a:solidFill>
                <a:cs typeface="Times" panose="02020603050405020304" pitchFamily="18" charset="0"/>
              </a:rPr>
              <a:t>Edn</a:t>
            </a:r>
            <a:r>
              <a:rPr lang="en-US" altLang="en-US" sz="800" dirty="0">
                <a:solidFill>
                  <a:schemeClr val="tx1"/>
                </a:solidFill>
                <a:cs typeface="Times" panose="02020603050405020304" pitchFamily="18" charset="0"/>
              </a:rPr>
              <a:t>. 5   </a:t>
            </a:r>
            <a:br>
              <a:rPr lang="en-US" altLang="en-US" sz="800" dirty="0">
                <a:solidFill>
                  <a:schemeClr val="tx1"/>
                </a:solidFill>
                <a:cs typeface="Times" panose="02020603050405020304" pitchFamily="18" charset="0"/>
              </a:rPr>
            </a:br>
            <a:r>
              <a:rPr lang="en-US" altLang="en-US" sz="800" dirty="0">
                <a:solidFill>
                  <a:schemeClr val="tx1"/>
                </a:solidFill>
                <a:cs typeface="Times" panose="02020603050405020304" pitchFamily="18" charset="0"/>
              </a:rPr>
              <a:t>©  Pearson Education 2012 </a:t>
            </a:r>
          </a:p>
        </p:txBody>
      </p:sp>
      <p:sp>
        <p:nvSpPr>
          <p:cNvPr id="15364" name="Rectangle 3"/>
          <p:cNvSpPr>
            <a:spLocks noGrp="1" noChangeArrowheads="1"/>
          </p:cNvSpPr>
          <p:nvPr>
            <p:ph type="title"/>
          </p:nvPr>
        </p:nvSpPr>
        <p:spPr>
          <a:xfrm>
            <a:off x="754857" y="296887"/>
            <a:ext cx="10515600" cy="1325563"/>
          </a:xfrm>
        </p:spPr>
        <p:txBody>
          <a:bodyPr vert="horz" lIns="91440" tIns="45720" rIns="132080" bIns="45720" rtlCol="0" anchor="ctr">
            <a:normAutofit/>
          </a:bodyPr>
          <a:lstStyle/>
          <a:p>
            <a:pPr eaLnBrk="1" hangingPunct="1"/>
            <a:r>
              <a:rPr lang="en-US" altLang="en-US" dirty="0"/>
              <a:t>Web proxy server</a:t>
            </a:r>
          </a:p>
        </p:txBody>
      </p:sp>
      <p:pic>
        <p:nvPicPr>
          <p:cNvPr id="15365" name="Picture 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8231" y="1967600"/>
            <a:ext cx="7955954" cy="3641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6803843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Ctd.. </a:t>
            </a:r>
            <a:endParaRPr lang="en-IN" dirty="0"/>
          </a:p>
        </p:txBody>
      </p:sp>
      <p:sp>
        <p:nvSpPr>
          <p:cNvPr id="3" name="Content Placeholder 2"/>
          <p:cNvSpPr>
            <a:spLocks noGrp="1"/>
          </p:cNvSpPr>
          <p:nvPr>
            <p:ph idx="1"/>
          </p:nvPr>
        </p:nvSpPr>
        <p:spPr/>
        <p:txBody>
          <a:bodyPr/>
          <a:lstStyle/>
          <a:p>
            <a:r>
              <a:rPr lang="en-US" dirty="0"/>
              <a:t>The internet server reads the IP of the proxy and sends the requested data to the IP of that proxy. </a:t>
            </a:r>
          </a:p>
          <a:p>
            <a:r>
              <a:rPr lang="en-US" dirty="0"/>
              <a:t>The proxy server receives the data, extracts it, and checks it for possible malware. </a:t>
            </a:r>
          </a:p>
          <a:p>
            <a:r>
              <a:rPr lang="en-US" dirty="0"/>
              <a:t>Once marked safe, the data is forwarded to the requesting device</a:t>
            </a:r>
            <a:endParaRPr lang="en-IN" dirty="0"/>
          </a:p>
        </p:txBody>
      </p:sp>
    </p:spTree>
    <p:extLst>
      <p:ext uri="{BB962C8B-B14F-4D97-AF65-F5344CB8AC3E}">
        <p14:creationId xmlns:p14="http://schemas.microsoft.com/office/powerpoint/2010/main" val="49033701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
          <p:cNvSpPr>
            <a:spLocks/>
          </p:cNvSpPr>
          <p:nvPr/>
        </p:nvSpPr>
        <p:spPr bwMode="auto">
          <a:xfrm>
            <a:off x="3506788" y="6330950"/>
            <a:ext cx="55626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40640" bIns="0" anchor="b"/>
          <a:lstStyle>
            <a:lvl1pPr marL="39688">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algn="ctr">
              <a:spcBef>
                <a:spcPts val="500"/>
              </a:spcBef>
            </a:pPr>
            <a:r>
              <a:rPr lang="en-US" altLang="en-US" sz="800">
                <a:solidFill>
                  <a:schemeClr val="tx1"/>
                </a:solidFill>
                <a:cs typeface="Times" panose="02020603050405020304" pitchFamily="18" charset="0"/>
              </a:rPr>
              <a:t>Instructor’s Guide for  Coulouris, Dollimore, Kindberg and Blair,  Distributed Systems: Concepts and Design   Edn. 5   </a:t>
            </a:r>
            <a:br>
              <a:rPr lang="en-US" altLang="en-US" sz="800">
                <a:solidFill>
                  <a:schemeClr val="tx1"/>
                </a:solidFill>
                <a:cs typeface="Times" panose="02020603050405020304" pitchFamily="18" charset="0"/>
              </a:rPr>
            </a:br>
            <a:r>
              <a:rPr lang="en-US" altLang="en-US" sz="800">
                <a:solidFill>
                  <a:schemeClr val="tx1"/>
                </a:solidFill>
                <a:cs typeface="Times" panose="02020603050405020304" pitchFamily="18" charset="0"/>
              </a:rPr>
              <a:t>©  Pearson Education 2012 </a:t>
            </a:r>
          </a:p>
        </p:txBody>
      </p:sp>
      <p:sp>
        <p:nvSpPr>
          <p:cNvPr id="16388" name="Rectangle 3"/>
          <p:cNvSpPr>
            <a:spLocks noGrp="1" noChangeArrowheads="1"/>
          </p:cNvSpPr>
          <p:nvPr>
            <p:ph type="title"/>
          </p:nvPr>
        </p:nvSpPr>
        <p:spPr>
          <a:xfrm>
            <a:off x="1676400" y="-28870"/>
            <a:ext cx="10515600" cy="1325563"/>
          </a:xfrm>
        </p:spPr>
        <p:txBody>
          <a:bodyPr vert="horz" lIns="91440" tIns="45720" rIns="132080" bIns="45720" rtlCol="0" anchor="ctr">
            <a:normAutofit/>
          </a:bodyPr>
          <a:lstStyle/>
          <a:p>
            <a:pPr eaLnBrk="1" hangingPunct="1"/>
            <a:br>
              <a:rPr lang="en-US" altLang="en-US" dirty="0"/>
            </a:br>
            <a:r>
              <a:rPr lang="en-US" altLang="en-US" dirty="0"/>
              <a:t>Web applets</a:t>
            </a:r>
          </a:p>
        </p:txBody>
      </p:sp>
      <p:pic>
        <p:nvPicPr>
          <p:cNvPr id="16389" name="Picture 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6708" y="1692921"/>
            <a:ext cx="8110537" cy="424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3058240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Tiered architecture </a:t>
            </a:r>
            <a:endParaRPr lang="en-IN" dirty="0"/>
          </a:p>
        </p:txBody>
      </p:sp>
      <p:sp>
        <p:nvSpPr>
          <p:cNvPr id="3" name="Content Placeholder 2"/>
          <p:cNvSpPr>
            <a:spLocks noGrp="1"/>
          </p:cNvSpPr>
          <p:nvPr>
            <p:ph idx="1"/>
          </p:nvPr>
        </p:nvSpPr>
        <p:spPr/>
        <p:txBody>
          <a:bodyPr/>
          <a:lstStyle/>
          <a:p>
            <a:r>
              <a:rPr lang="en-US" dirty="0"/>
              <a:t>Tiered architectures are complementary to layering. </a:t>
            </a:r>
          </a:p>
          <a:p>
            <a:r>
              <a:rPr lang="en-US" dirty="0"/>
              <a:t>Layering deals with the vertical organization of services into layers of abstraction.</a:t>
            </a:r>
          </a:p>
          <a:p>
            <a:r>
              <a:rPr lang="en-US" dirty="0"/>
              <a:t>Tiering is a technique to organize functionality of a given layer and place this functionality into appropriate servers and, as a secondary consideration, on to physical nodes.</a:t>
            </a:r>
            <a:endParaRPr lang="en-IN" dirty="0"/>
          </a:p>
        </p:txBody>
      </p:sp>
    </p:spTree>
    <p:extLst>
      <p:ext uri="{BB962C8B-B14F-4D97-AF65-F5344CB8AC3E}">
        <p14:creationId xmlns:p14="http://schemas.microsoft.com/office/powerpoint/2010/main" val="161759864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Functional decomposition of a given application</a:t>
            </a:r>
            <a:endParaRPr lang="en-IN" dirty="0"/>
          </a:p>
        </p:txBody>
      </p:sp>
      <p:sp>
        <p:nvSpPr>
          <p:cNvPr id="3" name="Content Placeholder 2"/>
          <p:cNvSpPr>
            <a:spLocks noGrp="1"/>
          </p:cNvSpPr>
          <p:nvPr>
            <p:ph idx="1"/>
          </p:nvPr>
        </p:nvSpPr>
        <p:spPr/>
        <p:txBody>
          <a:bodyPr/>
          <a:lstStyle/>
          <a:p>
            <a:pPr algn="just"/>
            <a:r>
              <a:rPr lang="en-US" dirty="0">
                <a:solidFill>
                  <a:srgbClr val="FF0000"/>
                </a:solidFill>
              </a:rPr>
              <a:t>Presentation logic</a:t>
            </a:r>
            <a:r>
              <a:rPr lang="en-US" dirty="0"/>
              <a:t>, which is concerned with handling user interaction and updating the view of the application as presented to the user; </a:t>
            </a:r>
          </a:p>
          <a:p>
            <a:pPr algn="just"/>
            <a:r>
              <a:rPr lang="en-US" dirty="0">
                <a:solidFill>
                  <a:srgbClr val="FF0000"/>
                </a:solidFill>
              </a:rPr>
              <a:t>Application logic, </a:t>
            </a:r>
            <a:r>
              <a:rPr lang="en-US" dirty="0"/>
              <a:t>which is concerned with the detailed application-specific processing associated with the application (also referred to as the business logic, although the concept is not limited only to business applications); </a:t>
            </a:r>
          </a:p>
          <a:p>
            <a:pPr algn="just"/>
            <a:r>
              <a:rPr lang="en-US" dirty="0">
                <a:solidFill>
                  <a:srgbClr val="FF0000"/>
                </a:solidFill>
              </a:rPr>
              <a:t>Data logic</a:t>
            </a:r>
            <a:r>
              <a:rPr lang="en-US" dirty="0"/>
              <a:t>, which is concerned with the persistent storage of the application, typically in a database management system</a:t>
            </a:r>
            <a:endParaRPr lang="en-IN" dirty="0"/>
          </a:p>
        </p:txBody>
      </p:sp>
    </p:spTree>
    <p:extLst>
      <p:ext uri="{BB962C8B-B14F-4D97-AF65-F5344CB8AC3E}">
        <p14:creationId xmlns:p14="http://schemas.microsoft.com/office/powerpoint/2010/main" val="167487035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1"/>
          <p:cNvSpPr>
            <a:spLocks/>
          </p:cNvSpPr>
          <p:nvPr/>
        </p:nvSpPr>
        <p:spPr bwMode="auto">
          <a:xfrm>
            <a:off x="3506788" y="6330950"/>
            <a:ext cx="55626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40640" bIns="0" anchor="b"/>
          <a:lstStyle>
            <a:lvl1pPr marL="39688">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algn="ctr">
              <a:spcBef>
                <a:spcPts val="500"/>
              </a:spcBef>
            </a:pPr>
            <a:r>
              <a:rPr lang="en-US" altLang="en-US" sz="800">
                <a:solidFill>
                  <a:schemeClr val="tx1"/>
                </a:solidFill>
                <a:cs typeface="Times" panose="02020603050405020304" pitchFamily="18" charset="0"/>
              </a:rPr>
              <a:t>Instructor’s Guide for  Coulouris, Dollimore, Kindberg and Blair,  Distributed Systems: Concepts and Design   Edn. 5   </a:t>
            </a:r>
            <a:br>
              <a:rPr lang="en-US" altLang="en-US" sz="800">
                <a:solidFill>
                  <a:schemeClr val="tx1"/>
                </a:solidFill>
                <a:cs typeface="Times" panose="02020603050405020304" pitchFamily="18" charset="0"/>
              </a:rPr>
            </a:br>
            <a:r>
              <a:rPr lang="en-US" altLang="en-US" sz="800">
                <a:solidFill>
                  <a:schemeClr val="tx1"/>
                </a:solidFill>
                <a:cs typeface="Times" panose="02020603050405020304" pitchFamily="18" charset="0"/>
              </a:rPr>
              <a:t>©  Pearson Education 2012 </a:t>
            </a:r>
          </a:p>
        </p:txBody>
      </p:sp>
      <p:sp>
        <p:nvSpPr>
          <p:cNvPr id="18437" name="Rectangle 3"/>
          <p:cNvSpPr>
            <a:spLocks noGrp="1" noChangeArrowheads="1"/>
          </p:cNvSpPr>
          <p:nvPr>
            <p:ph type="title"/>
          </p:nvPr>
        </p:nvSpPr>
        <p:spPr>
          <a:xfrm>
            <a:off x="390525" y="124893"/>
            <a:ext cx="10515600" cy="775860"/>
          </a:xfrm>
        </p:spPr>
        <p:txBody>
          <a:bodyPr vert="horz" lIns="91440" tIns="45720" rIns="132080" bIns="45720" rtlCol="0" anchor="ctr">
            <a:normAutofit fontScale="90000"/>
          </a:bodyPr>
          <a:lstStyle/>
          <a:p>
            <a:pPr eaLnBrk="1" hangingPunct="1"/>
            <a:br>
              <a:rPr lang="en-US" altLang="en-US" dirty="0"/>
            </a:br>
            <a:r>
              <a:rPr lang="en-US" altLang="en-US" dirty="0"/>
              <a:t>Two-tier Architectures</a:t>
            </a:r>
          </a:p>
        </p:txBody>
      </p:sp>
      <p:pic>
        <p:nvPicPr>
          <p:cNvPr id="18438"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l="7078" r="2750" b="49925"/>
          <a:stretch/>
        </p:blipFill>
        <p:spPr bwMode="auto">
          <a:xfrm>
            <a:off x="977900" y="1669941"/>
            <a:ext cx="9156700" cy="4070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round/>
                <a:headEnd/>
                <a:tailEnd/>
              </a14:hiddenLine>
            </a:ext>
          </a:extLst>
        </p:spPr>
      </p:pic>
    </p:spTree>
    <p:extLst>
      <p:ext uri="{BB962C8B-B14F-4D97-AF65-F5344CB8AC3E}">
        <p14:creationId xmlns:p14="http://schemas.microsoft.com/office/powerpoint/2010/main" val="340745049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Two-tier</a:t>
            </a:r>
            <a:endParaRPr lang="en-IN" dirty="0"/>
          </a:p>
        </p:txBody>
      </p:sp>
      <p:sp>
        <p:nvSpPr>
          <p:cNvPr id="3" name="Content Placeholder 2"/>
          <p:cNvSpPr>
            <a:spLocks noGrp="1"/>
          </p:cNvSpPr>
          <p:nvPr>
            <p:ph idx="1"/>
          </p:nvPr>
        </p:nvSpPr>
        <p:spPr/>
        <p:txBody>
          <a:bodyPr/>
          <a:lstStyle/>
          <a:p>
            <a:pPr algn="just"/>
            <a:r>
              <a:rPr lang="en-US" dirty="0"/>
              <a:t>In the two-tier solution, the three aspects mentioned above must be partitioned into two processes, the client and the server. </a:t>
            </a:r>
          </a:p>
          <a:p>
            <a:pPr algn="just"/>
            <a:r>
              <a:rPr lang="en-US" dirty="0"/>
              <a:t>This is most commonly done by splitting the application logic, with some residing in the client and the remainder in the server (although other solutions are also possible). </a:t>
            </a:r>
          </a:p>
          <a:p>
            <a:pPr algn="just"/>
            <a:r>
              <a:rPr lang="en-US" dirty="0"/>
              <a:t>The advantage of this scheme is low latency in terms of interaction, with only one exchange of messages to invoke an operation.</a:t>
            </a:r>
            <a:endParaRPr lang="en-IN" dirty="0"/>
          </a:p>
        </p:txBody>
      </p:sp>
    </p:spTree>
    <p:extLst>
      <p:ext uri="{BB962C8B-B14F-4D97-AF65-F5344CB8AC3E}">
        <p14:creationId xmlns:p14="http://schemas.microsoft.com/office/powerpoint/2010/main" val="357545370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Three –Tier Architecture</a:t>
            </a:r>
            <a:endParaRPr lang="en-IN" dirty="0"/>
          </a:p>
        </p:txBody>
      </p:sp>
      <p:pic>
        <p:nvPicPr>
          <p:cNvPr id="5"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l="6923" t="49490"/>
          <a:stretch/>
        </p:blipFill>
        <p:spPr bwMode="auto">
          <a:xfrm>
            <a:off x="838200" y="1870075"/>
            <a:ext cx="10185118" cy="4181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round/>
                <a:headEnd/>
                <a:tailEnd/>
              </a14:hiddenLine>
            </a:ext>
          </a:extLst>
        </p:spPr>
      </p:pic>
    </p:spTree>
    <p:extLst>
      <p:ext uri="{BB962C8B-B14F-4D97-AF65-F5344CB8AC3E}">
        <p14:creationId xmlns:p14="http://schemas.microsoft.com/office/powerpoint/2010/main" val="65598089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3825"/>
            <a:ext cx="10515600" cy="1325563"/>
          </a:xfrm>
        </p:spPr>
        <p:txBody>
          <a:bodyPr/>
          <a:lstStyle/>
          <a:p>
            <a:r>
              <a:rPr lang="en-US" dirty="0"/>
              <a:t>Three-tier</a:t>
            </a:r>
            <a:endParaRPr lang="en-IN" dirty="0"/>
          </a:p>
        </p:txBody>
      </p:sp>
      <p:sp>
        <p:nvSpPr>
          <p:cNvPr id="3" name="Content Placeholder 2"/>
          <p:cNvSpPr>
            <a:spLocks noGrp="1"/>
          </p:cNvSpPr>
          <p:nvPr>
            <p:ph idx="1"/>
          </p:nvPr>
        </p:nvSpPr>
        <p:spPr>
          <a:xfrm>
            <a:off x="838200" y="1449388"/>
            <a:ext cx="10515600" cy="4351338"/>
          </a:xfrm>
        </p:spPr>
        <p:txBody>
          <a:bodyPr/>
          <a:lstStyle/>
          <a:p>
            <a:r>
              <a:rPr lang="en-US" dirty="0"/>
              <a:t>In the three-tier solution, there is a one-to-one mapping from logical elements to physical servers.</a:t>
            </a:r>
          </a:p>
          <a:p>
            <a:r>
              <a:rPr lang="en-US" dirty="0"/>
              <a:t>Ex: the application logic is held in one place, which in turn can enhance maintainability of the software. </a:t>
            </a:r>
          </a:p>
          <a:p>
            <a:pPr algn="just"/>
            <a:r>
              <a:rPr lang="en-US" dirty="0"/>
              <a:t>Each tier also has a well-defined role; for example, the third tier is simply a database offering a (potentially standardized) relational service interface.</a:t>
            </a:r>
          </a:p>
          <a:p>
            <a:r>
              <a:rPr lang="en-US" dirty="0"/>
              <a:t>This Tired architecture approach generalizes to n-tiered (or multi-tier) solutions where a given application domain is partitioned into n logical elements, each mapped to a given server element</a:t>
            </a:r>
            <a:endParaRPr lang="en-IN" dirty="0"/>
          </a:p>
        </p:txBody>
      </p:sp>
    </p:spTree>
    <p:extLst>
      <p:ext uri="{BB962C8B-B14F-4D97-AF65-F5344CB8AC3E}">
        <p14:creationId xmlns:p14="http://schemas.microsoft.com/office/powerpoint/2010/main" val="77380272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3"/>
          <p:cNvSpPr>
            <a:spLocks noGrp="1" noChangeArrowheads="1"/>
          </p:cNvSpPr>
          <p:nvPr>
            <p:ph type="title"/>
          </p:nvPr>
        </p:nvSpPr>
        <p:spPr/>
        <p:txBody>
          <a:bodyPr vert="horz" lIns="91440" tIns="45720" rIns="132080" bIns="45720" rtlCol="0" anchor="ctr">
            <a:normAutofit/>
          </a:bodyPr>
          <a:lstStyle/>
          <a:p>
            <a:pPr eaLnBrk="1" hangingPunct="1"/>
            <a:r>
              <a:rPr lang="en-US" altLang="en-US" dirty="0"/>
              <a:t>Thin clients and compute servers</a:t>
            </a:r>
          </a:p>
        </p:txBody>
      </p:sp>
      <p:sp>
        <p:nvSpPr>
          <p:cNvPr id="20485" name="Rectangle 4"/>
          <p:cNvSpPr>
            <a:spLocks/>
          </p:cNvSpPr>
          <p:nvPr/>
        </p:nvSpPr>
        <p:spPr bwMode="auto">
          <a:xfrm>
            <a:off x="2498725" y="2039938"/>
            <a:ext cx="1835150" cy="1289050"/>
          </a:xfrm>
          <a:prstGeom prst="rect">
            <a:avLst/>
          </a:prstGeom>
          <a:solidFill>
            <a:srgbClr val="FFDC99"/>
          </a:solidFill>
          <a:ln>
            <a:noFill/>
          </a:ln>
          <a:extLs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eaLnBrk="1" hangingPunct="1"/>
            <a:endParaRPr lang="en-IN" altLang="en-US"/>
          </a:p>
        </p:txBody>
      </p:sp>
      <p:sp>
        <p:nvSpPr>
          <p:cNvPr id="20486" name="Rectangle 5"/>
          <p:cNvSpPr>
            <a:spLocks/>
          </p:cNvSpPr>
          <p:nvPr/>
        </p:nvSpPr>
        <p:spPr bwMode="auto">
          <a:xfrm>
            <a:off x="7454900" y="1663700"/>
            <a:ext cx="2540000" cy="1951038"/>
          </a:xfrm>
          <a:prstGeom prst="rect">
            <a:avLst/>
          </a:prstGeom>
          <a:solidFill>
            <a:srgbClr val="FFDC99"/>
          </a:solidFill>
          <a:ln>
            <a:noFill/>
          </a:ln>
          <a:extLs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eaLnBrk="1" hangingPunct="1"/>
            <a:endParaRPr lang="en-IN" altLang="en-US"/>
          </a:p>
        </p:txBody>
      </p:sp>
      <p:sp>
        <p:nvSpPr>
          <p:cNvPr id="20487" name="Oval 6"/>
          <p:cNvSpPr>
            <a:spLocks/>
          </p:cNvSpPr>
          <p:nvPr/>
        </p:nvSpPr>
        <p:spPr bwMode="auto">
          <a:xfrm>
            <a:off x="2659064" y="2255839"/>
            <a:ext cx="1512887" cy="871537"/>
          </a:xfrm>
          <a:prstGeom prst="ellipse">
            <a:avLst/>
          </a:prstGeom>
          <a:solidFill>
            <a:srgbClr val="FFFFFF"/>
          </a:solidFill>
          <a:ln w="50800">
            <a:solidFill>
              <a:schemeClr val="tx1"/>
            </a:solidFill>
            <a:round/>
            <a:headEnd/>
            <a:tailEnd/>
          </a:ln>
        </p:spPr>
        <p:txBody>
          <a:bodyPr lIns="0" tIns="0" rIns="0" bIns="0"/>
          <a:lstStyle>
            <a:lvl1pPr>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eaLnBrk="1" hangingPunct="1"/>
            <a:endParaRPr lang="en-IN" altLang="en-US"/>
          </a:p>
        </p:txBody>
      </p:sp>
      <p:sp>
        <p:nvSpPr>
          <p:cNvPr id="20488" name="Rectangle 7"/>
          <p:cNvSpPr>
            <a:spLocks/>
          </p:cNvSpPr>
          <p:nvPr/>
        </p:nvSpPr>
        <p:spPr bwMode="auto">
          <a:xfrm>
            <a:off x="3070226" y="2386013"/>
            <a:ext cx="54983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spAutoFit/>
          </a:bodyPr>
          <a:lstStyle>
            <a:lvl1pPr>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eaLnBrk="1" hangingPunct="1"/>
            <a:r>
              <a:rPr lang="en-US" altLang="en-US" sz="2200">
                <a:solidFill>
                  <a:schemeClr val="tx1"/>
                </a:solidFill>
                <a:latin typeface="Arial" panose="020B0604020202020204" pitchFamily="34" charset="0"/>
                <a:cs typeface="Arial" panose="020B0604020202020204" pitchFamily="34" charset="0"/>
                <a:sym typeface="Arial" panose="020B0604020202020204" pitchFamily="34" charset="0"/>
              </a:rPr>
              <a:t>Thin</a:t>
            </a:r>
          </a:p>
        </p:txBody>
      </p:sp>
      <p:sp>
        <p:nvSpPr>
          <p:cNvPr id="20489" name="Rectangle 8"/>
          <p:cNvSpPr>
            <a:spLocks/>
          </p:cNvSpPr>
          <p:nvPr/>
        </p:nvSpPr>
        <p:spPr bwMode="auto">
          <a:xfrm>
            <a:off x="3011489" y="2673350"/>
            <a:ext cx="72135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spAutoFit/>
          </a:bodyPr>
          <a:lstStyle>
            <a:lvl1pPr>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eaLnBrk="1" hangingPunct="1"/>
            <a:r>
              <a:rPr lang="en-US" altLang="en-US" sz="2200">
                <a:solidFill>
                  <a:schemeClr val="tx1"/>
                </a:solidFill>
                <a:latin typeface="Arial" panose="020B0604020202020204" pitchFamily="34" charset="0"/>
                <a:cs typeface="Arial" panose="020B0604020202020204" pitchFamily="34" charset="0"/>
                <a:sym typeface="Arial" panose="020B0604020202020204" pitchFamily="34" charset="0"/>
              </a:rPr>
              <a:t>Client</a:t>
            </a:r>
          </a:p>
        </p:txBody>
      </p:sp>
      <p:sp>
        <p:nvSpPr>
          <p:cNvPr id="20490" name="Oval 9"/>
          <p:cNvSpPr>
            <a:spLocks/>
          </p:cNvSpPr>
          <p:nvPr/>
        </p:nvSpPr>
        <p:spPr bwMode="auto">
          <a:xfrm>
            <a:off x="7904164" y="2185988"/>
            <a:ext cx="1641475" cy="906462"/>
          </a:xfrm>
          <a:prstGeom prst="ellipse">
            <a:avLst/>
          </a:prstGeom>
          <a:solidFill>
            <a:srgbClr val="FFFFFF"/>
          </a:solidFill>
          <a:ln w="50800">
            <a:solidFill>
              <a:schemeClr val="tx1"/>
            </a:solidFill>
            <a:round/>
            <a:headEnd/>
            <a:tailEnd/>
          </a:ln>
        </p:spPr>
        <p:txBody>
          <a:bodyPr lIns="0" tIns="0" rIns="0" bIns="0"/>
          <a:lstStyle>
            <a:lvl1pPr>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eaLnBrk="1" hangingPunct="1"/>
            <a:endParaRPr lang="en-IN" altLang="en-US"/>
          </a:p>
        </p:txBody>
      </p:sp>
      <p:sp>
        <p:nvSpPr>
          <p:cNvPr id="20491" name="Rectangle 10"/>
          <p:cNvSpPr>
            <a:spLocks/>
          </p:cNvSpPr>
          <p:nvPr/>
        </p:nvSpPr>
        <p:spPr bwMode="auto">
          <a:xfrm>
            <a:off x="8040688" y="2341563"/>
            <a:ext cx="138018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spAutoFit/>
          </a:bodyPr>
          <a:lstStyle>
            <a:lvl1pPr>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eaLnBrk="1" hangingPunct="1"/>
            <a:r>
              <a:rPr lang="en-US" altLang="en-US" sz="2200">
                <a:solidFill>
                  <a:schemeClr val="tx1"/>
                </a:solidFill>
                <a:latin typeface="Arial" panose="020B0604020202020204" pitchFamily="34" charset="0"/>
                <a:cs typeface="Arial" panose="020B0604020202020204" pitchFamily="34" charset="0"/>
                <a:sym typeface="Arial" panose="020B0604020202020204" pitchFamily="34" charset="0"/>
              </a:rPr>
              <a:t>Application</a:t>
            </a:r>
          </a:p>
        </p:txBody>
      </p:sp>
      <p:sp>
        <p:nvSpPr>
          <p:cNvPr id="20492" name="Rectangle 11"/>
          <p:cNvSpPr>
            <a:spLocks/>
          </p:cNvSpPr>
          <p:nvPr/>
        </p:nvSpPr>
        <p:spPr bwMode="auto">
          <a:xfrm>
            <a:off x="8307388" y="2654300"/>
            <a:ext cx="101951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spAutoFit/>
          </a:bodyPr>
          <a:lstStyle>
            <a:lvl1pPr>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eaLnBrk="1" hangingPunct="1"/>
            <a:r>
              <a:rPr lang="en-US" altLang="en-US" sz="2200">
                <a:solidFill>
                  <a:schemeClr val="tx1"/>
                </a:solidFill>
                <a:latin typeface="Arial" panose="020B0604020202020204" pitchFamily="34" charset="0"/>
                <a:cs typeface="Arial" panose="020B0604020202020204" pitchFamily="34" charset="0"/>
                <a:sym typeface="Arial" panose="020B0604020202020204" pitchFamily="34" charset="0"/>
              </a:rPr>
              <a:t>Process</a:t>
            </a:r>
          </a:p>
        </p:txBody>
      </p:sp>
      <p:sp>
        <p:nvSpPr>
          <p:cNvPr id="20493" name="Rectangle 12"/>
          <p:cNvSpPr>
            <a:spLocks/>
          </p:cNvSpPr>
          <p:nvPr/>
        </p:nvSpPr>
        <p:spPr bwMode="auto">
          <a:xfrm>
            <a:off x="1993901" y="1504950"/>
            <a:ext cx="309219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spAutoFit/>
          </a:bodyPr>
          <a:lstStyle>
            <a:lvl1pPr>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eaLnBrk="1" hangingPunct="1"/>
            <a:r>
              <a:rPr lang="en-US" altLang="en-US" sz="2200" dirty="0">
                <a:solidFill>
                  <a:schemeClr val="tx1"/>
                </a:solidFill>
                <a:latin typeface="Arial" panose="020B0604020202020204" pitchFamily="34" charset="0"/>
                <a:cs typeface="Arial" panose="020B0604020202020204" pitchFamily="34" charset="0"/>
                <a:sym typeface="Arial" panose="020B0604020202020204" pitchFamily="34" charset="0"/>
              </a:rPr>
              <a:t>Network computer or PC</a:t>
            </a:r>
          </a:p>
        </p:txBody>
      </p:sp>
      <p:sp>
        <p:nvSpPr>
          <p:cNvPr id="20494" name="Rectangle 13"/>
          <p:cNvSpPr>
            <a:spLocks/>
          </p:cNvSpPr>
          <p:nvPr/>
        </p:nvSpPr>
        <p:spPr bwMode="auto">
          <a:xfrm>
            <a:off x="7820025" y="1260475"/>
            <a:ext cx="201016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spAutoFit/>
          </a:bodyPr>
          <a:lstStyle>
            <a:lvl1pPr>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eaLnBrk="1" hangingPunct="1"/>
            <a:r>
              <a:rPr lang="en-US" altLang="en-US" sz="2200">
                <a:solidFill>
                  <a:schemeClr val="tx1"/>
                </a:solidFill>
                <a:latin typeface="Arial" panose="020B0604020202020204" pitchFamily="34" charset="0"/>
                <a:cs typeface="Arial" panose="020B0604020202020204" pitchFamily="34" charset="0"/>
                <a:sym typeface="Arial" panose="020B0604020202020204" pitchFamily="34" charset="0"/>
              </a:rPr>
              <a:t>Compute server</a:t>
            </a:r>
          </a:p>
        </p:txBody>
      </p:sp>
      <p:sp>
        <p:nvSpPr>
          <p:cNvPr id="20495" name="Freeform 14"/>
          <p:cNvSpPr>
            <a:spLocks/>
          </p:cNvSpPr>
          <p:nvPr/>
        </p:nvSpPr>
        <p:spPr bwMode="auto">
          <a:xfrm>
            <a:off x="4171950" y="2603501"/>
            <a:ext cx="533400" cy="73025"/>
          </a:xfrm>
          <a:custGeom>
            <a:avLst/>
            <a:gdLst>
              <a:gd name="T0" fmla="*/ 0 w 21600"/>
              <a:gd name="T1" fmla="*/ 3179999 h 21600"/>
              <a:gd name="T2" fmla="*/ 2147483646 w 21600"/>
              <a:gd name="T3" fmla="*/ 0 h 21600"/>
              <a:gd name="T4" fmla="*/ 2147483646 w 21600"/>
              <a:gd name="T5" fmla="*/ 3179999 h 21600"/>
              <a:gd name="T6" fmla="*/ 2147483646 w 21600"/>
              <a:gd name="T7" fmla="*/ 6359886 h 21600"/>
              <a:gd name="T8" fmla="*/ 2147483646 w 21600"/>
              <a:gd name="T9" fmla="*/ 9539874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7200"/>
                </a:moveTo>
                <a:lnTo>
                  <a:pt x="5421" y="0"/>
                </a:lnTo>
                <a:lnTo>
                  <a:pt x="14455" y="7200"/>
                </a:lnTo>
                <a:lnTo>
                  <a:pt x="18068" y="14400"/>
                </a:lnTo>
                <a:lnTo>
                  <a:pt x="21600" y="21600"/>
                </a:lnTo>
              </a:path>
            </a:pathLst>
          </a:custGeom>
          <a:noFill/>
          <a:ln w="50800" cap="flat">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20496" name="Freeform 15"/>
          <p:cNvSpPr>
            <a:spLocks/>
          </p:cNvSpPr>
          <p:nvPr/>
        </p:nvSpPr>
        <p:spPr bwMode="auto">
          <a:xfrm>
            <a:off x="6970713" y="2603501"/>
            <a:ext cx="965200" cy="34925"/>
          </a:xfrm>
          <a:custGeom>
            <a:avLst/>
            <a:gdLst>
              <a:gd name="T0" fmla="*/ 2147483646 w 21600"/>
              <a:gd name="T1" fmla="*/ 0 h 21600"/>
              <a:gd name="T2" fmla="*/ 2147483646 w 21600"/>
              <a:gd name="T3" fmla="*/ 238708 h 21600"/>
              <a:gd name="T4" fmla="*/ 2147483646 w 21600"/>
              <a:gd name="T5" fmla="*/ 238708 h 21600"/>
              <a:gd name="T6" fmla="*/ 2147483646 w 21600"/>
              <a:gd name="T7" fmla="*/ 238708 h 21600"/>
              <a:gd name="T8" fmla="*/ 0 w 21600"/>
              <a:gd name="T9" fmla="*/ 238708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1600" y="0"/>
                </a:moveTo>
                <a:lnTo>
                  <a:pt x="17273" y="21600"/>
                </a:lnTo>
                <a:lnTo>
                  <a:pt x="9374" y="21600"/>
                </a:lnTo>
                <a:lnTo>
                  <a:pt x="3605" y="21600"/>
                </a:lnTo>
                <a:lnTo>
                  <a:pt x="0" y="21600"/>
                </a:lnTo>
              </a:path>
            </a:pathLst>
          </a:custGeom>
          <a:noFill/>
          <a:ln w="50800" cap="flat">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20497" name="Freeform 16"/>
          <p:cNvSpPr>
            <a:spLocks/>
          </p:cNvSpPr>
          <p:nvPr/>
        </p:nvSpPr>
        <p:spPr bwMode="auto">
          <a:xfrm>
            <a:off x="4598989" y="1976439"/>
            <a:ext cx="2606675" cy="1150937"/>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2147483646 w 21600"/>
              <a:gd name="T17" fmla="*/ 2147483646 h 21600"/>
              <a:gd name="T18" fmla="*/ 2147483646 w 21600"/>
              <a:gd name="T19" fmla="*/ 2147483646 h 21600"/>
              <a:gd name="T20" fmla="*/ 2147483646 w 21600"/>
              <a:gd name="T21" fmla="*/ 2147483646 h 21600"/>
              <a:gd name="T22" fmla="*/ 2147483646 w 21600"/>
              <a:gd name="T23" fmla="*/ 2147483646 h 21600"/>
              <a:gd name="T24" fmla="*/ 2147483646 w 21600"/>
              <a:gd name="T25" fmla="*/ 0 h 21600"/>
              <a:gd name="T26" fmla="*/ 2147483646 w 21600"/>
              <a:gd name="T27" fmla="*/ 0 h 21600"/>
              <a:gd name="T28" fmla="*/ 2147483646 w 21600"/>
              <a:gd name="T29" fmla="*/ 0 h 21600"/>
              <a:gd name="T30" fmla="*/ 2147483646 w 21600"/>
              <a:gd name="T31" fmla="*/ 2147483646 h 21600"/>
              <a:gd name="T32" fmla="*/ 2147483646 w 21600"/>
              <a:gd name="T33" fmla="*/ 2147483646 h 21600"/>
              <a:gd name="T34" fmla="*/ 2147483646 w 21600"/>
              <a:gd name="T35" fmla="*/ 2147483646 h 21600"/>
              <a:gd name="T36" fmla="*/ 2147483646 w 21600"/>
              <a:gd name="T37" fmla="*/ 2147483646 h 21600"/>
              <a:gd name="T38" fmla="*/ 2147483646 w 21600"/>
              <a:gd name="T39" fmla="*/ 2147483646 h 21600"/>
              <a:gd name="T40" fmla="*/ 2147483646 w 21600"/>
              <a:gd name="T41" fmla="*/ 2147483646 h 21600"/>
              <a:gd name="T42" fmla="*/ 2147483646 w 21600"/>
              <a:gd name="T43" fmla="*/ 2147483646 h 21600"/>
              <a:gd name="T44" fmla="*/ 2147483646 w 21600"/>
              <a:gd name="T45" fmla="*/ 2147483646 h 21600"/>
              <a:gd name="T46" fmla="*/ 2147483646 w 21600"/>
              <a:gd name="T47" fmla="*/ 2147483646 h 21600"/>
              <a:gd name="T48" fmla="*/ 2147483646 w 21600"/>
              <a:gd name="T49" fmla="*/ 2147483646 h 21600"/>
              <a:gd name="T50" fmla="*/ 2147483646 w 21600"/>
              <a:gd name="T51" fmla="*/ 2147483646 h 21600"/>
              <a:gd name="T52" fmla="*/ 2147483646 w 21600"/>
              <a:gd name="T53" fmla="*/ 2147483646 h 21600"/>
              <a:gd name="T54" fmla="*/ 2147483646 w 21600"/>
              <a:gd name="T55" fmla="*/ 2147483646 h 21600"/>
              <a:gd name="T56" fmla="*/ 2147483646 w 21600"/>
              <a:gd name="T57" fmla="*/ 2147483646 h 21600"/>
              <a:gd name="T58" fmla="*/ 2147483646 w 21600"/>
              <a:gd name="T59" fmla="*/ 2147483646 h 21600"/>
              <a:gd name="T60" fmla="*/ 2147483646 w 21600"/>
              <a:gd name="T61" fmla="*/ 2147483646 h 21600"/>
              <a:gd name="T62" fmla="*/ 2147483646 w 21600"/>
              <a:gd name="T63" fmla="*/ 2147483646 h 21600"/>
              <a:gd name="T64" fmla="*/ 2147483646 w 21600"/>
              <a:gd name="T65" fmla="*/ 2147483646 h 21600"/>
              <a:gd name="T66" fmla="*/ 2147483646 w 21600"/>
              <a:gd name="T67" fmla="*/ 2147483646 h 21600"/>
              <a:gd name="T68" fmla="*/ 2147483646 w 21600"/>
              <a:gd name="T69" fmla="*/ 2147483646 h 21600"/>
              <a:gd name="T70" fmla="*/ 2147483646 w 21600"/>
              <a:gd name="T71" fmla="*/ 2147483646 h 21600"/>
              <a:gd name="T72" fmla="*/ 2147483646 w 21600"/>
              <a:gd name="T73" fmla="*/ 2147483646 h 21600"/>
              <a:gd name="T74" fmla="*/ 2147483646 w 21600"/>
              <a:gd name="T75" fmla="*/ 2147483646 h 21600"/>
              <a:gd name="T76" fmla="*/ 2147483646 w 21600"/>
              <a:gd name="T77" fmla="*/ 2147483646 h 21600"/>
              <a:gd name="T78" fmla="*/ 2147483646 w 21600"/>
              <a:gd name="T79" fmla="*/ 2147483646 h 21600"/>
              <a:gd name="T80" fmla="*/ 2147483646 w 21600"/>
              <a:gd name="T81" fmla="*/ 2147483646 h 21600"/>
              <a:gd name="T82" fmla="*/ 2147483646 w 21600"/>
              <a:gd name="T83" fmla="*/ 2147483646 h 21600"/>
              <a:gd name="T84" fmla="*/ 2147483646 w 21600"/>
              <a:gd name="T85" fmla="*/ 2147483646 h 21600"/>
              <a:gd name="T86" fmla="*/ 2147483646 w 21600"/>
              <a:gd name="T87" fmla="*/ 2147483646 h 21600"/>
              <a:gd name="T88" fmla="*/ 0 w 21600"/>
              <a:gd name="T89" fmla="*/ 2147483646 h 21600"/>
              <a:gd name="T90" fmla="*/ 0 w 21600"/>
              <a:gd name="T91" fmla="*/ 2147483646 h 21600"/>
              <a:gd name="T92" fmla="*/ 0 w 21600"/>
              <a:gd name="T93" fmla="*/ 2147483646 h 21600"/>
              <a:gd name="T94" fmla="*/ 2147483646 w 21600"/>
              <a:gd name="T95" fmla="*/ 2147483646 h 21600"/>
              <a:gd name="T96" fmla="*/ 2147483646 w 21600"/>
              <a:gd name="T97" fmla="*/ 2147483646 h 21600"/>
              <a:gd name="T98" fmla="*/ 2147483646 w 21600"/>
              <a:gd name="T99" fmla="*/ 2147483646 h 21600"/>
              <a:gd name="T100" fmla="*/ 2147483646 w 21600"/>
              <a:gd name="T101" fmla="*/ 2147483646 h 2160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1600" h="21600">
                <a:moveTo>
                  <a:pt x="534" y="5244"/>
                </a:moveTo>
                <a:lnTo>
                  <a:pt x="801" y="3933"/>
                </a:lnTo>
                <a:lnTo>
                  <a:pt x="2137" y="1966"/>
                </a:lnTo>
                <a:lnTo>
                  <a:pt x="3473" y="1311"/>
                </a:lnTo>
                <a:lnTo>
                  <a:pt x="4274" y="1311"/>
                </a:lnTo>
                <a:lnTo>
                  <a:pt x="4808" y="655"/>
                </a:lnTo>
                <a:lnTo>
                  <a:pt x="6399" y="1311"/>
                </a:lnTo>
                <a:lnTo>
                  <a:pt x="8001" y="1966"/>
                </a:lnTo>
                <a:lnTo>
                  <a:pt x="9604" y="1966"/>
                </a:lnTo>
                <a:lnTo>
                  <a:pt x="11207" y="1966"/>
                </a:lnTo>
                <a:lnTo>
                  <a:pt x="12263" y="1311"/>
                </a:lnTo>
                <a:lnTo>
                  <a:pt x="13064" y="655"/>
                </a:lnTo>
                <a:lnTo>
                  <a:pt x="14133" y="0"/>
                </a:lnTo>
                <a:lnTo>
                  <a:pt x="15468" y="0"/>
                </a:lnTo>
                <a:lnTo>
                  <a:pt x="16537" y="0"/>
                </a:lnTo>
                <a:lnTo>
                  <a:pt x="17338" y="655"/>
                </a:lnTo>
                <a:lnTo>
                  <a:pt x="17873" y="1311"/>
                </a:lnTo>
                <a:lnTo>
                  <a:pt x="18929" y="1966"/>
                </a:lnTo>
                <a:lnTo>
                  <a:pt x="19997" y="3933"/>
                </a:lnTo>
                <a:lnTo>
                  <a:pt x="21333" y="6554"/>
                </a:lnTo>
                <a:lnTo>
                  <a:pt x="21600" y="10457"/>
                </a:lnTo>
                <a:lnTo>
                  <a:pt x="21600" y="13079"/>
                </a:lnTo>
                <a:lnTo>
                  <a:pt x="21333" y="15046"/>
                </a:lnTo>
                <a:lnTo>
                  <a:pt x="20799" y="18978"/>
                </a:lnTo>
                <a:lnTo>
                  <a:pt x="19730" y="20289"/>
                </a:lnTo>
                <a:lnTo>
                  <a:pt x="18140" y="21600"/>
                </a:lnTo>
                <a:lnTo>
                  <a:pt x="16537" y="20945"/>
                </a:lnTo>
                <a:lnTo>
                  <a:pt x="14934" y="20289"/>
                </a:lnTo>
                <a:lnTo>
                  <a:pt x="13599" y="20289"/>
                </a:lnTo>
                <a:lnTo>
                  <a:pt x="12263" y="19634"/>
                </a:lnTo>
                <a:lnTo>
                  <a:pt x="10673" y="19634"/>
                </a:lnTo>
                <a:lnTo>
                  <a:pt x="9337" y="19634"/>
                </a:lnTo>
                <a:lnTo>
                  <a:pt x="8268" y="20289"/>
                </a:lnTo>
                <a:lnTo>
                  <a:pt x="7200" y="20289"/>
                </a:lnTo>
                <a:lnTo>
                  <a:pt x="6132" y="20289"/>
                </a:lnTo>
                <a:lnTo>
                  <a:pt x="5075" y="20945"/>
                </a:lnTo>
                <a:lnTo>
                  <a:pt x="4007" y="20945"/>
                </a:lnTo>
                <a:lnTo>
                  <a:pt x="3205" y="20945"/>
                </a:lnTo>
                <a:lnTo>
                  <a:pt x="2404" y="20289"/>
                </a:lnTo>
                <a:lnTo>
                  <a:pt x="1870" y="19634"/>
                </a:lnTo>
                <a:lnTo>
                  <a:pt x="1603" y="18978"/>
                </a:lnTo>
                <a:lnTo>
                  <a:pt x="1336" y="18323"/>
                </a:lnTo>
                <a:lnTo>
                  <a:pt x="801" y="17012"/>
                </a:lnTo>
                <a:lnTo>
                  <a:pt x="267" y="14390"/>
                </a:lnTo>
                <a:lnTo>
                  <a:pt x="0" y="12424"/>
                </a:lnTo>
                <a:lnTo>
                  <a:pt x="0" y="10457"/>
                </a:lnTo>
                <a:lnTo>
                  <a:pt x="0" y="8521"/>
                </a:lnTo>
                <a:lnTo>
                  <a:pt x="267" y="6554"/>
                </a:lnTo>
                <a:lnTo>
                  <a:pt x="534" y="5244"/>
                </a:lnTo>
                <a:close/>
                <a:moveTo>
                  <a:pt x="534" y="5244"/>
                </a:moveTo>
              </a:path>
            </a:pathLst>
          </a:custGeom>
          <a:solidFill>
            <a:srgbClr val="FFDC99"/>
          </a:solidFill>
          <a:ln w="50800" cap="flat">
            <a:solidFill>
              <a:srgbClr val="FFDC99"/>
            </a:solidFill>
            <a:prstDash val="solid"/>
            <a:round/>
            <a:headEnd type="none" w="med" len="med"/>
            <a:tailEnd type="none" w="med" len="med"/>
          </a:ln>
        </p:spPr>
        <p:txBody>
          <a:bodyPr lIns="0" tIns="0" rIns="0" bIns="0"/>
          <a:lstStyle/>
          <a:p>
            <a:endParaRPr lang="en-IN"/>
          </a:p>
        </p:txBody>
      </p:sp>
      <p:sp>
        <p:nvSpPr>
          <p:cNvPr id="20498" name="Rectangle 17"/>
          <p:cNvSpPr>
            <a:spLocks/>
          </p:cNvSpPr>
          <p:nvPr/>
        </p:nvSpPr>
        <p:spPr bwMode="auto">
          <a:xfrm>
            <a:off x="5408614" y="2393950"/>
            <a:ext cx="98905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spAutoFit/>
          </a:bodyPr>
          <a:lstStyle>
            <a:lvl1pPr>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eaLnBrk="1" hangingPunct="1"/>
            <a:r>
              <a:rPr lang="en-US" altLang="en-US" sz="2200">
                <a:solidFill>
                  <a:schemeClr val="tx1"/>
                </a:solidFill>
                <a:latin typeface="Arial" panose="020B0604020202020204" pitchFamily="34" charset="0"/>
                <a:cs typeface="Arial" panose="020B0604020202020204" pitchFamily="34" charset="0"/>
                <a:sym typeface="Arial" panose="020B0604020202020204" pitchFamily="34" charset="0"/>
              </a:rPr>
              <a:t>network</a:t>
            </a:r>
          </a:p>
        </p:txBody>
      </p:sp>
      <p:sp>
        <p:nvSpPr>
          <p:cNvPr id="2" name="Rectangle 1"/>
          <p:cNvSpPr/>
          <p:nvPr/>
        </p:nvSpPr>
        <p:spPr>
          <a:xfrm>
            <a:off x="938212" y="3811172"/>
            <a:ext cx="10529888" cy="2246769"/>
          </a:xfrm>
          <a:prstGeom prst="rect">
            <a:avLst/>
          </a:prstGeom>
        </p:spPr>
        <p:txBody>
          <a:bodyPr wrap="square">
            <a:spAutoFit/>
          </a:bodyPr>
          <a:lstStyle/>
          <a:p>
            <a:pPr algn="just"/>
            <a:r>
              <a:rPr lang="en-US" sz="2800" dirty="0"/>
              <a:t>the term thin client refers to a software layer that supports a window-based user interface that is local to the user while executing application programs or, more generally, accessing services on a remote computer.</a:t>
            </a:r>
          </a:p>
          <a:p>
            <a:pPr algn="just"/>
            <a:r>
              <a:rPr lang="en-US" sz="2800" dirty="0"/>
              <a:t>This concept has led to the emergence of virtual network computing (VNC)</a:t>
            </a:r>
            <a:endParaRPr lang="en-IN" sz="2800" dirty="0"/>
          </a:p>
        </p:txBody>
      </p:sp>
    </p:spTree>
    <p:extLst>
      <p:ext uri="{BB962C8B-B14F-4D97-AF65-F5344CB8AC3E}">
        <p14:creationId xmlns:p14="http://schemas.microsoft.com/office/powerpoint/2010/main" val="337556842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9" name="Rectangle 3"/>
          <p:cNvSpPr>
            <a:spLocks noGrp="1" noChangeArrowheads="1"/>
          </p:cNvSpPr>
          <p:nvPr>
            <p:ph type="title"/>
          </p:nvPr>
        </p:nvSpPr>
        <p:spPr>
          <a:xfrm>
            <a:off x="838200" y="458856"/>
            <a:ext cx="8205787" cy="914400"/>
          </a:xfrm>
        </p:spPr>
        <p:txBody>
          <a:bodyPr vert="horz" lIns="91440" tIns="45720" rIns="132080" bIns="45720" rtlCol="0" anchor="ctr">
            <a:normAutofit/>
          </a:bodyPr>
          <a:lstStyle/>
          <a:p>
            <a:pPr eaLnBrk="1" hangingPunct="1"/>
            <a:r>
              <a:rPr lang="en-US" altLang="en-US" dirty="0"/>
              <a:t>Service Broker Architecture</a:t>
            </a:r>
          </a:p>
        </p:txBody>
      </p:sp>
      <p:pic>
        <p:nvPicPr>
          <p:cNvPr id="2151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0300" y="1828799"/>
            <a:ext cx="7699288" cy="422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round/>
                <a:headEnd/>
                <a:tailEnd/>
              </a14:hiddenLine>
            </a:ext>
          </a:extLst>
        </p:spPr>
      </p:pic>
      <p:sp>
        <p:nvSpPr>
          <p:cNvPr id="2" name="Rectangle 1">
            <a:extLst>
              <a:ext uri="{FF2B5EF4-FFF2-40B4-BE49-F238E27FC236}">
                <a16:creationId xmlns:a16="http://schemas.microsoft.com/office/drawing/2014/main" id="{5B2406BA-607D-4F31-B6CD-5518620FE930}"/>
              </a:ext>
            </a:extLst>
          </p:cNvPr>
          <p:cNvSpPr/>
          <p:nvPr/>
        </p:nvSpPr>
        <p:spPr>
          <a:xfrm>
            <a:off x="1287255" y="2170908"/>
            <a:ext cx="2585260" cy="400110"/>
          </a:xfrm>
          <a:prstGeom prst="rect">
            <a:avLst/>
          </a:prstGeom>
        </p:spPr>
        <p:txBody>
          <a:bodyPr wrap="none">
            <a:spAutoFit/>
          </a:bodyPr>
          <a:lstStyle/>
          <a:p>
            <a:r>
              <a:rPr lang="en-US" altLang="en-US" sz="2000" dirty="0"/>
              <a:t>In web service  pattern</a:t>
            </a:r>
            <a:endParaRPr lang="en-IN" sz="2000" dirty="0"/>
          </a:p>
        </p:txBody>
      </p:sp>
    </p:spTree>
    <p:extLst>
      <p:ext uri="{BB962C8B-B14F-4D97-AF65-F5344CB8AC3E}">
        <p14:creationId xmlns:p14="http://schemas.microsoft.com/office/powerpoint/2010/main" val="301488023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8643" y="1279524"/>
            <a:ext cx="10591800" cy="5259388"/>
          </a:xfrm>
        </p:spPr>
        <p:txBody>
          <a:bodyPr>
            <a:normAutofit/>
          </a:bodyPr>
          <a:lstStyle/>
          <a:p>
            <a:pPr marL="514350" indent="-514350">
              <a:buFont typeface="+mj-lt"/>
              <a:buAutoNum type="arabicPeriod"/>
            </a:pPr>
            <a:r>
              <a:rPr lang="en-US" dirty="0"/>
              <a:t>The use of brokerage in web services can usefully be viewed as an architectural pattern supporting interoperability in potentially complex distributed infrastructures. </a:t>
            </a:r>
          </a:p>
          <a:p>
            <a:pPr marL="514350" indent="-514350">
              <a:buFont typeface="+mj-lt"/>
              <a:buAutoNum type="arabicPeriod"/>
            </a:pPr>
            <a:r>
              <a:rPr lang="en-US" dirty="0"/>
              <a:t>In particular, this pattern consists of the trio of service provider, service requester and service broker </a:t>
            </a:r>
          </a:p>
          <a:p>
            <a:pPr marL="514350" indent="-514350">
              <a:buFont typeface="+mj-lt"/>
              <a:buAutoNum type="arabicPeriod"/>
            </a:pPr>
            <a:r>
              <a:rPr lang="en-US" dirty="0"/>
              <a:t>The web service architectural pattern Service Provider Service Broker Service Requester . </a:t>
            </a:r>
          </a:p>
          <a:p>
            <a:pPr marL="514350" indent="-514350">
              <a:buFont typeface="+mj-lt"/>
              <a:buAutoNum type="arabicPeriod"/>
            </a:pPr>
            <a:r>
              <a:rPr lang="en-US" dirty="0">
                <a:solidFill>
                  <a:srgbClr val="FF0000"/>
                </a:solidFill>
              </a:rPr>
              <a:t>This brokerage pattern is replicated in many areas of distributed systems, for example with the registry in Java RMI and the naming service in CORBA</a:t>
            </a:r>
            <a:r>
              <a:rPr lang="en-US" dirty="0"/>
              <a:t>.</a:t>
            </a:r>
            <a:endParaRPr lang="en-IN" dirty="0"/>
          </a:p>
        </p:txBody>
      </p:sp>
      <p:sp>
        <p:nvSpPr>
          <p:cNvPr id="2" name="Rectangle 1"/>
          <p:cNvSpPr/>
          <p:nvPr/>
        </p:nvSpPr>
        <p:spPr>
          <a:xfrm>
            <a:off x="1147339" y="491887"/>
            <a:ext cx="6238374" cy="646331"/>
          </a:xfrm>
          <a:prstGeom prst="rect">
            <a:avLst/>
          </a:prstGeom>
        </p:spPr>
        <p:txBody>
          <a:bodyPr wrap="none">
            <a:spAutoFit/>
          </a:bodyPr>
          <a:lstStyle/>
          <a:p>
            <a:r>
              <a:rPr lang="en-US" altLang="en-US" sz="3600" dirty="0"/>
              <a:t>web service architectural pattern</a:t>
            </a:r>
            <a:endParaRPr lang="en-IN" sz="3600" dirty="0"/>
          </a:p>
        </p:txBody>
      </p:sp>
    </p:spTree>
    <p:extLst>
      <p:ext uri="{BB962C8B-B14F-4D97-AF65-F5344CB8AC3E}">
        <p14:creationId xmlns:p14="http://schemas.microsoft.com/office/powerpoint/2010/main" val="316253884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Ctd.. </a:t>
            </a:r>
            <a:endParaRPr lang="en-IN" dirty="0"/>
          </a:p>
        </p:txBody>
      </p:sp>
      <p:sp>
        <p:nvSpPr>
          <p:cNvPr id="3" name="Content Placeholder 2"/>
          <p:cNvSpPr>
            <a:spLocks noGrp="1"/>
          </p:cNvSpPr>
          <p:nvPr>
            <p:ph idx="1"/>
          </p:nvPr>
        </p:nvSpPr>
        <p:spPr>
          <a:xfrm>
            <a:off x="838200" y="1555845"/>
            <a:ext cx="10515600" cy="4621118"/>
          </a:xfrm>
        </p:spPr>
        <p:txBody>
          <a:bodyPr/>
          <a:lstStyle/>
          <a:p>
            <a:pPr algn="just"/>
            <a:r>
              <a:rPr lang="en-US" dirty="0"/>
              <a:t>It must be stressed that the categorizations are not exact and that modern middleware platforms tend to offer hybrid solutions. </a:t>
            </a:r>
          </a:p>
          <a:p>
            <a:pPr algn="just"/>
            <a:r>
              <a:rPr lang="en-US" dirty="0"/>
              <a:t>For example, many distributed object platforms offer distributed event services to complement the more traditional support for remote method invocation.</a:t>
            </a:r>
          </a:p>
          <a:p>
            <a:pPr algn="just"/>
            <a:r>
              <a:rPr lang="en-US" dirty="0"/>
              <a:t>For example, an application that is suited to the client-server model such as a database of names and addresses, can rely on middleware that provides only remote method invocation. </a:t>
            </a:r>
            <a:endParaRPr lang="en-IN" dirty="0"/>
          </a:p>
        </p:txBody>
      </p:sp>
    </p:spTree>
    <p:extLst>
      <p:ext uri="{BB962C8B-B14F-4D97-AF65-F5344CB8AC3E}">
        <p14:creationId xmlns:p14="http://schemas.microsoft.com/office/powerpoint/2010/main" val="266529656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3"/>
          <p:cNvSpPr>
            <a:spLocks noGrp="1" noChangeArrowheads="1"/>
          </p:cNvSpPr>
          <p:nvPr>
            <p:ph type="title"/>
          </p:nvPr>
        </p:nvSpPr>
        <p:spPr>
          <a:xfrm>
            <a:off x="717550" y="-112547"/>
            <a:ext cx="10515600" cy="1325563"/>
          </a:xfrm>
        </p:spPr>
        <p:txBody>
          <a:bodyPr vert="horz" lIns="91440" tIns="45720" rIns="132080" bIns="45720" rtlCol="0" anchor="ctr">
            <a:normAutofit/>
          </a:bodyPr>
          <a:lstStyle/>
          <a:p>
            <a:pPr eaLnBrk="1" hangingPunct="1"/>
            <a:br>
              <a:rPr lang="en-US" altLang="en-US" dirty="0"/>
            </a:br>
            <a:r>
              <a:rPr lang="en-US" altLang="en-US" dirty="0"/>
              <a:t>Peer-to-peer architecture</a:t>
            </a:r>
          </a:p>
        </p:txBody>
      </p:sp>
      <p:pic>
        <p:nvPicPr>
          <p:cNvPr id="1331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6472" y="1267701"/>
            <a:ext cx="6616700" cy="5008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round/>
                <a:headEnd/>
                <a:tailEnd/>
              </a14:hiddenLine>
            </a:ext>
          </a:extLst>
        </p:spPr>
      </p:pic>
    </p:spTree>
    <p:extLst>
      <p:ext uri="{BB962C8B-B14F-4D97-AF65-F5344CB8AC3E}">
        <p14:creationId xmlns:p14="http://schemas.microsoft.com/office/powerpoint/2010/main" val="113448680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3"/>
          <p:cNvSpPr>
            <a:spLocks noGrp="1" noChangeArrowheads="1"/>
          </p:cNvSpPr>
          <p:nvPr>
            <p:ph type="title"/>
          </p:nvPr>
        </p:nvSpPr>
        <p:spPr>
          <a:xfrm>
            <a:off x="497005" y="0"/>
            <a:ext cx="10515600" cy="1325563"/>
          </a:xfrm>
        </p:spPr>
        <p:txBody>
          <a:bodyPr vert="horz" lIns="91440" tIns="45720" rIns="132080" bIns="45720" rtlCol="0" anchor="ctr">
            <a:normAutofit fontScale="90000"/>
          </a:bodyPr>
          <a:lstStyle/>
          <a:p>
            <a:br>
              <a:rPr lang="en-US" altLang="en-US" dirty="0"/>
            </a:br>
            <a:r>
              <a:rPr lang="en-US" altLang="en-US" sz="4000" dirty="0"/>
              <a:t>Architectural Pattern-  Software and hardware service layers in distributed systems</a:t>
            </a:r>
            <a:endParaRPr lang="en-US" altLang="en-US" dirty="0"/>
          </a:p>
        </p:txBody>
      </p:sp>
      <p:pic>
        <p:nvPicPr>
          <p:cNvPr id="17413" name="Picture 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1493838"/>
            <a:ext cx="7546975" cy="4668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9901877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layers</a:t>
            </a:r>
            <a:endParaRPr lang="en-IN" dirty="0"/>
          </a:p>
        </p:txBody>
      </p:sp>
      <p:sp>
        <p:nvSpPr>
          <p:cNvPr id="3" name="Content Placeholder 2"/>
          <p:cNvSpPr>
            <a:spLocks noGrp="1"/>
          </p:cNvSpPr>
          <p:nvPr>
            <p:ph idx="1"/>
          </p:nvPr>
        </p:nvSpPr>
        <p:spPr/>
        <p:txBody>
          <a:bodyPr>
            <a:normAutofit/>
          </a:bodyPr>
          <a:lstStyle/>
          <a:p>
            <a:r>
              <a:rPr lang="en-US" dirty="0"/>
              <a:t>The concept of layering is a familiar one and is closely related to abstraction. </a:t>
            </a:r>
          </a:p>
          <a:p>
            <a:r>
              <a:rPr lang="en-US" dirty="0"/>
              <a:t>In a layered approach, a complex system is partitioned into a number of layers, with a given layer making use of the services offered by the layer below. </a:t>
            </a:r>
          </a:p>
          <a:p>
            <a:r>
              <a:rPr lang="en-US" dirty="0"/>
              <a:t>A given layer therefore offers a software abstraction, </a:t>
            </a:r>
            <a:r>
              <a:rPr lang="en-US" dirty="0">
                <a:solidFill>
                  <a:srgbClr val="FF0000"/>
                </a:solidFill>
              </a:rPr>
              <a:t>with higher layers being unaware of implementation details, or indeed of any other layers beneath them</a:t>
            </a:r>
            <a:r>
              <a:rPr lang="en-US" dirty="0"/>
              <a:t>. In terms of distributed systems, this equates to a vertical organization of services into service layers. </a:t>
            </a:r>
          </a:p>
        </p:txBody>
      </p:sp>
    </p:spTree>
    <p:extLst>
      <p:ext uri="{BB962C8B-B14F-4D97-AF65-F5344CB8AC3E}">
        <p14:creationId xmlns:p14="http://schemas.microsoft.com/office/powerpoint/2010/main" val="415842739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9174" y="935155"/>
            <a:ext cx="10515600" cy="5603757"/>
          </a:xfrm>
        </p:spPr>
        <p:txBody>
          <a:bodyPr>
            <a:normAutofit/>
          </a:bodyPr>
          <a:lstStyle/>
          <a:p>
            <a:pPr algn="just"/>
            <a:r>
              <a:rPr lang="en-US" dirty="0">
                <a:solidFill>
                  <a:srgbClr val="FF0000"/>
                </a:solidFill>
              </a:rPr>
              <a:t>A distributed service can be provided by one or more server processes, interacting with each other and with client processes </a:t>
            </a:r>
            <a:r>
              <a:rPr lang="en-US" dirty="0"/>
              <a:t>in order to maintain a consistent system-wide view of the service’s resources</a:t>
            </a:r>
            <a:endParaRPr lang="en-IN" dirty="0"/>
          </a:p>
          <a:p>
            <a:pPr algn="just"/>
            <a:r>
              <a:rPr lang="en-US" dirty="0"/>
              <a:t>For example, a network time service is implemented on the Internet based on the Network Time Protocol (NTP) by server processes running on hosts throughout the Internet that supply the current time to any client that requests it and adjust their version of the current time as a result of interactions with each other. </a:t>
            </a:r>
          </a:p>
          <a:p>
            <a:pPr algn="just"/>
            <a:r>
              <a:rPr lang="en-US" dirty="0"/>
              <a:t>Given the complexity of distributed systems, it is often helpful to organize such services into layers. the important terms platform and middleware, which define as follows:</a:t>
            </a:r>
            <a:endParaRPr lang="en-IN" dirty="0"/>
          </a:p>
          <a:p>
            <a:pPr algn="just"/>
            <a:endParaRPr lang="en-IN" dirty="0"/>
          </a:p>
        </p:txBody>
      </p:sp>
    </p:spTree>
    <p:extLst>
      <p:ext uri="{BB962C8B-B14F-4D97-AF65-F5344CB8AC3E}">
        <p14:creationId xmlns:p14="http://schemas.microsoft.com/office/powerpoint/2010/main" val="400358210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platform for distributed systems</a:t>
            </a:r>
            <a:endParaRPr lang="en-IN" dirty="0"/>
          </a:p>
        </p:txBody>
      </p:sp>
      <p:sp>
        <p:nvSpPr>
          <p:cNvPr id="3" name="Content Placeholder 2"/>
          <p:cNvSpPr>
            <a:spLocks noGrp="1"/>
          </p:cNvSpPr>
          <p:nvPr>
            <p:ph idx="1"/>
          </p:nvPr>
        </p:nvSpPr>
        <p:spPr/>
        <p:txBody>
          <a:bodyPr>
            <a:normAutofit/>
          </a:bodyPr>
          <a:lstStyle/>
          <a:p>
            <a:pPr marL="514350" indent="-514350">
              <a:buFont typeface="+mj-lt"/>
              <a:buAutoNum type="arabicPeriod"/>
            </a:pPr>
            <a:r>
              <a:rPr lang="en-US" dirty="0"/>
              <a:t>A platform for distributed systems and applications consists of the lowest-level hardware and software layers. </a:t>
            </a:r>
          </a:p>
          <a:p>
            <a:pPr marL="514350" indent="-514350">
              <a:buFont typeface="+mj-lt"/>
              <a:buAutoNum type="arabicPeriod"/>
            </a:pPr>
            <a:r>
              <a:rPr lang="en-US" dirty="0"/>
              <a:t>These low-level layers provide services to the layers above them, which are implemented independently in each computer, bringing the system’s programming interface up to a level that facilitates communication and coordination between processes. </a:t>
            </a:r>
          </a:p>
          <a:p>
            <a:pPr marL="514350" indent="-514350">
              <a:buFont typeface="+mj-lt"/>
              <a:buAutoNum type="arabicPeriod"/>
            </a:pPr>
            <a:r>
              <a:rPr lang="en-US" dirty="0"/>
              <a:t>Intel x86/Windows, Intel x86/Solaris, Intel x86/Mac OS X, Intel x86/Linux and ARM/Symbian are major examples. </a:t>
            </a:r>
          </a:p>
          <a:p>
            <a:pPr marL="514350" indent="-514350">
              <a:buFont typeface="+mj-lt"/>
              <a:buAutoNum type="arabicPeriod"/>
            </a:pPr>
            <a:endParaRPr lang="en-IN" dirty="0"/>
          </a:p>
        </p:txBody>
      </p:sp>
    </p:spTree>
    <p:extLst>
      <p:ext uri="{BB962C8B-B14F-4D97-AF65-F5344CB8AC3E}">
        <p14:creationId xmlns:p14="http://schemas.microsoft.com/office/powerpoint/2010/main" val="67743531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Ctd..</a:t>
            </a:r>
            <a:endParaRPr lang="en-IN" dirty="0"/>
          </a:p>
        </p:txBody>
      </p:sp>
      <p:sp>
        <p:nvSpPr>
          <p:cNvPr id="3" name="Content Placeholder 2"/>
          <p:cNvSpPr>
            <a:spLocks noGrp="1"/>
          </p:cNvSpPr>
          <p:nvPr>
            <p:ph idx="1"/>
          </p:nvPr>
        </p:nvSpPr>
        <p:spPr/>
        <p:txBody>
          <a:bodyPr/>
          <a:lstStyle/>
          <a:p>
            <a:pPr marL="514350" indent="-514350" algn="just">
              <a:buFont typeface="+mj-lt"/>
              <a:buAutoNum type="arabicPeriod"/>
            </a:pPr>
            <a:r>
              <a:rPr lang="en-US" dirty="0">
                <a:solidFill>
                  <a:srgbClr val="FF0000"/>
                </a:solidFill>
              </a:rPr>
              <a:t>Remote Procedure Calls </a:t>
            </a:r>
            <a:r>
              <a:rPr lang="en-US" dirty="0"/>
              <a:t>– Client programs call procedures in server programs </a:t>
            </a:r>
          </a:p>
          <a:p>
            <a:pPr marL="514350" indent="-514350" algn="just">
              <a:buFont typeface="+mj-lt"/>
              <a:buAutoNum type="arabicPeriod"/>
            </a:pPr>
            <a:r>
              <a:rPr lang="en-US" dirty="0">
                <a:solidFill>
                  <a:srgbClr val="FF0000"/>
                </a:solidFill>
              </a:rPr>
              <a:t>Remote Method Invocation </a:t>
            </a:r>
            <a:r>
              <a:rPr lang="en-US" dirty="0"/>
              <a:t>– Objects invoke methods of objects on distributed hosts </a:t>
            </a:r>
          </a:p>
          <a:p>
            <a:pPr marL="514350" indent="-514350" algn="just">
              <a:buFont typeface="+mj-lt"/>
              <a:buAutoNum type="arabicPeriod"/>
            </a:pPr>
            <a:r>
              <a:rPr lang="en-US" dirty="0">
                <a:solidFill>
                  <a:srgbClr val="FF0000"/>
                </a:solidFill>
              </a:rPr>
              <a:t>Event-based Programming Model </a:t>
            </a:r>
            <a:r>
              <a:rPr lang="en-US" dirty="0"/>
              <a:t>– Objects receive notice of events in other objects in which they have interest</a:t>
            </a:r>
            <a:endParaRPr lang="en-IN" dirty="0"/>
          </a:p>
          <a:p>
            <a:pPr algn="just"/>
            <a:endParaRPr lang="en-IN" dirty="0"/>
          </a:p>
        </p:txBody>
      </p:sp>
    </p:spTree>
    <p:extLst>
      <p:ext uri="{BB962C8B-B14F-4D97-AF65-F5344CB8AC3E}">
        <p14:creationId xmlns:p14="http://schemas.microsoft.com/office/powerpoint/2010/main" val="366009079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Fundamental </a:t>
            </a:r>
            <a:r>
              <a:rPr lang="en-US" b="1" dirty="0"/>
              <a:t>models</a:t>
            </a:r>
            <a:endParaRPr lang="en-IN" dirty="0"/>
          </a:p>
        </p:txBody>
      </p:sp>
      <p:sp>
        <p:nvSpPr>
          <p:cNvPr id="3" name="Content Placeholder 2"/>
          <p:cNvSpPr>
            <a:spLocks noGrp="1"/>
          </p:cNvSpPr>
          <p:nvPr>
            <p:ph idx="1"/>
          </p:nvPr>
        </p:nvSpPr>
        <p:spPr>
          <a:xfrm>
            <a:off x="838200" y="1600200"/>
            <a:ext cx="10515600" cy="4756150"/>
          </a:xfrm>
        </p:spPr>
        <p:txBody>
          <a:bodyPr>
            <a:normAutofit/>
          </a:bodyPr>
          <a:lstStyle/>
          <a:p>
            <a:pPr marL="514350" indent="-514350">
              <a:buFont typeface="+mj-lt"/>
              <a:buAutoNum type="arabicPeriod"/>
            </a:pPr>
            <a:r>
              <a:rPr lang="en-US" b="1" dirty="0"/>
              <a:t>Interaction Model</a:t>
            </a:r>
          </a:p>
          <a:p>
            <a:pPr marL="514350" indent="-514350">
              <a:buFont typeface="+mj-lt"/>
              <a:buAutoNum type="arabicPeriod"/>
            </a:pPr>
            <a:r>
              <a:rPr lang="en-US" b="1" dirty="0"/>
              <a:t>Failure Model</a:t>
            </a:r>
          </a:p>
          <a:p>
            <a:pPr marL="514350" indent="-514350">
              <a:buFont typeface="+mj-lt"/>
              <a:buAutoNum type="arabicPeriod"/>
            </a:pPr>
            <a:r>
              <a:rPr lang="en-US" b="1" dirty="0"/>
              <a:t>Security Model</a:t>
            </a:r>
            <a:endParaRPr lang="en-IN" b="1" dirty="0"/>
          </a:p>
          <a:p>
            <a:pPr marL="0" indent="0">
              <a:buNone/>
            </a:pPr>
            <a:r>
              <a:rPr lang="en-US" b="1" dirty="0">
                <a:solidFill>
                  <a:srgbClr val="0000FF"/>
                </a:solidFill>
              </a:rPr>
              <a:t>Interaction Model</a:t>
            </a:r>
          </a:p>
          <a:p>
            <a:pPr marL="514350" indent="-514350" algn="just">
              <a:buFont typeface="+mj-lt"/>
              <a:buAutoNum type="arabicPeriod"/>
            </a:pPr>
            <a:r>
              <a:rPr lang="en-US" dirty="0"/>
              <a:t>Computation occurs within processes; the processes interact by passing messages, resulting in communication (information flow) and coordination (synchronization and ordering of activities) between processes. </a:t>
            </a:r>
          </a:p>
          <a:p>
            <a:pPr marL="514350" indent="-514350">
              <a:buFont typeface="+mj-lt"/>
              <a:buAutoNum type="arabicPeriod"/>
            </a:pPr>
            <a:r>
              <a:rPr lang="en-US" dirty="0"/>
              <a:t>In the analysis and design of distributed systems we are concerned especially with these interactions.</a:t>
            </a:r>
          </a:p>
          <a:p>
            <a:pPr marL="514350" indent="-514350">
              <a:buFont typeface="+mj-lt"/>
              <a:buAutoNum type="arabicPeriod"/>
            </a:pPr>
            <a:endParaRPr lang="en-IN" b="1" dirty="0"/>
          </a:p>
        </p:txBody>
      </p:sp>
    </p:spTree>
    <p:extLst>
      <p:ext uri="{BB962C8B-B14F-4D97-AF65-F5344CB8AC3E}">
        <p14:creationId xmlns:p14="http://schemas.microsoft.com/office/powerpoint/2010/main" val="15407053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00FF"/>
                </a:solidFill>
              </a:rPr>
              <a:t>Failure Model</a:t>
            </a:r>
            <a:br>
              <a:rPr lang="en-US" b="1" dirty="0">
                <a:solidFill>
                  <a:srgbClr val="0000FF"/>
                </a:solidFill>
              </a:rPr>
            </a:br>
            <a:endParaRPr lang="en-IN" dirty="0"/>
          </a:p>
        </p:txBody>
      </p:sp>
      <p:sp>
        <p:nvSpPr>
          <p:cNvPr id="3" name="Content Placeholder 2"/>
          <p:cNvSpPr>
            <a:spLocks noGrp="1"/>
          </p:cNvSpPr>
          <p:nvPr>
            <p:ph idx="1"/>
          </p:nvPr>
        </p:nvSpPr>
        <p:spPr/>
        <p:txBody>
          <a:bodyPr>
            <a:normAutofit/>
          </a:bodyPr>
          <a:lstStyle/>
          <a:p>
            <a:pPr marL="514350" indent="-514350" algn="just">
              <a:buFont typeface="+mj-lt"/>
              <a:buAutoNum type="arabicPeriod"/>
            </a:pPr>
            <a:r>
              <a:rPr lang="en-US" dirty="0"/>
              <a:t>The correct operation of a distributed system is threatened whenever a fault occurs in any of the computers on which it runs (including software faults) or in the network that connects them. </a:t>
            </a:r>
          </a:p>
          <a:p>
            <a:pPr marL="514350" indent="-514350" algn="just">
              <a:buFont typeface="+mj-lt"/>
              <a:buAutoNum type="arabicPeriod"/>
            </a:pPr>
            <a:r>
              <a:rPr lang="en-US" dirty="0"/>
              <a:t>This model defines and classifies the faults. </a:t>
            </a:r>
          </a:p>
          <a:p>
            <a:pPr marL="514350" indent="-514350" algn="just">
              <a:buFont typeface="+mj-lt"/>
              <a:buAutoNum type="arabicPeriod"/>
            </a:pPr>
            <a:r>
              <a:rPr lang="en-US" dirty="0"/>
              <a:t>This provides a basis for the analysis of their potential effects and for the design of systems that are able to tolerate faults of each type while continuing to run correctly</a:t>
            </a:r>
            <a:endParaRPr lang="en-IN" b="1" dirty="0"/>
          </a:p>
          <a:p>
            <a:endParaRPr lang="en-IN" dirty="0"/>
          </a:p>
        </p:txBody>
      </p:sp>
    </p:spTree>
    <p:extLst>
      <p:ext uri="{BB962C8B-B14F-4D97-AF65-F5344CB8AC3E}">
        <p14:creationId xmlns:p14="http://schemas.microsoft.com/office/powerpoint/2010/main" val="52333796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00FF"/>
                </a:solidFill>
              </a:rPr>
              <a:t>Security Model</a:t>
            </a:r>
            <a:br>
              <a:rPr lang="en-IN" b="1">
                <a:solidFill>
                  <a:srgbClr val="0000FF"/>
                </a:solidFill>
              </a:rPr>
            </a:br>
            <a:endParaRPr lang="en-IN"/>
          </a:p>
        </p:txBody>
      </p:sp>
      <p:sp>
        <p:nvSpPr>
          <p:cNvPr id="3" name="Content Placeholder 2"/>
          <p:cNvSpPr>
            <a:spLocks noGrp="1"/>
          </p:cNvSpPr>
          <p:nvPr>
            <p:ph idx="1"/>
          </p:nvPr>
        </p:nvSpPr>
        <p:spPr/>
        <p:txBody>
          <a:bodyPr/>
          <a:lstStyle/>
          <a:p>
            <a:pPr marL="514350" indent="-514350" algn="just">
              <a:buFont typeface="+mj-lt"/>
              <a:buAutoNum type="arabicPeriod"/>
            </a:pPr>
            <a:r>
              <a:rPr lang="en-US" dirty="0"/>
              <a:t>Security model defines and classifies the forms that such attacks may take.</a:t>
            </a:r>
          </a:p>
          <a:p>
            <a:pPr marL="514350" indent="-514350" algn="just">
              <a:buFont typeface="+mj-lt"/>
              <a:buAutoNum type="arabicPeriod"/>
            </a:pPr>
            <a:r>
              <a:rPr lang="en-US" dirty="0"/>
              <a:t>Systems openness exposes them to attack by both external and internal agents</a:t>
            </a:r>
          </a:p>
          <a:p>
            <a:pPr marL="514350" indent="-514350" algn="just">
              <a:buFont typeface="+mj-lt"/>
              <a:buAutoNum type="arabicPeriod"/>
            </a:pPr>
            <a:r>
              <a:rPr lang="en-US" dirty="0"/>
              <a:t>Providing a basis for the analysis of threats to a system and for the design of systems that are able to resist them</a:t>
            </a:r>
            <a:endParaRPr lang="en-IN" dirty="0"/>
          </a:p>
        </p:txBody>
      </p:sp>
    </p:spTree>
    <p:extLst>
      <p:ext uri="{BB962C8B-B14F-4D97-AF65-F5344CB8AC3E}">
        <p14:creationId xmlns:p14="http://schemas.microsoft.com/office/powerpoint/2010/main" val="107015304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AF2C4-ECBE-4E07-9B75-9CB77B73C1AA}"/>
              </a:ext>
            </a:extLst>
          </p:cNvPr>
          <p:cNvSpPr>
            <a:spLocks noGrp="1"/>
          </p:cNvSpPr>
          <p:nvPr>
            <p:ph type="title"/>
          </p:nvPr>
        </p:nvSpPr>
        <p:spPr/>
        <p:txBody>
          <a:bodyPr/>
          <a:lstStyle/>
          <a:p>
            <a:r>
              <a:rPr lang="en-US" b="1" dirty="0"/>
              <a:t>Interaction Model</a:t>
            </a:r>
            <a:br>
              <a:rPr lang="en-US" b="1" dirty="0"/>
            </a:br>
            <a:endParaRPr lang="en-IN" dirty="0"/>
          </a:p>
        </p:txBody>
      </p:sp>
      <p:sp>
        <p:nvSpPr>
          <p:cNvPr id="3" name="Content Placeholder 2">
            <a:extLst>
              <a:ext uri="{FF2B5EF4-FFF2-40B4-BE49-F238E27FC236}">
                <a16:creationId xmlns:a16="http://schemas.microsoft.com/office/drawing/2014/main" id="{0BCC94B4-6D7A-4154-857E-B7D7D50C7C74}"/>
              </a:ext>
            </a:extLst>
          </p:cNvPr>
          <p:cNvSpPr>
            <a:spLocks noGrp="1"/>
          </p:cNvSpPr>
          <p:nvPr>
            <p:ph idx="1"/>
          </p:nvPr>
        </p:nvSpPr>
        <p:spPr>
          <a:xfrm>
            <a:off x="838200" y="1537252"/>
            <a:ext cx="10515600" cy="4639711"/>
          </a:xfrm>
        </p:spPr>
        <p:txBody>
          <a:bodyPr>
            <a:normAutofit/>
          </a:bodyPr>
          <a:lstStyle/>
          <a:p>
            <a:pPr algn="just"/>
            <a:r>
              <a:rPr lang="en-US" dirty="0"/>
              <a:t>The </a:t>
            </a:r>
            <a:r>
              <a:rPr lang="en-US" b="1" dirty="0"/>
              <a:t>interaction model</a:t>
            </a:r>
            <a:r>
              <a:rPr lang="en-US" dirty="0"/>
              <a:t> describes the communication between processes in a distributed system. </a:t>
            </a:r>
          </a:p>
          <a:p>
            <a:pPr algn="just"/>
            <a:r>
              <a:rPr lang="en-US" dirty="0"/>
              <a:t>It focuses on how processes exchange information and the challenges of achieving coordination in a distributed environment.</a:t>
            </a:r>
          </a:p>
          <a:p>
            <a:pPr algn="just"/>
            <a:r>
              <a:rPr lang="en-US" b="1" dirty="0"/>
              <a:t>Key Concepts</a:t>
            </a:r>
          </a:p>
          <a:p>
            <a:pPr algn="just"/>
            <a:r>
              <a:rPr lang="en-US" b="1" dirty="0"/>
              <a:t>Communication Mechanisms</a:t>
            </a:r>
            <a:r>
              <a:rPr lang="en-US" dirty="0"/>
              <a:t>:</a:t>
            </a:r>
          </a:p>
          <a:p>
            <a:pPr lvl="1" algn="just"/>
            <a:r>
              <a:rPr lang="en-US" b="1" dirty="0"/>
              <a:t>Message Passing</a:t>
            </a:r>
            <a:r>
              <a:rPr lang="en-US" dirty="0"/>
              <a:t>: Processes communicate by sending and receiving discrete messages.</a:t>
            </a:r>
          </a:p>
          <a:p>
            <a:pPr lvl="1" algn="just"/>
            <a:r>
              <a:rPr lang="en-US" b="1" dirty="0"/>
              <a:t>Remote Procedure Calls (RPCs)</a:t>
            </a:r>
            <a:r>
              <a:rPr lang="en-US" dirty="0"/>
              <a:t>: Abstract communication to resemble local function calls.</a:t>
            </a:r>
          </a:p>
          <a:p>
            <a:pPr lvl="1" algn="just"/>
            <a:r>
              <a:rPr lang="en-US" b="1" dirty="0"/>
              <a:t>Distributed Objects</a:t>
            </a:r>
            <a:r>
              <a:rPr lang="en-US" dirty="0"/>
              <a:t>: Use object-oriented paradigms for process interactions.</a:t>
            </a:r>
          </a:p>
          <a:p>
            <a:pPr algn="just"/>
            <a:endParaRPr lang="en-IN" dirty="0"/>
          </a:p>
        </p:txBody>
      </p:sp>
    </p:spTree>
    <p:extLst>
      <p:ext uri="{BB962C8B-B14F-4D97-AF65-F5344CB8AC3E}">
        <p14:creationId xmlns:p14="http://schemas.microsoft.com/office/powerpoint/2010/main" val="9375329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88B37-90FC-4F1B-B81D-6B87A58F4D4B}"/>
              </a:ext>
            </a:extLst>
          </p:cNvPr>
          <p:cNvSpPr>
            <a:spLocks noGrp="1"/>
          </p:cNvSpPr>
          <p:nvPr>
            <p:ph type="title"/>
          </p:nvPr>
        </p:nvSpPr>
        <p:spPr/>
        <p:txBody>
          <a:bodyPr/>
          <a:lstStyle/>
          <a:p>
            <a:r>
              <a:rPr lang="en-US" dirty="0"/>
              <a:t>Core concerns</a:t>
            </a:r>
            <a:endParaRPr lang="en-IN" dirty="0"/>
          </a:p>
        </p:txBody>
      </p:sp>
      <p:sp>
        <p:nvSpPr>
          <p:cNvPr id="3" name="Content Placeholder 2">
            <a:extLst>
              <a:ext uri="{FF2B5EF4-FFF2-40B4-BE49-F238E27FC236}">
                <a16:creationId xmlns:a16="http://schemas.microsoft.com/office/drawing/2014/main" id="{AE1D25E5-7C28-4030-B3BB-53F1AC82AA5A}"/>
              </a:ext>
            </a:extLst>
          </p:cNvPr>
          <p:cNvSpPr>
            <a:spLocks noGrp="1"/>
          </p:cNvSpPr>
          <p:nvPr>
            <p:ph idx="1"/>
          </p:nvPr>
        </p:nvSpPr>
        <p:spPr/>
        <p:txBody>
          <a:bodyPr>
            <a:normAutofit fontScale="92500" lnSpcReduction="10000"/>
          </a:bodyPr>
          <a:lstStyle/>
          <a:p>
            <a:r>
              <a:rPr lang="en-US" b="1" dirty="0"/>
              <a:t>Latency</a:t>
            </a:r>
            <a:r>
              <a:rPr lang="en-US" dirty="0"/>
              <a:t>:</a:t>
            </a:r>
          </a:p>
          <a:p>
            <a:pPr lvl="1"/>
            <a:r>
              <a:rPr lang="en-US" dirty="0"/>
              <a:t>Time delay in message delivery caused by propagation delay, queuing, and processing time.</a:t>
            </a:r>
          </a:p>
          <a:p>
            <a:pPr lvl="1"/>
            <a:r>
              <a:rPr lang="en-US" dirty="0"/>
              <a:t>Affects performance and user experience in distributed systems.</a:t>
            </a:r>
          </a:p>
          <a:p>
            <a:r>
              <a:rPr lang="en-US" b="1" dirty="0"/>
              <a:t>Concurrency</a:t>
            </a:r>
            <a:r>
              <a:rPr lang="en-US" dirty="0"/>
              <a:t>:</a:t>
            </a:r>
          </a:p>
          <a:p>
            <a:pPr lvl="1"/>
            <a:r>
              <a:rPr lang="en-US" dirty="0"/>
              <a:t>Multiple processes operate simultaneously, potentially leading to synchronization issues.</a:t>
            </a:r>
          </a:p>
          <a:p>
            <a:r>
              <a:rPr lang="en-US" b="1" dirty="0"/>
              <a:t>Synchronization</a:t>
            </a:r>
            <a:r>
              <a:rPr lang="en-US" dirty="0"/>
              <a:t>:</a:t>
            </a:r>
          </a:p>
          <a:p>
            <a:pPr lvl="1"/>
            <a:r>
              <a:rPr lang="en-US" dirty="0"/>
              <a:t>Coordinating actions of processes in an asynchronous environment.</a:t>
            </a:r>
          </a:p>
          <a:p>
            <a:pPr lvl="1"/>
            <a:r>
              <a:rPr lang="en-US" dirty="0"/>
              <a:t>Models:</a:t>
            </a:r>
          </a:p>
          <a:p>
            <a:pPr lvl="2"/>
            <a:r>
              <a:rPr lang="en-US" b="1" dirty="0">
                <a:solidFill>
                  <a:srgbClr val="FF0000"/>
                </a:solidFill>
              </a:rPr>
              <a:t>Synchronous Systems</a:t>
            </a:r>
            <a:r>
              <a:rPr lang="en-US" dirty="0"/>
              <a:t>: Known bounds on execution time and communication delays.</a:t>
            </a:r>
          </a:p>
          <a:p>
            <a:pPr lvl="2"/>
            <a:r>
              <a:rPr lang="en-US" b="1" dirty="0">
                <a:solidFill>
                  <a:srgbClr val="FF0000"/>
                </a:solidFill>
              </a:rPr>
              <a:t>Asynchronous Systems</a:t>
            </a:r>
            <a:r>
              <a:rPr lang="en-US" dirty="0"/>
              <a:t>: No assumptions on time bounds.</a:t>
            </a:r>
          </a:p>
          <a:p>
            <a:endParaRPr lang="en-IN" dirty="0"/>
          </a:p>
        </p:txBody>
      </p:sp>
    </p:spTree>
    <p:extLst>
      <p:ext uri="{BB962C8B-B14F-4D97-AF65-F5344CB8AC3E}">
        <p14:creationId xmlns:p14="http://schemas.microsoft.com/office/powerpoint/2010/main" val="363906551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20787-ED9A-48BE-899B-AE88D5765701}"/>
              </a:ext>
            </a:extLst>
          </p:cNvPr>
          <p:cNvSpPr>
            <a:spLocks noGrp="1"/>
          </p:cNvSpPr>
          <p:nvPr>
            <p:ph type="title"/>
          </p:nvPr>
        </p:nvSpPr>
        <p:spPr/>
        <p:txBody>
          <a:bodyPr/>
          <a:lstStyle/>
          <a:p>
            <a:r>
              <a:rPr lang="en-US" b="1" dirty="0"/>
              <a:t>Challenges in the Interaction Model:</a:t>
            </a:r>
            <a:br>
              <a:rPr lang="en-US" b="1" dirty="0"/>
            </a:br>
            <a:endParaRPr lang="en-IN" dirty="0"/>
          </a:p>
        </p:txBody>
      </p:sp>
      <p:sp>
        <p:nvSpPr>
          <p:cNvPr id="3" name="Content Placeholder 2">
            <a:extLst>
              <a:ext uri="{FF2B5EF4-FFF2-40B4-BE49-F238E27FC236}">
                <a16:creationId xmlns:a16="http://schemas.microsoft.com/office/drawing/2014/main" id="{69B9A151-81F3-4F62-BE0E-60022AE532F2}"/>
              </a:ext>
            </a:extLst>
          </p:cNvPr>
          <p:cNvSpPr>
            <a:spLocks noGrp="1"/>
          </p:cNvSpPr>
          <p:nvPr>
            <p:ph idx="1"/>
          </p:nvPr>
        </p:nvSpPr>
        <p:spPr/>
        <p:txBody>
          <a:bodyPr/>
          <a:lstStyle/>
          <a:p>
            <a:r>
              <a:rPr lang="en-US" b="1" dirty="0"/>
              <a:t>Unpredictable Delays</a:t>
            </a:r>
            <a:r>
              <a:rPr lang="en-US" dirty="0"/>
              <a:t>: Messages can experience varying latencies.</a:t>
            </a:r>
          </a:p>
          <a:p>
            <a:r>
              <a:rPr lang="en-US" b="1" dirty="0"/>
              <a:t>Clock Synchronization</a:t>
            </a:r>
            <a:r>
              <a:rPr lang="en-US" dirty="0"/>
              <a:t>: Ensuring consistency of distributed clocks.</a:t>
            </a:r>
          </a:p>
          <a:p>
            <a:r>
              <a:rPr lang="en-US" b="1" dirty="0"/>
              <a:t>Fault Tolerance</a:t>
            </a:r>
            <a:r>
              <a:rPr lang="en-US" dirty="0"/>
              <a:t>: Designing mechanisms to handle partial system failures.</a:t>
            </a:r>
          </a:p>
          <a:p>
            <a:r>
              <a:rPr lang="en-US" b="1" dirty="0"/>
              <a:t>Mitigations:</a:t>
            </a:r>
          </a:p>
          <a:p>
            <a:r>
              <a:rPr lang="en-US" dirty="0"/>
              <a:t>Use of </a:t>
            </a:r>
            <a:r>
              <a:rPr lang="en-US" b="1" dirty="0"/>
              <a:t>logical clocks</a:t>
            </a:r>
            <a:r>
              <a:rPr lang="en-US" dirty="0"/>
              <a:t> (e.g., Lamport clocks) to maintain event order.</a:t>
            </a:r>
          </a:p>
          <a:p>
            <a:r>
              <a:rPr lang="en-US" dirty="0"/>
              <a:t>Implementing </a:t>
            </a:r>
            <a:r>
              <a:rPr lang="en-US" b="1" dirty="0"/>
              <a:t>timeout mechanisms</a:t>
            </a:r>
            <a:r>
              <a:rPr lang="en-US" dirty="0"/>
              <a:t> to detect communication failures.</a:t>
            </a:r>
          </a:p>
          <a:p>
            <a:endParaRPr lang="en-IN" dirty="0"/>
          </a:p>
        </p:txBody>
      </p:sp>
    </p:spTree>
    <p:extLst>
      <p:ext uri="{BB962C8B-B14F-4D97-AF65-F5344CB8AC3E}">
        <p14:creationId xmlns:p14="http://schemas.microsoft.com/office/powerpoint/2010/main" val="73012136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normAutofit/>
          </a:bodyPr>
          <a:lstStyle/>
          <a:p>
            <a:r>
              <a:rPr lang="en-IN" dirty="0"/>
              <a:t>Interaction Models based on Synchronization</a:t>
            </a:r>
          </a:p>
        </p:txBody>
      </p:sp>
      <p:sp>
        <p:nvSpPr>
          <p:cNvPr id="23555" name="Content Placeholder 2"/>
          <p:cNvSpPr>
            <a:spLocks noGrp="1"/>
          </p:cNvSpPr>
          <p:nvPr>
            <p:ph idx="1"/>
          </p:nvPr>
        </p:nvSpPr>
        <p:spPr/>
        <p:txBody>
          <a:bodyPr/>
          <a:lstStyle/>
          <a:p>
            <a:r>
              <a:rPr lang="en-US" dirty="0">
                <a:solidFill>
                  <a:srgbClr val="0070C0"/>
                </a:solidFill>
              </a:rPr>
              <a:t>Synchronous distributed system to </a:t>
            </a:r>
            <a:r>
              <a:rPr lang="en-US" dirty="0"/>
              <a:t>be one in which the following bounds are defined:</a:t>
            </a:r>
          </a:p>
          <a:p>
            <a:r>
              <a:rPr lang="en-US" b="1" dirty="0"/>
              <a:t>• </a:t>
            </a:r>
            <a:r>
              <a:rPr lang="en-US" dirty="0"/>
              <a:t>The time to execute each step of a process has </a:t>
            </a:r>
            <a:r>
              <a:rPr lang="en-US" dirty="0">
                <a:solidFill>
                  <a:srgbClr val="FF0000"/>
                </a:solidFill>
              </a:rPr>
              <a:t>known lower and upper bounds.</a:t>
            </a:r>
          </a:p>
          <a:p>
            <a:r>
              <a:rPr lang="en-US" b="1" dirty="0"/>
              <a:t>• </a:t>
            </a:r>
            <a:r>
              <a:rPr lang="en-US" dirty="0"/>
              <a:t>Each message transmitted over a channel is received </a:t>
            </a:r>
            <a:r>
              <a:rPr lang="en-US" dirty="0">
                <a:solidFill>
                  <a:srgbClr val="FF0000"/>
                </a:solidFill>
              </a:rPr>
              <a:t>within a known bounded </a:t>
            </a:r>
            <a:r>
              <a:rPr lang="en-IN" dirty="0">
                <a:solidFill>
                  <a:srgbClr val="FF0000"/>
                </a:solidFill>
              </a:rPr>
              <a:t>time.</a:t>
            </a:r>
          </a:p>
          <a:p>
            <a:r>
              <a:rPr lang="en-US" b="1" dirty="0"/>
              <a:t>• </a:t>
            </a:r>
            <a:r>
              <a:rPr lang="en-US" dirty="0"/>
              <a:t>Each process has a local clock whose </a:t>
            </a:r>
            <a:r>
              <a:rPr lang="en-US" dirty="0">
                <a:solidFill>
                  <a:srgbClr val="FF0000"/>
                </a:solidFill>
              </a:rPr>
              <a:t>drift rate from real time has a known </a:t>
            </a:r>
            <a:r>
              <a:rPr lang="en-IN" dirty="0">
                <a:solidFill>
                  <a:srgbClr val="FF0000"/>
                </a:solidFill>
              </a:rPr>
              <a:t>bound</a:t>
            </a:r>
            <a:r>
              <a:rPr lang="en-IN" dirty="0"/>
              <a:t>.</a:t>
            </a:r>
          </a:p>
        </p:txBody>
      </p:sp>
    </p:spTree>
    <p:extLst>
      <p:ext uri="{BB962C8B-B14F-4D97-AF65-F5344CB8AC3E}">
        <p14:creationId xmlns:p14="http://schemas.microsoft.com/office/powerpoint/2010/main" val="346364594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838200" y="352425"/>
            <a:ext cx="10515600" cy="1325563"/>
          </a:xfrm>
        </p:spPr>
        <p:txBody>
          <a:bodyPr>
            <a:normAutofit/>
          </a:bodyPr>
          <a:lstStyle/>
          <a:p>
            <a:r>
              <a:rPr lang="en-US" sz="3200" i="1" dirty="0"/>
              <a:t>Asynchronous distributed systems</a:t>
            </a:r>
            <a:r>
              <a:rPr lang="en-US" sz="3200" dirty="0"/>
              <a:t>:</a:t>
            </a:r>
            <a:endParaRPr lang="en-IN" sz="3200" dirty="0"/>
          </a:p>
        </p:txBody>
      </p:sp>
      <p:sp>
        <p:nvSpPr>
          <p:cNvPr id="24579" name="Content Placeholder 2"/>
          <p:cNvSpPr>
            <a:spLocks noGrp="1"/>
          </p:cNvSpPr>
          <p:nvPr>
            <p:ph idx="1"/>
          </p:nvPr>
        </p:nvSpPr>
        <p:spPr>
          <a:xfrm>
            <a:off x="838200" y="1568450"/>
            <a:ext cx="9829801" cy="5410200"/>
          </a:xfrm>
        </p:spPr>
        <p:txBody>
          <a:bodyPr>
            <a:normAutofit/>
          </a:bodyPr>
          <a:lstStyle/>
          <a:p>
            <a:r>
              <a:rPr lang="en-US" dirty="0"/>
              <a:t>Many distributed systems, such as the Internet, are very useful without being able to qualify as synchronous systems. </a:t>
            </a:r>
          </a:p>
          <a:p>
            <a:r>
              <a:rPr lang="en-US" dirty="0"/>
              <a:t>An asynchronous distributed system is one in which there </a:t>
            </a:r>
            <a:r>
              <a:rPr lang="en-IN" dirty="0"/>
              <a:t>are </a:t>
            </a:r>
            <a:r>
              <a:rPr lang="en-IN" dirty="0">
                <a:solidFill>
                  <a:srgbClr val="FF0000"/>
                </a:solidFill>
              </a:rPr>
              <a:t>no bounds on:</a:t>
            </a:r>
          </a:p>
          <a:p>
            <a:r>
              <a:rPr lang="en-US" b="1" dirty="0"/>
              <a:t>• </a:t>
            </a:r>
            <a:r>
              <a:rPr lang="en-US" dirty="0">
                <a:solidFill>
                  <a:srgbClr val="FF0000"/>
                </a:solidFill>
              </a:rPr>
              <a:t>Process execution speeds </a:t>
            </a:r>
            <a:r>
              <a:rPr lang="en-US" dirty="0"/>
              <a:t>–process step may take only a picosecond and another a century; all that can be said is that each step may take </a:t>
            </a:r>
            <a:r>
              <a:rPr lang="en-IN" dirty="0"/>
              <a:t>an arbitrarily long time.</a:t>
            </a:r>
          </a:p>
          <a:p>
            <a:r>
              <a:rPr lang="en-US" b="1" dirty="0"/>
              <a:t>• </a:t>
            </a:r>
            <a:r>
              <a:rPr lang="en-US" dirty="0">
                <a:solidFill>
                  <a:srgbClr val="FF0000"/>
                </a:solidFill>
              </a:rPr>
              <a:t>Message transmission delays </a:t>
            </a:r>
            <a:r>
              <a:rPr lang="en-US" dirty="0"/>
              <a:t>– messages from process A to process B may be, a message received after an arbitrarily long time.</a:t>
            </a:r>
          </a:p>
          <a:p>
            <a:r>
              <a:rPr lang="en-US" b="1" dirty="0"/>
              <a:t>• </a:t>
            </a:r>
            <a:r>
              <a:rPr lang="en-US" dirty="0"/>
              <a:t>Clock drift rates – again, the drift rate of a </a:t>
            </a:r>
            <a:r>
              <a:rPr lang="en-US" dirty="0">
                <a:solidFill>
                  <a:srgbClr val="FF0000"/>
                </a:solidFill>
              </a:rPr>
              <a:t>clock is arbitrary</a:t>
            </a:r>
            <a:r>
              <a:rPr lang="en-US" dirty="0"/>
              <a:t>.</a:t>
            </a:r>
            <a:endParaRPr lang="en-IN" dirty="0"/>
          </a:p>
        </p:txBody>
      </p:sp>
    </p:spTree>
    <p:extLst>
      <p:ext uri="{BB962C8B-B14F-4D97-AF65-F5344CB8AC3E}">
        <p14:creationId xmlns:p14="http://schemas.microsoft.com/office/powerpoint/2010/main" val="175454259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sz="3600" i="1"/>
              <a:t>latency</a:t>
            </a:r>
            <a:br>
              <a:rPr lang="en-IN" sz="3600"/>
            </a:br>
            <a:endParaRPr lang="en-IN" sz="3600"/>
          </a:p>
        </p:txBody>
      </p:sp>
      <p:sp>
        <p:nvSpPr>
          <p:cNvPr id="3" name="Content Placeholder 2"/>
          <p:cNvSpPr>
            <a:spLocks noGrp="1"/>
          </p:cNvSpPr>
          <p:nvPr>
            <p:ph idx="1"/>
          </p:nvPr>
        </p:nvSpPr>
        <p:spPr>
          <a:xfrm>
            <a:off x="838200" y="1431925"/>
            <a:ext cx="10515600" cy="4351338"/>
          </a:xfrm>
        </p:spPr>
        <p:txBody>
          <a:bodyPr>
            <a:noAutofit/>
          </a:bodyPr>
          <a:lstStyle/>
          <a:p>
            <a:pPr>
              <a:defRPr/>
            </a:pPr>
            <a:r>
              <a:rPr lang="en-US" dirty="0"/>
              <a:t>Delay </a:t>
            </a:r>
            <a:r>
              <a:rPr lang="en-US" sz="3200" dirty="0"/>
              <a:t>between</a:t>
            </a:r>
            <a:r>
              <a:rPr lang="en-US" dirty="0"/>
              <a:t> the start of a message’s transmission from one process and the beginning of its receipt by another is referred to as </a:t>
            </a:r>
            <a:r>
              <a:rPr lang="en-US" i="1" dirty="0"/>
              <a:t>latency , it includes</a:t>
            </a:r>
          </a:p>
          <a:p>
            <a:pPr marL="457200" indent="-457200">
              <a:buFont typeface="+mj-lt"/>
              <a:buAutoNum type="arabicPeriod"/>
              <a:defRPr/>
            </a:pPr>
            <a:r>
              <a:rPr lang="en-US" dirty="0">
                <a:solidFill>
                  <a:srgbClr val="FF0000"/>
                </a:solidFill>
              </a:rPr>
              <a:t>time taken </a:t>
            </a:r>
            <a:r>
              <a:rPr lang="en-US" dirty="0"/>
              <a:t>for the first of a string </a:t>
            </a:r>
            <a:r>
              <a:rPr lang="en-US" dirty="0">
                <a:solidFill>
                  <a:srgbClr val="FF0000"/>
                </a:solidFill>
              </a:rPr>
              <a:t>of bits transmitted through a network</a:t>
            </a:r>
            <a:r>
              <a:rPr lang="en-US" dirty="0"/>
              <a:t> to </a:t>
            </a:r>
            <a:r>
              <a:rPr lang="en-IN" dirty="0"/>
              <a:t>reach its destination.</a:t>
            </a:r>
          </a:p>
          <a:p>
            <a:pPr marL="457200" indent="-457200">
              <a:buFont typeface="+mj-lt"/>
              <a:buAutoNum type="arabicPeriod"/>
              <a:defRPr/>
            </a:pPr>
            <a:r>
              <a:rPr lang="en-US" dirty="0"/>
              <a:t>The </a:t>
            </a:r>
            <a:r>
              <a:rPr lang="en-US" dirty="0">
                <a:solidFill>
                  <a:srgbClr val="FF0000"/>
                </a:solidFill>
              </a:rPr>
              <a:t>delay in accessing the network</a:t>
            </a:r>
            <a:r>
              <a:rPr lang="en-US" dirty="0"/>
              <a:t>, which increases significantly when the </a:t>
            </a:r>
            <a:r>
              <a:rPr lang="en-IN" dirty="0"/>
              <a:t>network is heavily loaded.</a:t>
            </a:r>
          </a:p>
          <a:p>
            <a:pPr marL="457200" indent="-457200">
              <a:buFont typeface="+mj-lt"/>
              <a:buAutoNum type="arabicPeriod"/>
              <a:defRPr/>
            </a:pPr>
            <a:r>
              <a:rPr lang="en-US" dirty="0"/>
              <a:t>The </a:t>
            </a:r>
            <a:r>
              <a:rPr lang="en-US" dirty="0">
                <a:solidFill>
                  <a:srgbClr val="FF0000"/>
                </a:solidFill>
              </a:rPr>
              <a:t>time taken by the operating system </a:t>
            </a:r>
            <a:r>
              <a:rPr lang="en-US" dirty="0"/>
              <a:t>communication services at both the sending and the receiving processes</a:t>
            </a:r>
          </a:p>
          <a:p>
            <a:pPr marL="457200" indent="-457200">
              <a:buFont typeface="+mj-lt"/>
              <a:buAutoNum type="arabicPeriod"/>
              <a:defRPr/>
            </a:pPr>
            <a:r>
              <a:rPr lang="en-US" dirty="0"/>
              <a:t>Also, involves </a:t>
            </a:r>
            <a:r>
              <a:rPr lang="en-US" dirty="0">
                <a:solidFill>
                  <a:srgbClr val="FF0000"/>
                </a:solidFill>
              </a:rPr>
              <a:t>Bandwidth and Jitter</a:t>
            </a:r>
            <a:endParaRPr lang="en-IN" dirty="0">
              <a:solidFill>
                <a:srgbClr val="FF0000"/>
              </a:solidFill>
            </a:endParaRPr>
          </a:p>
        </p:txBody>
      </p:sp>
    </p:spTree>
    <p:extLst>
      <p:ext uri="{BB962C8B-B14F-4D97-AF65-F5344CB8AC3E}">
        <p14:creationId xmlns:p14="http://schemas.microsoft.com/office/powerpoint/2010/main" val="21361929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Event Ordering</a:t>
            </a:r>
            <a:endParaRPr lang="en-IN" dirty="0"/>
          </a:p>
        </p:txBody>
      </p:sp>
      <p:sp>
        <p:nvSpPr>
          <p:cNvPr id="3" name="Content Placeholder 2"/>
          <p:cNvSpPr>
            <a:spLocks noGrp="1"/>
          </p:cNvSpPr>
          <p:nvPr>
            <p:ph idx="1"/>
          </p:nvPr>
        </p:nvSpPr>
        <p:spPr>
          <a:xfrm>
            <a:off x="838200" y="1690688"/>
            <a:ext cx="10515600" cy="4486275"/>
          </a:xfrm>
        </p:spPr>
        <p:txBody>
          <a:bodyPr>
            <a:normAutofit/>
          </a:bodyPr>
          <a:lstStyle/>
          <a:p>
            <a:pPr algn="just"/>
            <a:r>
              <a:rPr lang="en-US" dirty="0"/>
              <a:t>Sending or receiving a message at one process occurred before, after or concurrently with another event at another process. </a:t>
            </a:r>
          </a:p>
          <a:p>
            <a:pPr algn="just"/>
            <a:r>
              <a:rPr lang="en-US" dirty="0"/>
              <a:t>The execution of a system is described in terms of events and their ordering despite the lack of accurate clocks. </a:t>
            </a:r>
          </a:p>
          <a:p>
            <a:pPr algn="just"/>
            <a:r>
              <a:rPr lang="en-US" dirty="0"/>
              <a:t>For example, consider the following set of exchanges between a group of email users, X, Y, Z and A, on a mailing list: </a:t>
            </a:r>
          </a:p>
          <a:p>
            <a:pPr algn="just"/>
            <a:r>
              <a:rPr lang="en-US" dirty="0"/>
              <a:t>1. User X sends a message with the subject Meeting. </a:t>
            </a:r>
          </a:p>
          <a:p>
            <a:pPr algn="just"/>
            <a:r>
              <a:rPr lang="en-US" dirty="0"/>
              <a:t>2. Users Y and Z reply by sending a message with the subject Re: Meeting.</a:t>
            </a:r>
            <a:endParaRPr lang="en-IN" dirty="0"/>
          </a:p>
        </p:txBody>
      </p:sp>
    </p:spTree>
    <p:extLst>
      <p:ext uri="{BB962C8B-B14F-4D97-AF65-F5344CB8AC3E}">
        <p14:creationId xmlns:p14="http://schemas.microsoft.com/office/powerpoint/2010/main" val="161079904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Ctd..</a:t>
            </a:r>
            <a:endParaRPr lang="en-IN" dirty="0"/>
          </a:p>
        </p:txBody>
      </p:sp>
      <p:sp>
        <p:nvSpPr>
          <p:cNvPr id="3" name="Content Placeholder 2"/>
          <p:cNvSpPr>
            <a:spLocks noGrp="1"/>
          </p:cNvSpPr>
          <p:nvPr>
            <p:ph idx="1"/>
          </p:nvPr>
        </p:nvSpPr>
        <p:spPr/>
        <p:txBody>
          <a:bodyPr/>
          <a:lstStyle/>
          <a:p>
            <a:r>
              <a:rPr lang="en-US" dirty="0"/>
              <a:t>In real time, X’s message is sent first, and Y reads it and replies; </a:t>
            </a:r>
          </a:p>
          <a:p>
            <a:r>
              <a:rPr lang="en-US" dirty="0"/>
              <a:t>Z then reads both X’s message and Y’s reply and sends another reply, which references both X’s and Y’s messages. </a:t>
            </a:r>
          </a:p>
          <a:p>
            <a:r>
              <a:rPr lang="en-US" dirty="0"/>
              <a:t>Due to the independent delays in message delivery, the messages may be delivered as in Figure.</a:t>
            </a:r>
          </a:p>
          <a:p>
            <a:r>
              <a:rPr lang="en-US" dirty="0"/>
              <a:t>some users may view these two messages in the wrong order. For example, user A might see</a:t>
            </a:r>
            <a:endParaRPr lang="en-IN" dirty="0"/>
          </a:p>
        </p:txBody>
      </p:sp>
    </p:spTree>
    <p:extLst>
      <p:ext uri="{BB962C8B-B14F-4D97-AF65-F5344CB8AC3E}">
        <p14:creationId xmlns:p14="http://schemas.microsoft.com/office/powerpoint/2010/main" val="331923890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487EE-FFDB-4F4F-B4C3-BFE3E45690E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16A12BB-8C1A-48FA-A0E8-2E7289EA35E0}"/>
              </a:ext>
            </a:extLst>
          </p:cNvPr>
          <p:cNvSpPr>
            <a:spLocks noGrp="1"/>
          </p:cNvSpPr>
          <p:nvPr>
            <p:ph idx="1"/>
          </p:nvPr>
        </p:nvSpPr>
        <p:spPr/>
        <p:txBody>
          <a:bodyPr/>
          <a:lstStyle/>
          <a:p>
            <a:r>
              <a:rPr lang="en-US" dirty="0"/>
              <a:t>X’s message is sent first</a:t>
            </a:r>
          </a:p>
          <a:p>
            <a:r>
              <a:rPr lang="en-US" dirty="0"/>
              <a:t>Y reads it and replies</a:t>
            </a:r>
          </a:p>
          <a:p>
            <a:r>
              <a:rPr lang="en-US" dirty="0"/>
              <a:t>Z then reads both X’s message and Y’s reply</a:t>
            </a:r>
          </a:p>
          <a:p>
            <a:r>
              <a:rPr lang="en-US" dirty="0"/>
              <a:t>which references both X’s and Y’s messages</a:t>
            </a:r>
          </a:p>
          <a:p>
            <a:r>
              <a:rPr lang="en-US" dirty="0"/>
              <a:t>But due to the independent delays in message delivery, the messages may be delivered as shown in Figure</a:t>
            </a:r>
          </a:p>
          <a:p>
            <a:r>
              <a:rPr lang="en-IN" dirty="0"/>
              <a:t>user A might see as in the table next</a:t>
            </a:r>
          </a:p>
        </p:txBody>
      </p:sp>
    </p:spTree>
    <p:extLst>
      <p:ext uri="{BB962C8B-B14F-4D97-AF65-F5344CB8AC3E}">
        <p14:creationId xmlns:p14="http://schemas.microsoft.com/office/powerpoint/2010/main" val="394257316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Ctd</a:t>
            </a:r>
            <a:endParaRPr lang="en-IN" dirty="0"/>
          </a:p>
        </p:txBody>
      </p:sp>
      <p:pic>
        <p:nvPicPr>
          <p:cNvPr id="6" name="Content Placeholder 5"/>
          <p:cNvPicPr>
            <a:picLocks noGrp="1" noChangeAspect="1"/>
          </p:cNvPicPr>
          <p:nvPr>
            <p:ph idx="1"/>
          </p:nvPr>
        </p:nvPicPr>
        <p:blipFill rotWithShape="1">
          <a:blip r:embed="rId2"/>
          <a:srcRect l="31647" t="46180" r="23490" b="26220"/>
          <a:stretch/>
        </p:blipFill>
        <p:spPr>
          <a:xfrm>
            <a:off x="2124222" y="2947916"/>
            <a:ext cx="7906882" cy="3408434"/>
          </a:xfrm>
          <a:prstGeom prst="rect">
            <a:avLst/>
          </a:prstGeom>
        </p:spPr>
      </p:pic>
      <p:sp>
        <p:nvSpPr>
          <p:cNvPr id="3" name="Rectangle 2"/>
          <p:cNvSpPr/>
          <p:nvPr/>
        </p:nvSpPr>
        <p:spPr>
          <a:xfrm>
            <a:off x="1178255" y="1891184"/>
            <a:ext cx="9330519" cy="954107"/>
          </a:xfrm>
          <a:prstGeom prst="rect">
            <a:avLst/>
          </a:prstGeom>
        </p:spPr>
        <p:txBody>
          <a:bodyPr wrap="square">
            <a:spAutoFit/>
          </a:bodyPr>
          <a:lstStyle/>
          <a:p>
            <a:r>
              <a:rPr lang="en-US" sz="2800" dirty="0"/>
              <a:t>some users may view these two messages in the wrong order. For example, user A might see</a:t>
            </a:r>
            <a:endParaRPr lang="en-IN" sz="2800" dirty="0"/>
          </a:p>
        </p:txBody>
      </p:sp>
    </p:spTree>
    <p:extLst>
      <p:ext uri="{BB962C8B-B14F-4D97-AF65-F5344CB8AC3E}">
        <p14:creationId xmlns:p14="http://schemas.microsoft.com/office/powerpoint/2010/main" val="104717076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Ctd</a:t>
            </a:r>
            <a:endParaRPr lang="en-IN" dirty="0"/>
          </a:p>
        </p:txBody>
      </p:sp>
      <p:sp>
        <p:nvSpPr>
          <p:cNvPr id="3" name="Content Placeholder 2"/>
          <p:cNvSpPr>
            <a:spLocks noGrp="1"/>
          </p:cNvSpPr>
          <p:nvPr>
            <p:ph idx="1"/>
          </p:nvPr>
        </p:nvSpPr>
        <p:spPr/>
        <p:txBody>
          <a:bodyPr/>
          <a:lstStyle/>
          <a:p>
            <a:r>
              <a:rPr lang="en-US" dirty="0"/>
              <a:t>If the clocks on X’s, Y’s and Z’s computers could be synchronized, then each message could carry the time on the local computer’s clock when it was sent. </a:t>
            </a:r>
          </a:p>
          <a:p>
            <a:r>
              <a:rPr lang="en-US" dirty="0">
                <a:solidFill>
                  <a:srgbClr val="FF0000"/>
                </a:solidFill>
              </a:rPr>
              <a:t>For example, messages m1, m2 and m3 would carry times t1, t2 and t3 where t1&lt;t2</a:t>
            </a:r>
            <a:r>
              <a:rPr lang="en-US" dirty="0"/>
              <a:t>.</a:t>
            </a:r>
          </a:p>
          <a:p>
            <a:r>
              <a:rPr lang="en-US" dirty="0"/>
              <a:t>If the clocks are roughly synchronized, then these timestamps will often be in the correct order. </a:t>
            </a:r>
          </a:p>
          <a:p>
            <a:pPr algn="just"/>
            <a:r>
              <a:rPr lang="en-US" dirty="0"/>
              <a:t>Since clocks cannot be synchronized perfectly across a distributed system, Lamport [1978] proposed a model of logical time.</a:t>
            </a:r>
            <a:endParaRPr lang="en-IN" dirty="0"/>
          </a:p>
        </p:txBody>
      </p:sp>
    </p:spTree>
    <p:extLst>
      <p:ext uri="{BB962C8B-B14F-4D97-AF65-F5344CB8AC3E}">
        <p14:creationId xmlns:p14="http://schemas.microsoft.com/office/powerpoint/2010/main" val="359891193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Ctd..</a:t>
            </a:r>
            <a:endParaRPr lang="en-IN" dirty="0"/>
          </a:p>
        </p:txBody>
      </p:sp>
      <p:sp>
        <p:nvSpPr>
          <p:cNvPr id="3" name="Content Placeholder 2"/>
          <p:cNvSpPr>
            <a:spLocks noGrp="1"/>
          </p:cNvSpPr>
          <p:nvPr>
            <p:ph idx="1"/>
          </p:nvPr>
        </p:nvSpPr>
        <p:spPr/>
        <p:txBody>
          <a:bodyPr/>
          <a:lstStyle/>
          <a:p>
            <a:r>
              <a:rPr lang="en-US" dirty="0"/>
              <a:t>For example, considering only the events concerning </a:t>
            </a:r>
          </a:p>
          <a:p>
            <a:r>
              <a:rPr lang="en-US" dirty="0"/>
              <a:t>X and Y: </a:t>
            </a:r>
          </a:p>
          <a:p>
            <a:r>
              <a:rPr lang="en-US" dirty="0"/>
              <a:t>X sends m1 before Y receives m1; </a:t>
            </a:r>
          </a:p>
          <a:p>
            <a:r>
              <a:rPr lang="en-US" dirty="0"/>
              <a:t>Y sends m2 before X receives m2. </a:t>
            </a:r>
          </a:p>
          <a:p>
            <a:r>
              <a:rPr lang="en-US" dirty="0"/>
              <a:t>We also know that replies are sent after receiving messages, so we have the following logical ordering for Y: </a:t>
            </a:r>
          </a:p>
          <a:p>
            <a:r>
              <a:rPr lang="en-US" dirty="0">
                <a:solidFill>
                  <a:srgbClr val="FF0000"/>
                </a:solidFill>
              </a:rPr>
              <a:t>Y receives m1 before sending m2</a:t>
            </a:r>
            <a:endParaRPr lang="en-IN" dirty="0">
              <a:solidFill>
                <a:srgbClr val="FF0000"/>
              </a:solidFill>
            </a:endParaRPr>
          </a:p>
        </p:txBody>
      </p:sp>
    </p:spTree>
    <p:extLst>
      <p:ext uri="{BB962C8B-B14F-4D97-AF65-F5344CB8AC3E}">
        <p14:creationId xmlns:p14="http://schemas.microsoft.com/office/powerpoint/2010/main" val="101265522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Failure Model</a:t>
            </a:r>
            <a:endParaRPr lang="en-IN" dirty="0"/>
          </a:p>
        </p:txBody>
      </p:sp>
      <p:sp>
        <p:nvSpPr>
          <p:cNvPr id="3" name="Content Placeholder 2"/>
          <p:cNvSpPr>
            <a:spLocks noGrp="1"/>
          </p:cNvSpPr>
          <p:nvPr>
            <p:ph idx="1"/>
          </p:nvPr>
        </p:nvSpPr>
        <p:spPr/>
        <p:txBody>
          <a:bodyPr/>
          <a:lstStyle/>
          <a:p>
            <a:r>
              <a:rPr lang="en-US" dirty="0"/>
              <a:t>In a distributed system both processes and communication channels may fail.</a:t>
            </a:r>
          </a:p>
          <a:p>
            <a:r>
              <a:rPr lang="en-US" dirty="0"/>
              <a:t>The processes or devices may depart from what is considered to be correct or desirable behavior. </a:t>
            </a:r>
          </a:p>
          <a:p>
            <a:r>
              <a:rPr lang="en-US" dirty="0"/>
              <a:t>The failure model defines the ways in which failure may occur in order to provide an understanding of the effects of failures. </a:t>
            </a:r>
          </a:p>
          <a:p>
            <a:r>
              <a:rPr lang="en-US" dirty="0"/>
              <a:t>Understanding distinguishes between the </a:t>
            </a:r>
            <a:r>
              <a:rPr lang="en-US" dirty="0">
                <a:solidFill>
                  <a:srgbClr val="FF0000"/>
                </a:solidFill>
              </a:rPr>
              <a:t>failures of processes and communication channels </a:t>
            </a:r>
            <a:r>
              <a:rPr lang="en-US" dirty="0"/>
              <a:t>is important in Distributed Computing</a:t>
            </a:r>
            <a:endParaRPr lang="en-IN" dirty="0"/>
          </a:p>
        </p:txBody>
      </p:sp>
    </p:spTree>
    <p:extLst>
      <p:ext uri="{BB962C8B-B14F-4D97-AF65-F5344CB8AC3E}">
        <p14:creationId xmlns:p14="http://schemas.microsoft.com/office/powerpoint/2010/main" val="177962699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Omission failures</a:t>
            </a:r>
            <a:endParaRPr lang="en-IN" dirty="0"/>
          </a:p>
        </p:txBody>
      </p:sp>
      <p:sp>
        <p:nvSpPr>
          <p:cNvPr id="3" name="Content Placeholder 2"/>
          <p:cNvSpPr>
            <a:spLocks noGrp="1"/>
          </p:cNvSpPr>
          <p:nvPr>
            <p:ph idx="1"/>
          </p:nvPr>
        </p:nvSpPr>
        <p:spPr/>
        <p:txBody>
          <a:bodyPr>
            <a:normAutofit lnSpcReduction="10000"/>
          </a:bodyPr>
          <a:lstStyle/>
          <a:p>
            <a:r>
              <a:rPr lang="en-US" dirty="0"/>
              <a:t>The omission failures refer to cases when a process or communication channel fails to perform actions that it is supposed to do.</a:t>
            </a:r>
          </a:p>
          <a:p>
            <a:pPr marL="514350" indent="-514350">
              <a:buFont typeface="+mj-lt"/>
              <a:buAutoNum type="arabicPeriod"/>
            </a:pPr>
            <a:r>
              <a:rPr lang="en-US" dirty="0">
                <a:solidFill>
                  <a:srgbClr val="3333FF"/>
                </a:solidFill>
              </a:rPr>
              <a:t>Process omission failures </a:t>
            </a:r>
          </a:p>
          <a:p>
            <a:r>
              <a:rPr lang="en-US" dirty="0"/>
              <a:t>Omission failure of a process is when the process  crashes</a:t>
            </a:r>
          </a:p>
          <a:p>
            <a:r>
              <a:rPr lang="en-US" dirty="0"/>
              <a:t>A process crash is called fail-stop if other processes can detect certainly that the process has crashed, in synchronous system</a:t>
            </a:r>
          </a:p>
          <a:p>
            <a:pPr marL="0" indent="0">
              <a:buNone/>
            </a:pPr>
            <a:r>
              <a:rPr lang="en-US" dirty="0"/>
              <a:t>2. </a:t>
            </a:r>
            <a:r>
              <a:rPr lang="en-US" dirty="0">
                <a:solidFill>
                  <a:srgbClr val="3333FF"/>
                </a:solidFill>
              </a:rPr>
              <a:t>Communication omission failures </a:t>
            </a:r>
          </a:p>
          <a:p>
            <a:pPr marL="0" indent="0">
              <a:buNone/>
            </a:pPr>
            <a:r>
              <a:rPr lang="en-US" dirty="0"/>
              <a:t>The communication channel produces an omission failure if it does not transport a message from p’s outgoing message buffer to q’s incoming message buffer. This is known as ‘dropping messages.</a:t>
            </a:r>
            <a:endParaRPr lang="en-IN" dirty="0"/>
          </a:p>
        </p:txBody>
      </p:sp>
    </p:spTree>
    <p:extLst>
      <p:ext uri="{BB962C8B-B14F-4D97-AF65-F5344CB8AC3E}">
        <p14:creationId xmlns:p14="http://schemas.microsoft.com/office/powerpoint/2010/main" val="415146224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3"/>
          <p:cNvSpPr>
            <a:spLocks noGrp="1" noChangeArrowheads="1"/>
          </p:cNvSpPr>
          <p:nvPr>
            <p:ph type="title"/>
          </p:nvPr>
        </p:nvSpPr>
        <p:spPr>
          <a:xfrm>
            <a:off x="533400" y="99218"/>
            <a:ext cx="10515600" cy="1325563"/>
          </a:xfrm>
        </p:spPr>
        <p:txBody>
          <a:bodyPr vert="horz" lIns="91440" tIns="45720" rIns="132080" bIns="45720" rtlCol="0" anchor="ctr">
            <a:normAutofit fontScale="90000"/>
          </a:bodyPr>
          <a:lstStyle/>
          <a:p>
            <a:pPr eaLnBrk="1" hangingPunct="1"/>
            <a:br>
              <a:rPr lang="en-US" altLang="en-US" dirty="0"/>
            </a:br>
            <a:r>
              <a:rPr lang="en-US" altLang="en-US" dirty="0"/>
              <a:t>Processes and channels</a:t>
            </a:r>
            <a:br>
              <a:rPr lang="en-US" altLang="en-US" dirty="0"/>
            </a:br>
            <a:r>
              <a:rPr lang="en-US" altLang="en-US" dirty="0"/>
              <a:t>Communication omission Failure</a:t>
            </a:r>
          </a:p>
        </p:txBody>
      </p:sp>
      <p:pic>
        <p:nvPicPr>
          <p:cNvPr id="30725" name="Picture 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2927" y="1942721"/>
            <a:ext cx="7390311" cy="2254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1473958" y="4715490"/>
            <a:ext cx="9575042" cy="1200329"/>
          </a:xfrm>
          <a:prstGeom prst="rect">
            <a:avLst/>
          </a:prstGeom>
        </p:spPr>
        <p:txBody>
          <a:bodyPr wrap="square">
            <a:spAutoFit/>
          </a:bodyPr>
          <a:lstStyle/>
          <a:p>
            <a:pPr algn="just"/>
            <a:r>
              <a:rPr lang="en-US" sz="2400" dirty="0"/>
              <a:t>Generally caused by lack of buffer space at the receiver or at an intervening gateway, or by a network transmission error, detected by a checksum carried with the message data</a:t>
            </a:r>
            <a:endParaRPr lang="en-IN" sz="2400" dirty="0"/>
          </a:p>
        </p:txBody>
      </p:sp>
    </p:spTree>
    <p:extLst>
      <p:ext uri="{BB962C8B-B14F-4D97-AF65-F5344CB8AC3E}">
        <p14:creationId xmlns:p14="http://schemas.microsoft.com/office/powerpoint/2010/main" val="109328772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Arbitrary failures</a:t>
            </a:r>
            <a:endParaRPr lang="en-IN" dirty="0"/>
          </a:p>
        </p:txBody>
      </p:sp>
      <p:sp>
        <p:nvSpPr>
          <p:cNvPr id="3" name="Content Placeholder 2"/>
          <p:cNvSpPr>
            <a:spLocks noGrp="1"/>
          </p:cNvSpPr>
          <p:nvPr>
            <p:ph idx="1"/>
          </p:nvPr>
        </p:nvSpPr>
        <p:spPr/>
        <p:txBody>
          <a:bodyPr/>
          <a:lstStyle/>
          <a:p>
            <a:r>
              <a:rPr lang="en-US" dirty="0"/>
              <a:t>Arbitrary or Byzantine failure is used to the worst possible failure semantics, in which any type of error may occur. </a:t>
            </a:r>
          </a:p>
          <a:p>
            <a:pPr algn="just"/>
            <a:r>
              <a:rPr lang="en-US" dirty="0"/>
              <a:t>For example, a process may set wrong values in its data items, or it may return a wrong value in response to an invocation. </a:t>
            </a:r>
          </a:p>
          <a:p>
            <a:pPr algn="just"/>
            <a:r>
              <a:rPr lang="en-US" dirty="0"/>
              <a:t>An arbitrary failure of a process is one in which it arbitrarily omits intended processing steps or takes unintended processing steps.</a:t>
            </a:r>
            <a:endParaRPr lang="en-IN" dirty="0"/>
          </a:p>
        </p:txBody>
      </p:sp>
    </p:spTree>
    <p:extLst>
      <p:ext uri="{BB962C8B-B14F-4D97-AF65-F5344CB8AC3E}">
        <p14:creationId xmlns:p14="http://schemas.microsoft.com/office/powerpoint/2010/main" val="341914935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Arbitrary failures</a:t>
            </a:r>
            <a:endParaRPr lang="en-IN" dirty="0"/>
          </a:p>
        </p:txBody>
      </p:sp>
      <p:sp>
        <p:nvSpPr>
          <p:cNvPr id="3" name="Content Placeholder 2"/>
          <p:cNvSpPr>
            <a:spLocks noGrp="1"/>
          </p:cNvSpPr>
          <p:nvPr>
            <p:ph idx="1"/>
          </p:nvPr>
        </p:nvSpPr>
        <p:spPr>
          <a:xfrm>
            <a:off x="641445" y="1325563"/>
            <a:ext cx="10712355" cy="5252658"/>
          </a:xfrm>
        </p:spPr>
        <p:txBody>
          <a:bodyPr>
            <a:normAutofit fontScale="92500"/>
          </a:bodyPr>
          <a:lstStyle/>
          <a:p>
            <a:pPr marL="514350" indent="-514350">
              <a:buFont typeface="+mj-lt"/>
              <a:buAutoNum type="arabicPeriod"/>
            </a:pPr>
            <a:r>
              <a:rPr lang="en-US" dirty="0"/>
              <a:t>Process Arbitrary failures :</a:t>
            </a:r>
          </a:p>
          <a:p>
            <a:pPr algn="just"/>
            <a:r>
              <a:rPr lang="en-IN" dirty="0"/>
              <a:t>Arbitrary failures in processes </a:t>
            </a:r>
            <a:r>
              <a:rPr lang="en-US" dirty="0"/>
              <a:t>cannot be detected by seeing whether the process responds to invocations, because it might arbitrarily omit to reply. </a:t>
            </a:r>
          </a:p>
          <a:p>
            <a:pPr marL="0" indent="0" algn="just">
              <a:buNone/>
            </a:pPr>
            <a:r>
              <a:rPr lang="en-US" dirty="0"/>
              <a:t>2. Communication Arbitrary failures </a:t>
            </a:r>
          </a:p>
          <a:p>
            <a:pPr algn="just"/>
            <a:r>
              <a:rPr lang="en-US" dirty="0"/>
              <a:t>Channels can suffer from arbitrary failures; for example, message contents may be corrupted, nonexistent messages may be delivered or real messages may be delivered more than once. </a:t>
            </a:r>
          </a:p>
          <a:p>
            <a:pPr algn="just"/>
            <a:r>
              <a:rPr lang="en-US" dirty="0"/>
              <a:t>Arbitrary failures of communication channels are rare because the communication software is able to recognize them and reject the faulty messages.</a:t>
            </a:r>
          </a:p>
          <a:p>
            <a:pPr algn="ctr"/>
            <a:r>
              <a:rPr lang="en-US" sz="2600" dirty="0"/>
              <a:t>Ex: </a:t>
            </a:r>
            <a:r>
              <a:rPr lang="en-US" sz="2600" i="1" dirty="0">
                <a:solidFill>
                  <a:srgbClr val="3333FF"/>
                </a:solidFill>
              </a:rPr>
              <a:t>checksums are used to detect corrupted messages, and message sequence numbers can be used to detect nonexistent and duplicated messages</a:t>
            </a:r>
            <a:r>
              <a:rPr lang="en-US" sz="2600" dirty="0"/>
              <a:t>.</a:t>
            </a:r>
            <a:endParaRPr lang="en-IN" sz="2600" dirty="0"/>
          </a:p>
        </p:txBody>
      </p:sp>
    </p:spTree>
    <p:extLst>
      <p:ext uri="{BB962C8B-B14F-4D97-AF65-F5344CB8AC3E}">
        <p14:creationId xmlns:p14="http://schemas.microsoft.com/office/powerpoint/2010/main" val="358225739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2413"/>
            <a:ext cx="10515600" cy="1325563"/>
          </a:xfrm>
        </p:spPr>
        <p:txBody>
          <a:bodyPr/>
          <a:lstStyle/>
          <a:p>
            <a:r>
              <a:rPr lang="en-US" altLang="en-US" dirty="0"/>
              <a:t>Omission and arbitrary failures</a:t>
            </a:r>
            <a:endParaRPr lang="en-IN" dirty="0"/>
          </a:p>
        </p:txBody>
      </p:sp>
      <p:sp>
        <p:nvSpPr>
          <p:cNvPr id="3" name="Content Placeholder 2"/>
          <p:cNvSpPr>
            <a:spLocks noGrp="1"/>
          </p:cNvSpPr>
          <p:nvPr>
            <p:ph idx="1"/>
          </p:nvPr>
        </p:nvSpPr>
        <p:spPr/>
        <p:txBody>
          <a:bodyPr/>
          <a:lstStyle/>
          <a:p>
            <a:endParaRPr lang="en-IN"/>
          </a:p>
        </p:txBody>
      </p:sp>
      <p:pic>
        <p:nvPicPr>
          <p:cNvPr id="5" name="Picture 4"/>
          <p:cNvPicPr>
            <a:picLocks noChangeAspect="1"/>
          </p:cNvPicPr>
          <p:nvPr/>
        </p:nvPicPr>
        <p:blipFill rotWithShape="1">
          <a:blip r:embed="rId2"/>
          <a:srcRect l="25696" t="22917" r="22572" b="14236"/>
          <a:stretch/>
        </p:blipFill>
        <p:spPr>
          <a:xfrm>
            <a:off x="838200" y="856010"/>
            <a:ext cx="9956800" cy="5682902"/>
          </a:xfrm>
          <a:prstGeom prst="rect">
            <a:avLst/>
          </a:prstGeom>
        </p:spPr>
      </p:pic>
    </p:spTree>
    <p:extLst>
      <p:ext uri="{BB962C8B-B14F-4D97-AF65-F5344CB8AC3E}">
        <p14:creationId xmlns:p14="http://schemas.microsoft.com/office/powerpoint/2010/main" val="141518056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Timing failures </a:t>
            </a:r>
            <a:endParaRPr lang="en-IN" dirty="0"/>
          </a:p>
        </p:txBody>
      </p:sp>
      <p:sp>
        <p:nvSpPr>
          <p:cNvPr id="3" name="Content Placeholder 2"/>
          <p:cNvSpPr>
            <a:spLocks noGrp="1"/>
          </p:cNvSpPr>
          <p:nvPr>
            <p:ph idx="1"/>
          </p:nvPr>
        </p:nvSpPr>
        <p:spPr/>
        <p:txBody>
          <a:bodyPr/>
          <a:lstStyle/>
          <a:p>
            <a:pPr algn="just"/>
            <a:r>
              <a:rPr lang="en-US" dirty="0"/>
              <a:t>Timing failures are applicable in synchronous distributed systems where time limits are set on process execution time, message delivery time and clock drift rate.</a:t>
            </a:r>
          </a:p>
          <a:p>
            <a:pPr algn="just"/>
            <a:r>
              <a:rPr lang="en-US" dirty="0"/>
              <a:t>Timing is particularly relevant to multimedia computers with audio and video channels.</a:t>
            </a:r>
          </a:p>
          <a:p>
            <a:pPr algn="just"/>
            <a:r>
              <a:rPr lang="en-US" dirty="0"/>
              <a:t>Real-time operating systems are designed with a view to providing timing guarantees, but they are more complex to design and may require redundant hardware.</a:t>
            </a:r>
            <a:endParaRPr lang="en-IN" dirty="0"/>
          </a:p>
        </p:txBody>
      </p:sp>
    </p:spTree>
    <p:extLst>
      <p:ext uri="{BB962C8B-B14F-4D97-AF65-F5344CB8AC3E}">
        <p14:creationId xmlns:p14="http://schemas.microsoft.com/office/powerpoint/2010/main" val="23157985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Rectangle 3"/>
          <p:cNvSpPr>
            <a:spLocks noGrp="1" noChangeArrowheads="1"/>
          </p:cNvSpPr>
          <p:nvPr>
            <p:ph type="title"/>
          </p:nvPr>
        </p:nvSpPr>
        <p:spPr>
          <a:xfrm>
            <a:off x="800100" y="-332582"/>
            <a:ext cx="10515600" cy="1325563"/>
          </a:xfrm>
        </p:spPr>
        <p:txBody>
          <a:bodyPr vert="horz" lIns="91440" tIns="45720" rIns="132080" bIns="45720" rtlCol="0" anchor="ctr">
            <a:normAutofit/>
          </a:bodyPr>
          <a:lstStyle/>
          <a:p>
            <a:pPr eaLnBrk="1" hangingPunct="1"/>
            <a:br>
              <a:rPr lang="en-US" altLang="en-US" dirty="0"/>
            </a:br>
            <a:r>
              <a:rPr lang="en-US" altLang="en-US" dirty="0"/>
              <a:t>Timing failures</a:t>
            </a:r>
          </a:p>
        </p:txBody>
      </p:sp>
      <p:grpSp>
        <p:nvGrpSpPr>
          <p:cNvPr id="32773" name="Group 29"/>
          <p:cNvGrpSpPr>
            <a:grpSpLocks/>
          </p:cNvGrpSpPr>
          <p:nvPr/>
        </p:nvGrpSpPr>
        <p:grpSpPr bwMode="auto">
          <a:xfrm>
            <a:off x="889000" y="1435100"/>
            <a:ext cx="9952038" cy="3771899"/>
            <a:chOff x="0" y="0"/>
            <a:chExt cx="5289" cy="1291"/>
          </a:xfrm>
        </p:grpSpPr>
        <p:sp>
          <p:nvSpPr>
            <p:cNvPr id="32774" name="Rectangle 4"/>
            <p:cNvSpPr>
              <a:spLocks/>
            </p:cNvSpPr>
            <p:nvPr/>
          </p:nvSpPr>
          <p:spPr bwMode="auto">
            <a:xfrm>
              <a:off x="21" y="23"/>
              <a:ext cx="104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spAutoFit/>
            </a:bodyPr>
            <a:lstStyle>
              <a:lvl1pPr>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eaLnBrk="1" hangingPunct="1"/>
              <a:r>
                <a:rPr lang="en-US" altLang="en-US" sz="2000" i="1">
                  <a:solidFill>
                    <a:schemeClr val="tx1"/>
                  </a:solidFill>
                  <a:cs typeface="Times" panose="02020603050405020304" pitchFamily="18" charset="0"/>
                </a:rPr>
                <a:t>Class of Failure</a:t>
              </a:r>
            </a:p>
          </p:txBody>
        </p:sp>
        <p:sp>
          <p:nvSpPr>
            <p:cNvPr id="32775" name="Rectangle 5"/>
            <p:cNvSpPr>
              <a:spLocks/>
            </p:cNvSpPr>
            <p:nvPr/>
          </p:nvSpPr>
          <p:spPr bwMode="auto">
            <a:xfrm>
              <a:off x="1152" y="23"/>
              <a:ext cx="44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spAutoFit/>
            </a:bodyPr>
            <a:lstStyle>
              <a:lvl1pPr>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eaLnBrk="1" hangingPunct="1"/>
              <a:r>
                <a:rPr lang="en-US" altLang="en-US" sz="2000" i="1">
                  <a:solidFill>
                    <a:schemeClr val="tx1"/>
                  </a:solidFill>
                  <a:cs typeface="Times" panose="02020603050405020304" pitchFamily="18" charset="0"/>
                </a:rPr>
                <a:t>Affects</a:t>
              </a:r>
            </a:p>
          </p:txBody>
        </p:sp>
        <p:sp>
          <p:nvSpPr>
            <p:cNvPr id="32776" name="Rectangle 6"/>
            <p:cNvSpPr>
              <a:spLocks/>
            </p:cNvSpPr>
            <p:nvPr/>
          </p:nvSpPr>
          <p:spPr bwMode="auto">
            <a:xfrm>
              <a:off x="2268" y="23"/>
              <a:ext cx="76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spAutoFit/>
            </a:bodyPr>
            <a:lstStyle>
              <a:lvl1pPr>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eaLnBrk="1" hangingPunct="1"/>
              <a:r>
                <a:rPr lang="en-US" altLang="en-US" sz="2000" i="1">
                  <a:solidFill>
                    <a:schemeClr val="tx1"/>
                  </a:solidFill>
                  <a:cs typeface="Times" panose="02020603050405020304" pitchFamily="18" charset="0"/>
                </a:rPr>
                <a:t>Description</a:t>
              </a:r>
            </a:p>
          </p:txBody>
        </p:sp>
        <p:sp>
          <p:nvSpPr>
            <p:cNvPr id="32777" name="Line 7"/>
            <p:cNvSpPr>
              <a:spLocks noChangeShapeType="1"/>
            </p:cNvSpPr>
            <p:nvPr/>
          </p:nvSpPr>
          <p:spPr bwMode="auto">
            <a:xfrm>
              <a:off x="0" y="0"/>
              <a:ext cx="1130" cy="1"/>
            </a:xfrm>
            <a:prstGeom prst="line">
              <a:avLst/>
            </a:prstGeom>
            <a:noFill/>
            <a:ln w="36513">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en-IN"/>
            </a:p>
          </p:txBody>
        </p:sp>
        <p:sp>
          <p:nvSpPr>
            <p:cNvPr id="32778" name="Line 8"/>
            <p:cNvSpPr>
              <a:spLocks noChangeShapeType="1"/>
            </p:cNvSpPr>
            <p:nvPr/>
          </p:nvSpPr>
          <p:spPr bwMode="auto">
            <a:xfrm>
              <a:off x="1145" y="0"/>
              <a:ext cx="1102" cy="1"/>
            </a:xfrm>
            <a:prstGeom prst="line">
              <a:avLst/>
            </a:prstGeom>
            <a:noFill/>
            <a:ln w="36513">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en-IN"/>
            </a:p>
          </p:txBody>
        </p:sp>
        <p:sp>
          <p:nvSpPr>
            <p:cNvPr id="32779" name="Line 9"/>
            <p:cNvSpPr>
              <a:spLocks noChangeShapeType="1"/>
            </p:cNvSpPr>
            <p:nvPr/>
          </p:nvSpPr>
          <p:spPr bwMode="auto">
            <a:xfrm>
              <a:off x="2261" y="0"/>
              <a:ext cx="2755" cy="1"/>
            </a:xfrm>
            <a:prstGeom prst="line">
              <a:avLst/>
            </a:prstGeom>
            <a:noFill/>
            <a:ln w="36513">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en-IN"/>
            </a:p>
          </p:txBody>
        </p:sp>
        <p:sp>
          <p:nvSpPr>
            <p:cNvPr id="32780" name="Rectangle 10"/>
            <p:cNvSpPr>
              <a:spLocks/>
            </p:cNvSpPr>
            <p:nvPr/>
          </p:nvSpPr>
          <p:spPr bwMode="auto">
            <a:xfrm>
              <a:off x="21" y="236"/>
              <a:ext cx="39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spAutoFit/>
            </a:bodyPr>
            <a:lstStyle>
              <a:lvl1pPr>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eaLnBrk="1" hangingPunct="1"/>
              <a:r>
                <a:rPr lang="en-US" altLang="en-US" sz="2000">
                  <a:solidFill>
                    <a:schemeClr val="tx1"/>
                  </a:solidFill>
                  <a:cs typeface="Times" panose="02020603050405020304" pitchFamily="18" charset="0"/>
                </a:rPr>
                <a:t>Clock</a:t>
              </a:r>
            </a:p>
          </p:txBody>
        </p:sp>
        <p:sp>
          <p:nvSpPr>
            <p:cNvPr id="32781" name="Rectangle 11"/>
            <p:cNvSpPr>
              <a:spLocks/>
            </p:cNvSpPr>
            <p:nvPr/>
          </p:nvSpPr>
          <p:spPr bwMode="auto">
            <a:xfrm>
              <a:off x="1152" y="236"/>
              <a:ext cx="49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spAutoFit/>
            </a:bodyPr>
            <a:lstStyle>
              <a:lvl1pPr>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eaLnBrk="1" hangingPunct="1"/>
              <a:r>
                <a:rPr lang="en-US" altLang="en-US" sz="2000">
                  <a:solidFill>
                    <a:schemeClr val="tx1"/>
                  </a:solidFill>
                  <a:cs typeface="Times" panose="02020603050405020304" pitchFamily="18" charset="0"/>
                </a:rPr>
                <a:t>Process</a:t>
              </a:r>
            </a:p>
          </p:txBody>
        </p:sp>
        <p:sp>
          <p:nvSpPr>
            <p:cNvPr id="32782" name="Rectangle 12"/>
            <p:cNvSpPr>
              <a:spLocks/>
            </p:cNvSpPr>
            <p:nvPr/>
          </p:nvSpPr>
          <p:spPr bwMode="auto">
            <a:xfrm>
              <a:off x="2268" y="236"/>
              <a:ext cx="30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spAutoFit/>
            </a:bodyPr>
            <a:lstStyle>
              <a:lvl1pPr>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eaLnBrk="1" hangingPunct="1"/>
              <a:r>
                <a:rPr lang="en-US" altLang="en-US" sz="2000">
                  <a:solidFill>
                    <a:schemeClr val="tx1"/>
                  </a:solidFill>
                  <a:cs typeface="Times" panose="02020603050405020304" pitchFamily="18" charset="0"/>
                </a:rPr>
                <a:t>Process’s local clock exceeds the bounds on its</a:t>
              </a:r>
            </a:p>
          </p:txBody>
        </p:sp>
        <p:sp>
          <p:nvSpPr>
            <p:cNvPr id="32783" name="Rectangle 13"/>
            <p:cNvSpPr>
              <a:spLocks/>
            </p:cNvSpPr>
            <p:nvPr/>
          </p:nvSpPr>
          <p:spPr bwMode="auto">
            <a:xfrm>
              <a:off x="2268" y="408"/>
              <a:ext cx="173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spAutoFit/>
            </a:bodyPr>
            <a:lstStyle>
              <a:lvl1pPr>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eaLnBrk="1" hangingPunct="1"/>
              <a:r>
                <a:rPr lang="en-US" altLang="en-US" sz="2000">
                  <a:solidFill>
                    <a:schemeClr val="tx1"/>
                  </a:solidFill>
                  <a:cs typeface="Times" panose="02020603050405020304" pitchFamily="18" charset="0"/>
                </a:rPr>
                <a:t>rate of drift from real time.</a:t>
              </a:r>
            </a:p>
          </p:txBody>
        </p:sp>
        <p:grpSp>
          <p:nvGrpSpPr>
            <p:cNvPr id="32784" name="Group 17"/>
            <p:cNvGrpSpPr>
              <a:grpSpLocks/>
            </p:cNvGrpSpPr>
            <p:nvPr/>
          </p:nvGrpSpPr>
          <p:grpSpPr bwMode="auto">
            <a:xfrm>
              <a:off x="0" y="212"/>
              <a:ext cx="5016" cy="1"/>
              <a:chOff x="0" y="0"/>
              <a:chExt cx="5016" cy="1"/>
            </a:xfrm>
          </p:grpSpPr>
          <p:sp>
            <p:nvSpPr>
              <p:cNvPr id="32796" name="Line 14"/>
              <p:cNvSpPr>
                <a:spLocks noChangeShapeType="1"/>
              </p:cNvSpPr>
              <p:nvPr/>
            </p:nvSpPr>
            <p:spPr bwMode="auto">
              <a:xfrm>
                <a:off x="0" y="0"/>
                <a:ext cx="1130" cy="1"/>
              </a:xfrm>
              <a:prstGeom prst="line">
                <a:avLst/>
              </a:prstGeom>
              <a:noFill/>
              <a:ln w="36513">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en-IN"/>
              </a:p>
            </p:txBody>
          </p:sp>
          <p:sp>
            <p:nvSpPr>
              <p:cNvPr id="32797" name="Line 15"/>
              <p:cNvSpPr>
                <a:spLocks noChangeShapeType="1"/>
              </p:cNvSpPr>
              <p:nvPr/>
            </p:nvSpPr>
            <p:spPr bwMode="auto">
              <a:xfrm>
                <a:off x="1145" y="0"/>
                <a:ext cx="1102" cy="1"/>
              </a:xfrm>
              <a:prstGeom prst="line">
                <a:avLst/>
              </a:prstGeom>
              <a:noFill/>
              <a:ln w="36513">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en-IN"/>
              </a:p>
            </p:txBody>
          </p:sp>
          <p:sp>
            <p:nvSpPr>
              <p:cNvPr id="32798" name="Line 16"/>
              <p:cNvSpPr>
                <a:spLocks noChangeShapeType="1"/>
              </p:cNvSpPr>
              <p:nvPr/>
            </p:nvSpPr>
            <p:spPr bwMode="auto">
              <a:xfrm>
                <a:off x="2261" y="0"/>
                <a:ext cx="2755" cy="1"/>
              </a:xfrm>
              <a:prstGeom prst="line">
                <a:avLst/>
              </a:prstGeom>
              <a:noFill/>
              <a:ln w="36513">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en-IN"/>
              </a:p>
            </p:txBody>
          </p:sp>
        </p:grpSp>
        <p:sp>
          <p:nvSpPr>
            <p:cNvPr id="32785" name="Rectangle 18"/>
            <p:cNvSpPr>
              <a:spLocks/>
            </p:cNvSpPr>
            <p:nvPr/>
          </p:nvSpPr>
          <p:spPr bwMode="auto">
            <a:xfrm>
              <a:off x="21" y="581"/>
              <a:ext cx="82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spAutoFit/>
            </a:bodyPr>
            <a:lstStyle>
              <a:lvl1pPr>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eaLnBrk="1" hangingPunct="1"/>
              <a:r>
                <a:rPr lang="en-US" altLang="en-US" sz="2000">
                  <a:solidFill>
                    <a:schemeClr val="tx1"/>
                  </a:solidFill>
                  <a:cs typeface="Times" panose="02020603050405020304" pitchFamily="18" charset="0"/>
                </a:rPr>
                <a:t>Performance</a:t>
              </a:r>
            </a:p>
          </p:txBody>
        </p:sp>
        <p:sp>
          <p:nvSpPr>
            <p:cNvPr id="32786" name="Rectangle 19"/>
            <p:cNvSpPr>
              <a:spLocks/>
            </p:cNvSpPr>
            <p:nvPr/>
          </p:nvSpPr>
          <p:spPr bwMode="auto">
            <a:xfrm>
              <a:off x="1152" y="581"/>
              <a:ext cx="49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spAutoFit/>
            </a:bodyPr>
            <a:lstStyle>
              <a:lvl1pPr>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eaLnBrk="1" hangingPunct="1"/>
              <a:r>
                <a:rPr lang="en-US" altLang="en-US" sz="2000">
                  <a:solidFill>
                    <a:schemeClr val="tx1"/>
                  </a:solidFill>
                  <a:cs typeface="Times" panose="02020603050405020304" pitchFamily="18" charset="0"/>
                </a:rPr>
                <a:t>Process</a:t>
              </a:r>
            </a:p>
          </p:txBody>
        </p:sp>
        <p:sp>
          <p:nvSpPr>
            <p:cNvPr id="32787" name="Rectangle 20"/>
            <p:cNvSpPr>
              <a:spLocks/>
            </p:cNvSpPr>
            <p:nvPr/>
          </p:nvSpPr>
          <p:spPr bwMode="auto">
            <a:xfrm>
              <a:off x="2268" y="581"/>
              <a:ext cx="274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spAutoFit/>
            </a:bodyPr>
            <a:lstStyle>
              <a:lvl1pPr>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eaLnBrk="1" hangingPunct="1"/>
              <a:r>
                <a:rPr lang="en-US" altLang="en-US" sz="2000">
                  <a:solidFill>
                    <a:schemeClr val="tx1"/>
                  </a:solidFill>
                  <a:cs typeface="Times" panose="02020603050405020304" pitchFamily="18" charset="0"/>
                </a:rPr>
                <a:t>Process exceeds the bounds on the interval</a:t>
              </a:r>
            </a:p>
          </p:txBody>
        </p:sp>
        <p:sp>
          <p:nvSpPr>
            <p:cNvPr id="32788" name="Rectangle 21"/>
            <p:cNvSpPr>
              <a:spLocks/>
            </p:cNvSpPr>
            <p:nvPr/>
          </p:nvSpPr>
          <p:spPr bwMode="auto">
            <a:xfrm>
              <a:off x="2268" y="754"/>
              <a:ext cx="122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spAutoFit/>
            </a:bodyPr>
            <a:lstStyle>
              <a:lvl1pPr>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eaLnBrk="1" hangingPunct="1"/>
              <a:r>
                <a:rPr lang="en-US" altLang="en-US" sz="2000" dirty="0">
                  <a:solidFill>
                    <a:schemeClr val="tx1"/>
                  </a:solidFill>
                  <a:cs typeface="Times" panose="02020603050405020304" pitchFamily="18" charset="0"/>
                </a:rPr>
                <a:t>between two steps.</a:t>
              </a:r>
            </a:p>
          </p:txBody>
        </p:sp>
        <p:sp>
          <p:nvSpPr>
            <p:cNvPr id="32789" name="Rectangle 22"/>
            <p:cNvSpPr>
              <a:spLocks/>
            </p:cNvSpPr>
            <p:nvPr/>
          </p:nvSpPr>
          <p:spPr bwMode="auto">
            <a:xfrm>
              <a:off x="21" y="927"/>
              <a:ext cx="82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spAutoFit/>
            </a:bodyPr>
            <a:lstStyle>
              <a:lvl1pPr>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eaLnBrk="1" hangingPunct="1"/>
              <a:r>
                <a:rPr lang="en-US" altLang="en-US" sz="2000">
                  <a:solidFill>
                    <a:schemeClr val="tx1"/>
                  </a:solidFill>
                  <a:cs typeface="Times" panose="02020603050405020304" pitchFamily="18" charset="0"/>
                </a:rPr>
                <a:t>Performance</a:t>
              </a:r>
            </a:p>
          </p:txBody>
        </p:sp>
        <p:sp>
          <p:nvSpPr>
            <p:cNvPr id="32790" name="Rectangle 23"/>
            <p:cNvSpPr>
              <a:spLocks/>
            </p:cNvSpPr>
            <p:nvPr/>
          </p:nvSpPr>
          <p:spPr bwMode="auto">
            <a:xfrm>
              <a:off x="1152" y="927"/>
              <a:ext cx="54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spAutoFit/>
            </a:bodyPr>
            <a:lstStyle>
              <a:lvl1pPr>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eaLnBrk="1" hangingPunct="1"/>
              <a:r>
                <a:rPr lang="en-US" altLang="en-US" sz="2000">
                  <a:solidFill>
                    <a:schemeClr val="tx1"/>
                  </a:solidFill>
                  <a:cs typeface="Times" panose="02020603050405020304" pitchFamily="18" charset="0"/>
                </a:rPr>
                <a:t>Channel</a:t>
              </a:r>
            </a:p>
          </p:txBody>
        </p:sp>
        <p:sp>
          <p:nvSpPr>
            <p:cNvPr id="32791" name="Rectangle 24"/>
            <p:cNvSpPr>
              <a:spLocks/>
            </p:cNvSpPr>
            <p:nvPr/>
          </p:nvSpPr>
          <p:spPr bwMode="auto">
            <a:xfrm>
              <a:off x="2268" y="927"/>
              <a:ext cx="302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spAutoFit/>
            </a:bodyPr>
            <a:lstStyle>
              <a:lvl1pPr>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eaLnBrk="1" hangingPunct="1"/>
              <a:r>
                <a:rPr lang="en-US" altLang="en-US" sz="2000">
                  <a:solidFill>
                    <a:schemeClr val="tx1"/>
                  </a:solidFill>
                  <a:cs typeface="Times" panose="02020603050405020304" pitchFamily="18" charset="0"/>
                </a:rPr>
                <a:t>A message’s transmission takes longer than the</a:t>
              </a:r>
            </a:p>
          </p:txBody>
        </p:sp>
        <p:sp>
          <p:nvSpPr>
            <p:cNvPr id="32792" name="Rectangle 25"/>
            <p:cNvSpPr>
              <a:spLocks/>
            </p:cNvSpPr>
            <p:nvPr/>
          </p:nvSpPr>
          <p:spPr bwMode="auto">
            <a:xfrm>
              <a:off x="2268" y="1099"/>
              <a:ext cx="86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spAutoFit/>
            </a:bodyPr>
            <a:lstStyle>
              <a:lvl1pPr>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eaLnBrk="1" hangingPunct="1"/>
              <a:r>
                <a:rPr lang="en-US" altLang="en-US" sz="2000">
                  <a:solidFill>
                    <a:schemeClr val="tx1"/>
                  </a:solidFill>
                  <a:cs typeface="Times" panose="02020603050405020304" pitchFamily="18" charset="0"/>
                </a:rPr>
                <a:t>stated bound.</a:t>
              </a:r>
            </a:p>
          </p:txBody>
        </p:sp>
        <p:sp>
          <p:nvSpPr>
            <p:cNvPr id="32793" name="Line 26"/>
            <p:cNvSpPr>
              <a:spLocks noChangeShapeType="1"/>
            </p:cNvSpPr>
            <p:nvPr/>
          </p:nvSpPr>
          <p:spPr bwMode="auto">
            <a:xfrm>
              <a:off x="0" y="1288"/>
              <a:ext cx="1130" cy="1"/>
            </a:xfrm>
            <a:prstGeom prst="line">
              <a:avLst/>
            </a:prstGeom>
            <a:noFill/>
            <a:ln w="36513">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en-IN"/>
            </a:p>
          </p:txBody>
        </p:sp>
        <p:sp>
          <p:nvSpPr>
            <p:cNvPr id="32794" name="Line 27"/>
            <p:cNvSpPr>
              <a:spLocks noChangeShapeType="1"/>
            </p:cNvSpPr>
            <p:nvPr/>
          </p:nvSpPr>
          <p:spPr bwMode="auto">
            <a:xfrm>
              <a:off x="1145" y="1288"/>
              <a:ext cx="1102" cy="1"/>
            </a:xfrm>
            <a:prstGeom prst="line">
              <a:avLst/>
            </a:prstGeom>
            <a:noFill/>
            <a:ln w="36513">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en-IN"/>
            </a:p>
          </p:txBody>
        </p:sp>
        <p:sp>
          <p:nvSpPr>
            <p:cNvPr id="32795" name="Line 28"/>
            <p:cNvSpPr>
              <a:spLocks noChangeShapeType="1"/>
            </p:cNvSpPr>
            <p:nvPr/>
          </p:nvSpPr>
          <p:spPr bwMode="auto">
            <a:xfrm>
              <a:off x="2261" y="1288"/>
              <a:ext cx="2755" cy="1"/>
            </a:xfrm>
            <a:prstGeom prst="line">
              <a:avLst/>
            </a:prstGeom>
            <a:noFill/>
            <a:ln w="36513">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en-IN"/>
            </a:p>
          </p:txBody>
        </p:sp>
      </p:grpSp>
    </p:spTree>
    <p:extLst>
      <p:ext uri="{BB962C8B-B14F-4D97-AF65-F5344CB8AC3E}">
        <p14:creationId xmlns:p14="http://schemas.microsoft.com/office/powerpoint/2010/main" val="277036809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Masking Failures</a:t>
            </a:r>
            <a:endParaRPr lang="en-IN" dirty="0"/>
          </a:p>
        </p:txBody>
      </p:sp>
      <p:sp>
        <p:nvSpPr>
          <p:cNvPr id="3" name="Content Placeholder 2"/>
          <p:cNvSpPr>
            <a:spLocks noGrp="1"/>
          </p:cNvSpPr>
          <p:nvPr>
            <p:ph idx="1"/>
          </p:nvPr>
        </p:nvSpPr>
        <p:spPr/>
        <p:txBody>
          <a:bodyPr>
            <a:normAutofit/>
          </a:bodyPr>
          <a:lstStyle/>
          <a:p>
            <a:r>
              <a:rPr lang="en-US" dirty="0"/>
              <a:t>A knowledge of the failure characteristics of a component can enable a new service to be designed to mask the failure of the components on which it depends. </a:t>
            </a:r>
          </a:p>
          <a:p>
            <a:r>
              <a:rPr lang="en-US" dirty="0"/>
              <a:t>A service masks a failure either by hiding it altogether or by converting it into a more acceptable type of failure.</a:t>
            </a:r>
          </a:p>
        </p:txBody>
      </p:sp>
    </p:spTree>
    <p:extLst>
      <p:ext uri="{BB962C8B-B14F-4D97-AF65-F5344CB8AC3E}">
        <p14:creationId xmlns:p14="http://schemas.microsoft.com/office/powerpoint/2010/main" val="82364963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US" dirty="0"/>
              <a:t>Security Model</a:t>
            </a:r>
            <a:endParaRPr lang="en-IN" dirty="0"/>
          </a:p>
        </p:txBody>
      </p:sp>
      <p:sp>
        <p:nvSpPr>
          <p:cNvPr id="27651" name="Content Placeholder 2"/>
          <p:cNvSpPr>
            <a:spLocks noGrp="1"/>
          </p:cNvSpPr>
          <p:nvPr>
            <p:ph idx="1"/>
          </p:nvPr>
        </p:nvSpPr>
        <p:spPr/>
        <p:txBody>
          <a:bodyPr/>
          <a:lstStyle/>
          <a:p>
            <a:r>
              <a:rPr lang="en-US"/>
              <a:t>The modular nature of distributed systems and their openness exposes</a:t>
            </a:r>
          </a:p>
          <a:p>
            <a:r>
              <a:rPr lang="en-US"/>
              <a:t>them to attack by both external and internal agents. Our security model defines and</a:t>
            </a:r>
          </a:p>
          <a:p>
            <a:r>
              <a:rPr lang="en-US"/>
              <a:t>classifies the forms that such attacks may take, providing a basis for the analysis of</a:t>
            </a:r>
          </a:p>
          <a:p>
            <a:r>
              <a:rPr lang="en-US"/>
              <a:t>threats to a system and for the design of systems that are able to resist them.</a:t>
            </a:r>
            <a:endParaRPr lang="en-IN"/>
          </a:p>
          <a:p>
            <a:endParaRPr lang="en-IN"/>
          </a:p>
        </p:txBody>
      </p:sp>
    </p:spTree>
    <p:extLst>
      <p:ext uri="{BB962C8B-B14F-4D97-AF65-F5344CB8AC3E}">
        <p14:creationId xmlns:p14="http://schemas.microsoft.com/office/powerpoint/2010/main" val="336918676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3"/>
          <p:cNvSpPr>
            <a:spLocks noGrp="1" noChangeArrowheads="1"/>
          </p:cNvSpPr>
          <p:nvPr>
            <p:ph type="title"/>
          </p:nvPr>
        </p:nvSpPr>
        <p:spPr>
          <a:xfrm>
            <a:off x="811213" y="-332582"/>
            <a:ext cx="10515600" cy="1325563"/>
          </a:xfrm>
        </p:spPr>
        <p:txBody>
          <a:bodyPr vert="horz" lIns="91440" tIns="45720" rIns="132080" bIns="45720" rtlCol="0" anchor="ctr">
            <a:normAutofit/>
          </a:bodyPr>
          <a:lstStyle/>
          <a:p>
            <a:pPr eaLnBrk="1" hangingPunct="1"/>
            <a:br>
              <a:rPr lang="en-US" altLang="en-US" dirty="0"/>
            </a:br>
            <a:r>
              <a:rPr lang="en-US" altLang="en-US" dirty="0"/>
              <a:t>Objects and principals</a:t>
            </a:r>
          </a:p>
        </p:txBody>
      </p:sp>
      <p:pic>
        <p:nvPicPr>
          <p:cNvPr id="33797" name="Picture 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2476" y="1957388"/>
            <a:ext cx="8093075" cy="280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2133849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3"/>
          <p:cNvSpPr>
            <a:spLocks noGrp="1" noChangeArrowheads="1"/>
          </p:cNvSpPr>
          <p:nvPr>
            <p:ph type="title"/>
          </p:nvPr>
        </p:nvSpPr>
        <p:spPr>
          <a:xfrm>
            <a:off x="800100" y="-292102"/>
            <a:ext cx="10515600" cy="1325563"/>
          </a:xfrm>
        </p:spPr>
        <p:txBody>
          <a:bodyPr vert="horz" lIns="91440" tIns="45720" rIns="132080" bIns="45720" rtlCol="0" anchor="ctr">
            <a:normAutofit/>
          </a:bodyPr>
          <a:lstStyle/>
          <a:p>
            <a:pPr eaLnBrk="1" hangingPunct="1"/>
            <a:r>
              <a:rPr lang="en-US" altLang="en-US" dirty="0"/>
              <a:t>The enemy</a:t>
            </a:r>
          </a:p>
        </p:txBody>
      </p:sp>
      <p:sp>
        <p:nvSpPr>
          <p:cNvPr id="34821" name="Freeform 4"/>
          <p:cNvSpPr>
            <a:spLocks/>
          </p:cNvSpPr>
          <p:nvPr/>
        </p:nvSpPr>
        <p:spPr bwMode="auto">
          <a:xfrm>
            <a:off x="3930651" y="2686051"/>
            <a:ext cx="4162425" cy="1992313"/>
          </a:xfrm>
          <a:custGeom>
            <a:avLst/>
            <a:gdLst>
              <a:gd name="T0" fmla="*/ 2147483646 w 21600"/>
              <a:gd name="T1" fmla="*/ 2147483646 h 21600"/>
              <a:gd name="T2" fmla="*/ 2147483646 w 21600"/>
              <a:gd name="T3" fmla="*/ 2147483646 h 21600"/>
              <a:gd name="T4" fmla="*/ 2147483646 w 21600"/>
              <a:gd name="T5" fmla="*/ 0 h 21600"/>
              <a:gd name="T6" fmla="*/ 2147483646 w 21600"/>
              <a:gd name="T7" fmla="*/ 0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2147483646 w 21600"/>
              <a:gd name="T17" fmla="*/ 2147483646 h 21600"/>
              <a:gd name="T18" fmla="*/ 0 w 21600"/>
              <a:gd name="T19" fmla="*/ 2147483646 h 21600"/>
              <a:gd name="T20" fmla="*/ 2147483646 w 21600"/>
              <a:gd name="T21" fmla="*/ 2147483646 h 21600"/>
              <a:gd name="T22" fmla="*/ 2147483646 w 21600"/>
              <a:gd name="T23" fmla="*/ 2147483646 h 21600"/>
              <a:gd name="T24" fmla="*/ 2147483646 w 21600"/>
              <a:gd name="T25" fmla="*/ 2147483646 h 21600"/>
              <a:gd name="T26" fmla="*/ 2147483646 w 21600"/>
              <a:gd name="T27" fmla="*/ 2147483646 h 21600"/>
              <a:gd name="T28" fmla="*/ 2147483646 w 21600"/>
              <a:gd name="T29" fmla="*/ 2147483646 h 21600"/>
              <a:gd name="T30" fmla="*/ 2147483646 w 21600"/>
              <a:gd name="T31" fmla="*/ 2147483646 h 21600"/>
              <a:gd name="T32" fmla="*/ 2147483646 w 21600"/>
              <a:gd name="T33" fmla="*/ 2147483646 h 21600"/>
              <a:gd name="T34" fmla="*/ 2147483646 w 21600"/>
              <a:gd name="T35" fmla="*/ 2147483646 h 21600"/>
              <a:gd name="T36" fmla="*/ 2147483646 w 21600"/>
              <a:gd name="T37" fmla="*/ 2147483646 h 21600"/>
              <a:gd name="T38" fmla="*/ 2147483646 w 21600"/>
              <a:gd name="T39" fmla="*/ 2147483646 h 21600"/>
              <a:gd name="T40" fmla="*/ 2147483646 w 21600"/>
              <a:gd name="T41" fmla="*/ 2147483646 h 21600"/>
              <a:gd name="T42" fmla="*/ 2147483646 w 21600"/>
              <a:gd name="T43" fmla="*/ 2147483646 h 21600"/>
              <a:gd name="T44" fmla="*/ 2147483646 w 21600"/>
              <a:gd name="T45" fmla="*/ 2147483646 h 21600"/>
              <a:gd name="T46" fmla="*/ 2147483646 w 21600"/>
              <a:gd name="T47" fmla="*/ 2147483646 h 21600"/>
              <a:gd name="T48" fmla="*/ 2147483646 w 21600"/>
              <a:gd name="T49" fmla="*/ 2147483646 h 21600"/>
              <a:gd name="T50" fmla="*/ 2147483646 w 21600"/>
              <a:gd name="T51" fmla="*/ 2147483646 h 21600"/>
              <a:gd name="T52" fmla="*/ 2147483646 w 21600"/>
              <a:gd name="T53" fmla="*/ 2147483646 h 2160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21600" h="21600">
                <a:moveTo>
                  <a:pt x="18795" y="1910"/>
                </a:moveTo>
                <a:lnTo>
                  <a:pt x="15290" y="1274"/>
                </a:lnTo>
                <a:lnTo>
                  <a:pt x="11921" y="0"/>
                </a:lnTo>
                <a:lnTo>
                  <a:pt x="9397" y="0"/>
                </a:lnTo>
                <a:lnTo>
                  <a:pt x="6873" y="637"/>
                </a:lnTo>
                <a:lnTo>
                  <a:pt x="1969" y="2220"/>
                </a:lnTo>
                <a:lnTo>
                  <a:pt x="844" y="3184"/>
                </a:lnTo>
                <a:lnTo>
                  <a:pt x="426" y="5404"/>
                </a:lnTo>
                <a:lnTo>
                  <a:pt x="144" y="10482"/>
                </a:lnTo>
                <a:lnTo>
                  <a:pt x="0" y="13339"/>
                </a:lnTo>
                <a:lnTo>
                  <a:pt x="707" y="15886"/>
                </a:lnTo>
                <a:lnTo>
                  <a:pt x="3087" y="19363"/>
                </a:lnTo>
                <a:lnTo>
                  <a:pt x="4493" y="20636"/>
                </a:lnTo>
                <a:lnTo>
                  <a:pt x="5892" y="21273"/>
                </a:lnTo>
                <a:lnTo>
                  <a:pt x="8979" y="21600"/>
                </a:lnTo>
                <a:lnTo>
                  <a:pt x="15153" y="20326"/>
                </a:lnTo>
                <a:lnTo>
                  <a:pt x="17532" y="19690"/>
                </a:lnTo>
                <a:lnTo>
                  <a:pt x="19775" y="17779"/>
                </a:lnTo>
                <a:lnTo>
                  <a:pt x="20619" y="16196"/>
                </a:lnTo>
                <a:lnTo>
                  <a:pt x="21319" y="13975"/>
                </a:lnTo>
                <a:lnTo>
                  <a:pt x="21600" y="11755"/>
                </a:lnTo>
                <a:lnTo>
                  <a:pt x="21463" y="9208"/>
                </a:lnTo>
                <a:lnTo>
                  <a:pt x="20756" y="4458"/>
                </a:lnTo>
                <a:lnTo>
                  <a:pt x="20057" y="2857"/>
                </a:lnTo>
                <a:lnTo>
                  <a:pt x="18939" y="2220"/>
                </a:lnTo>
                <a:lnTo>
                  <a:pt x="18795" y="1910"/>
                </a:lnTo>
                <a:close/>
                <a:moveTo>
                  <a:pt x="18795" y="1910"/>
                </a:moveTo>
              </a:path>
            </a:pathLst>
          </a:custGeom>
          <a:solidFill>
            <a:srgbClr val="FFDC99"/>
          </a:solidFill>
          <a:ln w="42863" cap="flat">
            <a:solidFill>
              <a:srgbClr val="FFDC99"/>
            </a:solidFill>
            <a:prstDash val="solid"/>
            <a:round/>
            <a:headEnd type="none" w="med" len="med"/>
            <a:tailEnd type="none" w="med" len="med"/>
          </a:ln>
        </p:spPr>
        <p:txBody>
          <a:bodyPr lIns="0" tIns="0" rIns="0" bIns="0"/>
          <a:lstStyle/>
          <a:p>
            <a:endParaRPr lang="en-IN"/>
          </a:p>
        </p:txBody>
      </p:sp>
      <p:sp>
        <p:nvSpPr>
          <p:cNvPr id="34822" name="Oval 5"/>
          <p:cNvSpPr>
            <a:spLocks/>
          </p:cNvSpPr>
          <p:nvPr/>
        </p:nvSpPr>
        <p:spPr bwMode="auto">
          <a:xfrm>
            <a:off x="5173664" y="2722563"/>
            <a:ext cx="1919287" cy="703262"/>
          </a:xfrm>
          <a:prstGeom prst="ellipse">
            <a:avLst/>
          </a:prstGeom>
          <a:solidFill>
            <a:srgbClr val="FFFFFF"/>
          </a:solidFill>
          <a:ln w="101600">
            <a:solidFill>
              <a:schemeClr val="tx1"/>
            </a:solidFill>
            <a:prstDash val="sysDot"/>
            <a:round/>
            <a:headEnd/>
            <a:tailEnd/>
          </a:ln>
        </p:spPr>
        <p:txBody>
          <a:bodyPr lIns="0" tIns="0" rIns="0" bIns="0"/>
          <a:lstStyle>
            <a:lvl1pPr>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eaLnBrk="1" hangingPunct="1"/>
            <a:endParaRPr lang="en-IN" altLang="en-US"/>
          </a:p>
        </p:txBody>
      </p:sp>
      <p:sp>
        <p:nvSpPr>
          <p:cNvPr id="34823" name="Rectangle 6"/>
          <p:cNvSpPr>
            <a:spLocks/>
          </p:cNvSpPr>
          <p:nvPr/>
        </p:nvSpPr>
        <p:spPr bwMode="auto">
          <a:xfrm>
            <a:off x="5067300" y="3900488"/>
            <a:ext cx="2624116"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spAutoFit/>
          </a:bodyPr>
          <a:lstStyle>
            <a:lvl1pPr>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eaLnBrk="1" hangingPunct="1"/>
            <a:r>
              <a:rPr lang="en-US" altLang="en-US" sz="1900">
                <a:solidFill>
                  <a:schemeClr val="tx1"/>
                </a:solidFill>
                <a:latin typeface="Arial" panose="020B0604020202020204" pitchFamily="34" charset="0"/>
                <a:cs typeface="Arial" panose="020B0604020202020204" pitchFamily="34" charset="0"/>
                <a:sym typeface="Arial" panose="020B0604020202020204" pitchFamily="34" charset="0"/>
              </a:rPr>
              <a:t>Communication channel</a:t>
            </a:r>
          </a:p>
        </p:txBody>
      </p:sp>
      <p:sp>
        <p:nvSpPr>
          <p:cNvPr id="34824" name="Rectangle 7"/>
          <p:cNvSpPr>
            <a:spLocks/>
          </p:cNvSpPr>
          <p:nvPr/>
        </p:nvSpPr>
        <p:spPr bwMode="auto">
          <a:xfrm>
            <a:off x="4332289" y="2197100"/>
            <a:ext cx="908903"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spAutoFit/>
          </a:bodyPr>
          <a:lstStyle>
            <a:lvl1pPr>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eaLnBrk="1" hangingPunct="1"/>
            <a:r>
              <a:rPr lang="en-US" altLang="en-US" sz="1900">
                <a:solidFill>
                  <a:schemeClr val="tx1"/>
                </a:solidFill>
                <a:latin typeface="Arial" panose="020B0604020202020204" pitchFamily="34" charset="0"/>
                <a:cs typeface="Arial" panose="020B0604020202020204" pitchFamily="34" charset="0"/>
                <a:sym typeface="Arial" panose="020B0604020202020204" pitchFamily="34" charset="0"/>
              </a:rPr>
              <a:t>Copy of </a:t>
            </a:r>
          </a:p>
        </p:txBody>
      </p:sp>
      <p:sp>
        <p:nvSpPr>
          <p:cNvPr id="34825" name="Rectangle 8"/>
          <p:cNvSpPr>
            <a:spLocks/>
          </p:cNvSpPr>
          <p:nvPr/>
        </p:nvSpPr>
        <p:spPr bwMode="auto">
          <a:xfrm>
            <a:off x="5240338" y="2173289"/>
            <a:ext cx="22442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spAutoFit/>
          </a:bodyPr>
          <a:lstStyle>
            <a:lvl1pPr>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eaLnBrk="1" hangingPunct="1"/>
            <a:r>
              <a:rPr lang="en-US" altLang="en-US" sz="2100">
                <a:solidFill>
                  <a:schemeClr val="tx1"/>
                </a:solidFill>
                <a:latin typeface="Arial Italic" panose="020B0604020202090204" pitchFamily="34" charset="0"/>
                <a:cs typeface="Arial Italic" panose="020B0604020202090204" pitchFamily="34" charset="0"/>
                <a:sym typeface="Arial Italic" panose="020B0604020202090204" pitchFamily="34" charset="0"/>
              </a:rPr>
              <a:t>m</a:t>
            </a:r>
          </a:p>
        </p:txBody>
      </p:sp>
      <p:sp>
        <p:nvSpPr>
          <p:cNvPr id="34826" name="Oval 9"/>
          <p:cNvSpPr>
            <a:spLocks/>
          </p:cNvSpPr>
          <p:nvPr/>
        </p:nvSpPr>
        <p:spPr bwMode="auto">
          <a:xfrm>
            <a:off x="8228014" y="3184525"/>
            <a:ext cx="1431925" cy="966788"/>
          </a:xfrm>
          <a:prstGeom prst="ellipse">
            <a:avLst/>
          </a:prstGeom>
          <a:solidFill>
            <a:srgbClr val="FFFFFF"/>
          </a:solidFill>
          <a:ln w="42863">
            <a:solidFill>
              <a:schemeClr val="tx1"/>
            </a:solidFill>
            <a:round/>
            <a:headEnd/>
            <a:tailEnd/>
          </a:ln>
        </p:spPr>
        <p:txBody>
          <a:bodyPr lIns="0" tIns="0" rIns="0" bIns="0"/>
          <a:lstStyle>
            <a:lvl1pPr>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eaLnBrk="1" hangingPunct="1"/>
            <a:endParaRPr lang="en-IN" altLang="en-US"/>
          </a:p>
        </p:txBody>
      </p:sp>
      <p:sp>
        <p:nvSpPr>
          <p:cNvPr id="34827" name="Oval 10"/>
          <p:cNvSpPr>
            <a:spLocks/>
          </p:cNvSpPr>
          <p:nvPr/>
        </p:nvSpPr>
        <p:spPr bwMode="auto">
          <a:xfrm>
            <a:off x="2389189" y="3271839"/>
            <a:ext cx="1379537" cy="820737"/>
          </a:xfrm>
          <a:prstGeom prst="ellipse">
            <a:avLst/>
          </a:prstGeom>
          <a:solidFill>
            <a:srgbClr val="FFFFFF"/>
          </a:solidFill>
          <a:ln w="42863">
            <a:solidFill>
              <a:schemeClr val="tx1"/>
            </a:solidFill>
            <a:round/>
            <a:headEnd/>
            <a:tailEnd/>
          </a:ln>
        </p:spPr>
        <p:txBody>
          <a:bodyPr lIns="0" tIns="0" rIns="0" bIns="0"/>
          <a:lstStyle>
            <a:lvl1pPr>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eaLnBrk="1" hangingPunct="1"/>
            <a:endParaRPr lang="en-IN" altLang="en-US"/>
          </a:p>
        </p:txBody>
      </p:sp>
      <p:sp>
        <p:nvSpPr>
          <p:cNvPr id="34828" name="Line 11"/>
          <p:cNvSpPr>
            <a:spLocks noChangeShapeType="1"/>
          </p:cNvSpPr>
          <p:nvPr/>
        </p:nvSpPr>
        <p:spPr bwMode="auto">
          <a:xfrm>
            <a:off x="3714750" y="3535364"/>
            <a:ext cx="4567238" cy="1587"/>
          </a:xfrm>
          <a:prstGeom prst="line">
            <a:avLst/>
          </a:prstGeom>
          <a:noFill/>
          <a:ln w="42863">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en-IN"/>
          </a:p>
        </p:txBody>
      </p:sp>
      <p:sp>
        <p:nvSpPr>
          <p:cNvPr id="34829" name="Line 12"/>
          <p:cNvSpPr>
            <a:spLocks noChangeShapeType="1"/>
          </p:cNvSpPr>
          <p:nvPr/>
        </p:nvSpPr>
        <p:spPr bwMode="auto">
          <a:xfrm>
            <a:off x="3714750" y="3798889"/>
            <a:ext cx="4567238" cy="1587"/>
          </a:xfrm>
          <a:prstGeom prst="line">
            <a:avLst/>
          </a:prstGeom>
          <a:noFill/>
          <a:ln w="42863">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en-IN"/>
          </a:p>
        </p:txBody>
      </p:sp>
      <p:sp>
        <p:nvSpPr>
          <p:cNvPr id="34830" name="Rectangle 13"/>
          <p:cNvSpPr>
            <a:spLocks/>
          </p:cNvSpPr>
          <p:nvPr/>
        </p:nvSpPr>
        <p:spPr bwMode="auto">
          <a:xfrm>
            <a:off x="2508250" y="3514725"/>
            <a:ext cx="948978"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spAutoFit/>
          </a:bodyPr>
          <a:lstStyle>
            <a:lvl1pPr>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eaLnBrk="1" hangingPunct="1"/>
            <a:r>
              <a:rPr lang="en-US" altLang="en-US" sz="1900">
                <a:solidFill>
                  <a:schemeClr val="tx1"/>
                </a:solidFill>
                <a:latin typeface="Arial" panose="020B0604020202020204" pitchFamily="34" charset="0"/>
                <a:cs typeface="Arial" panose="020B0604020202020204" pitchFamily="34" charset="0"/>
                <a:sym typeface="Arial" panose="020B0604020202020204" pitchFamily="34" charset="0"/>
              </a:rPr>
              <a:t>Process </a:t>
            </a:r>
          </a:p>
        </p:txBody>
      </p:sp>
      <p:sp>
        <p:nvSpPr>
          <p:cNvPr id="34831" name="Rectangle 14"/>
          <p:cNvSpPr>
            <a:spLocks/>
          </p:cNvSpPr>
          <p:nvPr/>
        </p:nvSpPr>
        <p:spPr bwMode="auto">
          <a:xfrm>
            <a:off x="3438525" y="3490914"/>
            <a:ext cx="14908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spAutoFit/>
          </a:bodyPr>
          <a:lstStyle>
            <a:lvl1pPr>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eaLnBrk="1" hangingPunct="1"/>
            <a:r>
              <a:rPr lang="en-US" altLang="en-US" sz="2100">
                <a:solidFill>
                  <a:schemeClr val="tx1"/>
                </a:solidFill>
                <a:latin typeface="Arial Italic" panose="020B0604020202090204" pitchFamily="34" charset="0"/>
                <a:cs typeface="Arial Italic" panose="020B0604020202090204" pitchFamily="34" charset="0"/>
                <a:sym typeface="Arial Italic" panose="020B0604020202090204" pitchFamily="34" charset="0"/>
              </a:rPr>
              <a:t>p</a:t>
            </a:r>
          </a:p>
        </p:txBody>
      </p:sp>
      <p:sp>
        <p:nvSpPr>
          <p:cNvPr id="34832" name="Rectangle 15"/>
          <p:cNvSpPr>
            <a:spLocks/>
          </p:cNvSpPr>
          <p:nvPr/>
        </p:nvSpPr>
        <p:spPr bwMode="auto">
          <a:xfrm>
            <a:off x="8389938" y="3544888"/>
            <a:ext cx="948978"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spAutoFit/>
          </a:bodyPr>
          <a:lstStyle>
            <a:lvl1pPr>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eaLnBrk="1" hangingPunct="1"/>
            <a:r>
              <a:rPr lang="en-US" altLang="en-US" sz="1900">
                <a:solidFill>
                  <a:schemeClr val="tx1"/>
                </a:solidFill>
                <a:latin typeface="Arial" panose="020B0604020202020204" pitchFamily="34" charset="0"/>
                <a:cs typeface="Arial" panose="020B0604020202020204" pitchFamily="34" charset="0"/>
                <a:sym typeface="Arial" panose="020B0604020202020204" pitchFamily="34" charset="0"/>
              </a:rPr>
              <a:t>Process </a:t>
            </a:r>
          </a:p>
        </p:txBody>
      </p:sp>
      <p:sp>
        <p:nvSpPr>
          <p:cNvPr id="34833" name="Rectangle 16"/>
          <p:cNvSpPr>
            <a:spLocks/>
          </p:cNvSpPr>
          <p:nvPr/>
        </p:nvSpPr>
        <p:spPr bwMode="auto">
          <a:xfrm>
            <a:off x="9318625" y="3521076"/>
            <a:ext cx="14908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spAutoFit/>
          </a:bodyPr>
          <a:lstStyle>
            <a:lvl1pPr>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eaLnBrk="1" hangingPunct="1"/>
            <a:r>
              <a:rPr lang="en-US" altLang="en-US" sz="2100">
                <a:solidFill>
                  <a:schemeClr val="tx1"/>
                </a:solidFill>
                <a:latin typeface="Arial Italic" panose="020B0604020202090204" pitchFamily="34" charset="0"/>
                <a:cs typeface="Arial Italic" panose="020B0604020202090204" pitchFamily="34" charset="0"/>
                <a:sym typeface="Arial Italic" panose="020B0604020202090204" pitchFamily="34" charset="0"/>
              </a:rPr>
              <a:t>q</a:t>
            </a:r>
          </a:p>
        </p:txBody>
      </p:sp>
      <p:sp>
        <p:nvSpPr>
          <p:cNvPr id="34834" name="Rectangle 17"/>
          <p:cNvSpPr>
            <a:spLocks/>
          </p:cNvSpPr>
          <p:nvPr/>
        </p:nvSpPr>
        <p:spPr bwMode="auto">
          <a:xfrm>
            <a:off x="4387850" y="3490914"/>
            <a:ext cx="22442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spAutoFit/>
          </a:bodyPr>
          <a:lstStyle>
            <a:lvl1pPr>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eaLnBrk="1" hangingPunct="1"/>
            <a:r>
              <a:rPr lang="en-US" altLang="en-US" sz="2100">
                <a:solidFill>
                  <a:schemeClr val="tx1"/>
                </a:solidFill>
                <a:latin typeface="Arial Italic" panose="020B0604020202090204" pitchFamily="34" charset="0"/>
                <a:cs typeface="Arial Italic" panose="020B0604020202090204" pitchFamily="34" charset="0"/>
                <a:sym typeface="Arial Italic" panose="020B0604020202090204" pitchFamily="34" charset="0"/>
              </a:rPr>
              <a:t>m</a:t>
            </a:r>
          </a:p>
        </p:txBody>
      </p:sp>
      <p:sp>
        <p:nvSpPr>
          <p:cNvPr id="34835" name="Freeform 18"/>
          <p:cNvSpPr>
            <a:spLocks/>
          </p:cNvSpPr>
          <p:nvPr/>
        </p:nvSpPr>
        <p:spPr bwMode="auto">
          <a:xfrm>
            <a:off x="5038725" y="3594100"/>
            <a:ext cx="109538" cy="146050"/>
          </a:xfrm>
          <a:custGeom>
            <a:avLst/>
            <a:gdLst>
              <a:gd name="T0" fmla="*/ 0 w 21600"/>
              <a:gd name="T1" fmla="*/ 122775046 h 21600"/>
              <a:gd name="T2" fmla="*/ 0 w 21600"/>
              <a:gd name="T3" fmla="*/ 0 h 21600"/>
              <a:gd name="T4" fmla="*/ 72445167 w 21600"/>
              <a:gd name="T5" fmla="*/ 122775046 h 21600"/>
              <a:gd name="T6" fmla="*/ 0 w 21600"/>
              <a:gd name="T7" fmla="*/ 305276144 h 21600"/>
              <a:gd name="T8" fmla="*/ 0 w 21600"/>
              <a:gd name="T9" fmla="*/ 122775046 h 21600"/>
              <a:gd name="T10" fmla="*/ 0 w 21600"/>
              <a:gd name="T11" fmla="*/ 122775046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0" y="8687"/>
                </a:moveTo>
                <a:lnTo>
                  <a:pt x="0" y="0"/>
                </a:lnTo>
                <a:lnTo>
                  <a:pt x="21600" y="8687"/>
                </a:lnTo>
                <a:lnTo>
                  <a:pt x="0" y="21600"/>
                </a:lnTo>
                <a:lnTo>
                  <a:pt x="0" y="8687"/>
                </a:lnTo>
                <a:close/>
                <a:moveTo>
                  <a:pt x="0" y="8687"/>
                </a:moveTo>
              </a:path>
            </a:pathLst>
          </a:custGeom>
          <a:solidFill>
            <a:srgbClr val="000000"/>
          </a:solidFill>
          <a:ln w="42863" cap="flat">
            <a:solidFill>
              <a:schemeClr val="tx1"/>
            </a:solidFill>
            <a:prstDash val="solid"/>
            <a:round/>
            <a:headEnd type="none" w="med" len="med"/>
            <a:tailEnd type="none" w="med" len="med"/>
          </a:ln>
        </p:spPr>
        <p:txBody>
          <a:bodyPr lIns="0" tIns="0" rIns="0" bIns="0"/>
          <a:lstStyle/>
          <a:p>
            <a:endParaRPr lang="en-IN"/>
          </a:p>
        </p:txBody>
      </p:sp>
      <p:sp>
        <p:nvSpPr>
          <p:cNvPr id="34836" name="Line 19"/>
          <p:cNvSpPr>
            <a:spLocks noChangeShapeType="1"/>
          </p:cNvSpPr>
          <p:nvPr/>
        </p:nvSpPr>
        <p:spPr bwMode="auto">
          <a:xfrm>
            <a:off x="4660901" y="3652839"/>
            <a:ext cx="377825" cy="1587"/>
          </a:xfrm>
          <a:prstGeom prst="line">
            <a:avLst/>
          </a:prstGeom>
          <a:noFill/>
          <a:ln w="42863">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en-IN"/>
          </a:p>
        </p:txBody>
      </p:sp>
      <p:sp>
        <p:nvSpPr>
          <p:cNvPr id="34837" name="Rectangle 20"/>
          <p:cNvSpPr>
            <a:spLocks/>
          </p:cNvSpPr>
          <p:nvPr/>
        </p:nvSpPr>
        <p:spPr bwMode="auto">
          <a:xfrm>
            <a:off x="5595938" y="2913063"/>
            <a:ext cx="1223092"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spAutoFit/>
          </a:bodyPr>
          <a:lstStyle>
            <a:lvl1pPr>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eaLnBrk="1" hangingPunct="1"/>
            <a:r>
              <a:rPr lang="en-US" altLang="en-US" sz="1900">
                <a:solidFill>
                  <a:schemeClr val="tx1"/>
                </a:solidFill>
                <a:latin typeface="Arial" panose="020B0604020202020204" pitchFamily="34" charset="0"/>
                <a:cs typeface="Arial" panose="020B0604020202020204" pitchFamily="34" charset="0"/>
                <a:sym typeface="Arial" panose="020B0604020202020204" pitchFamily="34" charset="0"/>
              </a:rPr>
              <a:t>The enemy</a:t>
            </a:r>
          </a:p>
        </p:txBody>
      </p:sp>
      <p:sp>
        <p:nvSpPr>
          <p:cNvPr id="34838" name="Rectangle 21"/>
          <p:cNvSpPr>
            <a:spLocks/>
          </p:cNvSpPr>
          <p:nvPr/>
        </p:nvSpPr>
        <p:spPr bwMode="auto">
          <a:xfrm>
            <a:off x="4281488" y="2159000"/>
            <a:ext cx="1270000" cy="381000"/>
          </a:xfrm>
          <a:prstGeom prst="rect">
            <a:avLst/>
          </a:prstGeom>
          <a:noFill/>
          <a:ln w="42863">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eaLnBrk="1" hangingPunct="1"/>
            <a:endParaRPr lang="en-IN" altLang="en-US"/>
          </a:p>
        </p:txBody>
      </p:sp>
      <p:sp>
        <p:nvSpPr>
          <p:cNvPr id="34839" name="Freeform 22"/>
          <p:cNvSpPr>
            <a:spLocks/>
          </p:cNvSpPr>
          <p:nvPr/>
        </p:nvSpPr>
        <p:spPr bwMode="auto">
          <a:xfrm>
            <a:off x="8012113" y="3594100"/>
            <a:ext cx="107950" cy="146050"/>
          </a:xfrm>
          <a:custGeom>
            <a:avLst/>
            <a:gdLst>
              <a:gd name="T0" fmla="*/ 0 w 21600"/>
              <a:gd name="T1" fmla="*/ 122775046 h 21600"/>
              <a:gd name="T2" fmla="*/ 0 w 21600"/>
              <a:gd name="T3" fmla="*/ 0 h 21600"/>
              <a:gd name="T4" fmla="*/ 67343878 w 21600"/>
              <a:gd name="T5" fmla="*/ 122775046 h 21600"/>
              <a:gd name="T6" fmla="*/ 0 w 21600"/>
              <a:gd name="T7" fmla="*/ 305276144 h 21600"/>
              <a:gd name="T8" fmla="*/ 0 w 21600"/>
              <a:gd name="T9" fmla="*/ 122775046 h 21600"/>
              <a:gd name="T10" fmla="*/ 0 w 21600"/>
              <a:gd name="T11" fmla="*/ 122775046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0" y="8687"/>
                </a:moveTo>
                <a:lnTo>
                  <a:pt x="0" y="0"/>
                </a:lnTo>
                <a:lnTo>
                  <a:pt x="21600" y="8687"/>
                </a:lnTo>
                <a:lnTo>
                  <a:pt x="0" y="21600"/>
                </a:lnTo>
                <a:lnTo>
                  <a:pt x="0" y="8687"/>
                </a:lnTo>
                <a:close/>
                <a:moveTo>
                  <a:pt x="0" y="8687"/>
                </a:moveTo>
              </a:path>
            </a:pathLst>
          </a:custGeom>
          <a:solidFill>
            <a:srgbClr val="000000"/>
          </a:solidFill>
          <a:ln w="42863" cap="flat">
            <a:solidFill>
              <a:schemeClr val="tx1"/>
            </a:solidFill>
            <a:prstDash val="solid"/>
            <a:round/>
            <a:headEnd type="none" w="med" len="med"/>
            <a:tailEnd type="none" w="med" len="med"/>
          </a:ln>
        </p:spPr>
        <p:txBody>
          <a:bodyPr lIns="0" tIns="0" rIns="0" bIns="0"/>
          <a:lstStyle/>
          <a:p>
            <a:endParaRPr lang="en-IN"/>
          </a:p>
        </p:txBody>
      </p:sp>
      <p:sp>
        <p:nvSpPr>
          <p:cNvPr id="34840" name="Line 23"/>
          <p:cNvSpPr>
            <a:spLocks noChangeShapeType="1"/>
          </p:cNvSpPr>
          <p:nvPr/>
        </p:nvSpPr>
        <p:spPr bwMode="auto">
          <a:xfrm>
            <a:off x="7632701" y="3652839"/>
            <a:ext cx="352425" cy="1587"/>
          </a:xfrm>
          <a:prstGeom prst="line">
            <a:avLst/>
          </a:prstGeom>
          <a:noFill/>
          <a:ln w="42863">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en-IN"/>
          </a:p>
        </p:txBody>
      </p:sp>
      <p:sp>
        <p:nvSpPr>
          <p:cNvPr id="34841" name="Rectangle 24"/>
          <p:cNvSpPr>
            <a:spLocks/>
          </p:cNvSpPr>
          <p:nvPr/>
        </p:nvSpPr>
        <p:spPr bwMode="auto">
          <a:xfrm>
            <a:off x="7251700" y="3140076"/>
            <a:ext cx="283732"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spAutoFit/>
          </a:bodyPr>
          <a:lstStyle>
            <a:lvl1pPr>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eaLnBrk="1" hangingPunct="1"/>
            <a:r>
              <a:rPr lang="en-US" altLang="en-US" sz="2100">
                <a:solidFill>
                  <a:schemeClr val="tx1"/>
                </a:solidFill>
                <a:latin typeface="Arial Italic" panose="020B0604020202090204" pitchFamily="34" charset="0"/>
                <a:cs typeface="Arial Italic" panose="020B0604020202090204" pitchFamily="34" charset="0"/>
                <a:sym typeface="Arial Italic" panose="020B0604020202090204" pitchFamily="34" charset="0"/>
              </a:rPr>
              <a:t>m’</a:t>
            </a:r>
          </a:p>
        </p:txBody>
      </p:sp>
      <p:sp>
        <p:nvSpPr>
          <p:cNvPr id="34842" name="Line 25"/>
          <p:cNvSpPr>
            <a:spLocks noChangeShapeType="1"/>
          </p:cNvSpPr>
          <p:nvPr/>
        </p:nvSpPr>
        <p:spPr bwMode="auto">
          <a:xfrm rot="10800000">
            <a:off x="7389813" y="3417888"/>
            <a:ext cx="215900" cy="234950"/>
          </a:xfrm>
          <a:prstGeom prst="line">
            <a:avLst/>
          </a:prstGeom>
          <a:noFill/>
          <a:ln w="42863">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en-IN"/>
          </a:p>
        </p:txBody>
      </p:sp>
      <p:sp>
        <p:nvSpPr>
          <p:cNvPr id="34843" name="Oval 26"/>
          <p:cNvSpPr>
            <a:spLocks/>
          </p:cNvSpPr>
          <p:nvPr/>
        </p:nvSpPr>
        <p:spPr bwMode="auto">
          <a:xfrm>
            <a:off x="5283201" y="3448050"/>
            <a:ext cx="79375" cy="439738"/>
          </a:xfrm>
          <a:prstGeom prst="ellipse">
            <a:avLst/>
          </a:prstGeom>
          <a:solidFill>
            <a:srgbClr val="FFFFFF"/>
          </a:solidFill>
          <a:ln w="42863">
            <a:solidFill>
              <a:schemeClr val="tx1"/>
            </a:solidFill>
            <a:round/>
            <a:headEnd/>
            <a:tailEnd/>
          </a:ln>
        </p:spPr>
        <p:txBody>
          <a:bodyPr lIns="0" tIns="0" rIns="0" bIns="0"/>
          <a:lstStyle>
            <a:lvl1pPr>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eaLnBrk="1" hangingPunct="1"/>
            <a:endParaRPr lang="en-IN" altLang="en-US"/>
          </a:p>
        </p:txBody>
      </p:sp>
      <p:sp>
        <p:nvSpPr>
          <p:cNvPr id="34844" name="Line 27"/>
          <p:cNvSpPr>
            <a:spLocks noChangeShapeType="1"/>
          </p:cNvSpPr>
          <p:nvPr/>
        </p:nvSpPr>
        <p:spPr bwMode="auto">
          <a:xfrm rot="10800000" flipH="1">
            <a:off x="5337176" y="3360739"/>
            <a:ext cx="53975" cy="115887"/>
          </a:xfrm>
          <a:prstGeom prst="line">
            <a:avLst/>
          </a:prstGeom>
          <a:noFill/>
          <a:ln w="42863">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en-IN"/>
          </a:p>
        </p:txBody>
      </p:sp>
      <p:sp>
        <p:nvSpPr>
          <p:cNvPr id="34845" name="Freeform 28"/>
          <p:cNvSpPr>
            <a:spLocks/>
          </p:cNvSpPr>
          <p:nvPr/>
        </p:nvSpPr>
        <p:spPr bwMode="auto">
          <a:xfrm>
            <a:off x="5227639" y="2511426"/>
            <a:ext cx="244475" cy="790575"/>
          </a:xfrm>
          <a:custGeom>
            <a:avLst/>
            <a:gdLst>
              <a:gd name="T0" fmla="*/ 0 w 21600"/>
              <a:gd name="T1" fmla="*/ 0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19128" y="13576"/>
                </a:lnTo>
                <a:lnTo>
                  <a:pt x="21600" y="18390"/>
                </a:lnTo>
                <a:lnTo>
                  <a:pt x="16786" y="21600"/>
                </a:lnTo>
              </a:path>
            </a:pathLst>
          </a:custGeom>
          <a:noFill/>
          <a:ln w="42863" cap="flat">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Tree>
    <p:extLst>
      <p:ext uri="{BB962C8B-B14F-4D97-AF65-F5344CB8AC3E}">
        <p14:creationId xmlns:p14="http://schemas.microsoft.com/office/powerpoint/2010/main" val="220069118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Rectangle 3"/>
          <p:cNvSpPr>
            <a:spLocks noGrp="1" noChangeArrowheads="1"/>
          </p:cNvSpPr>
          <p:nvPr>
            <p:ph type="title"/>
          </p:nvPr>
        </p:nvSpPr>
        <p:spPr>
          <a:xfrm>
            <a:off x="1030288" y="-391317"/>
            <a:ext cx="10515600" cy="1325563"/>
          </a:xfrm>
        </p:spPr>
        <p:txBody>
          <a:bodyPr vert="horz" lIns="91440" tIns="45720" rIns="132080" bIns="45720" rtlCol="0" anchor="ctr">
            <a:normAutofit/>
          </a:bodyPr>
          <a:lstStyle/>
          <a:p>
            <a:pPr eaLnBrk="1" hangingPunct="1"/>
            <a:br>
              <a:rPr lang="en-US" altLang="en-US" dirty="0"/>
            </a:br>
            <a:r>
              <a:rPr lang="en-US" altLang="en-US" dirty="0"/>
              <a:t>Secure channels</a:t>
            </a:r>
          </a:p>
        </p:txBody>
      </p:sp>
      <p:sp>
        <p:nvSpPr>
          <p:cNvPr id="35845" name="Rectangle 4"/>
          <p:cNvSpPr>
            <a:spLocks/>
          </p:cNvSpPr>
          <p:nvPr/>
        </p:nvSpPr>
        <p:spPr bwMode="auto">
          <a:xfrm>
            <a:off x="2536826" y="2501900"/>
            <a:ext cx="1005083"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spAutoFit/>
          </a:bodyPr>
          <a:lstStyle>
            <a:lvl1pPr>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eaLnBrk="1" hangingPunct="1"/>
            <a:r>
              <a:rPr lang="en-US" altLang="en-US" sz="1900">
                <a:solidFill>
                  <a:schemeClr val="tx1"/>
                </a:solidFill>
                <a:latin typeface="Arial" panose="020B0604020202020204" pitchFamily="34" charset="0"/>
                <a:cs typeface="Arial" panose="020B0604020202020204" pitchFamily="34" charset="0"/>
                <a:sym typeface="Arial" panose="020B0604020202020204" pitchFamily="34" charset="0"/>
              </a:rPr>
              <a:t>Principal </a:t>
            </a:r>
          </a:p>
        </p:txBody>
      </p:sp>
      <p:sp>
        <p:nvSpPr>
          <p:cNvPr id="35846" name="Rectangle 5"/>
          <p:cNvSpPr>
            <a:spLocks/>
          </p:cNvSpPr>
          <p:nvPr/>
        </p:nvSpPr>
        <p:spPr bwMode="auto">
          <a:xfrm>
            <a:off x="3509963" y="2484439"/>
            <a:ext cx="17953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spAutoFit/>
          </a:bodyPr>
          <a:lstStyle>
            <a:lvl1pPr>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eaLnBrk="1" hangingPunct="1"/>
            <a:r>
              <a:rPr lang="en-US" altLang="en-US" sz="2100">
                <a:solidFill>
                  <a:schemeClr val="tx1"/>
                </a:solidFill>
                <a:latin typeface="Arial Italic" panose="020B0604020202090204" pitchFamily="34" charset="0"/>
                <a:cs typeface="Arial Italic" panose="020B0604020202090204" pitchFamily="34" charset="0"/>
                <a:sym typeface="Arial Italic" panose="020B0604020202090204" pitchFamily="34" charset="0"/>
              </a:rPr>
              <a:t>A</a:t>
            </a:r>
          </a:p>
        </p:txBody>
      </p:sp>
      <p:sp>
        <p:nvSpPr>
          <p:cNvPr id="35847" name="Line 6"/>
          <p:cNvSpPr>
            <a:spLocks noChangeShapeType="1"/>
          </p:cNvSpPr>
          <p:nvPr/>
        </p:nvSpPr>
        <p:spPr bwMode="auto">
          <a:xfrm flipH="1">
            <a:off x="8982076" y="2705101"/>
            <a:ext cx="136525" cy="265113"/>
          </a:xfrm>
          <a:prstGeom prst="line">
            <a:avLst/>
          </a:prstGeom>
          <a:noFill/>
          <a:ln w="30163">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en-IN"/>
          </a:p>
        </p:txBody>
      </p:sp>
      <p:sp>
        <p:nvSpPr>
          <p:cNvPr id="35848" name="Oval 7"/>
          <p:cNvSpPr>
            <a:spLocks/>
          </p:cNvSpPr>
          <p:nvPr/>
        </p:nvSpPr>
        <p:spPr bwMode="auto">
          <a:xfrm>
            <a:off x="8194675" y="2941638"/>
            <a:ext cx="1657350" cy="1206500"/>
          </a:xfrm>
          <a:prstGeom prst="ellipse">
            <a:avLst/>
          </a:prstGeom>
          <a:blipFill dpi="0" rotWithShape="0">
            <a:blip r:embed="rId2"/>
            <a:srcRect/>
            <a:tile tx="0" ty="0" sx="100000" sy="100000" flip="none" algn="tl"/>
          </a:blipFill>
          <a:ln w="30163">
            <a:solidFill>
              <a:srgbClr val="D9AA73"/>
            </a:solidFill>
            <a:round/>
            <a:headEnd/>
            <a:tailEnd/>
          </a:ln>
        </p:spPr>
        <p:txBody>
          <a:bodyPr lIns="0" tIns="0" rIns="0" bIns="0"/>
          <a:lstStyle>
            <a:lvl1pPr>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eaLnBrk="1" hangingPunct="1"/>
            <a:endParaRPr lang="en-IN" altLang="en-US"/>
          </a:p>
        </p:txBody>
      </p:sp>
      <p:sp>
        <p:nvSpPr>
          <p:cNvPr id="35849" name="Oval 8"/>
          <p:cNvSpPr>
            <a:spLocks/>
          </p:cNvSpPr>
          <p:nvPr/>
        </p:nvSpPr>
        <p:spPr bwMode="auto">
          <a:xfrm>
            <a:off x="8302625" y="3059113"/>
            <a:ext cx="1441450" cy="971550"/>
          </a:xfrm>
          <a:prstGeom prst="ellipse">
            <a:avLst/>
          </a:prstGeom>
          <a:solidFill>
            <a:srgbClr val="FFFFFF"/>
          </a:solidFill>
          <a:ln w="30163">
            <a:solidFill>
              <a:schemeClr val="tx1"/>
            </a:solidFill>
            <a:round/>
            <a:headEnd/>
            <a:tailEnd/>
          </a:ln>
        </p:spPr>
        <p:txBody>
          <a:bodyPr lIns="0" tIns="0" rIns="0" bIns="0"/>
          <a:lstStyle>
            <a:lvl1pPr>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eaLnBrk="1" hangingPunct="1"/>
            <a:endParaRPr lang="en-IN" altLang="en-US"/>
          </a:p>
        </p:txBody>
      </p:sp>
      <p:sp>
        <p:nvSpPr>
          <p:cNvPr id="35850" name="Oval 9"/>
          <p:cNvSpPr>
            <a:spLocks/>
          </p:cNvSpPr>
          <p:nvPr/>
        </p:nvSpPr>
        <p:spPr bwMode="auto">
          <a:xfrm>
            <a:off x="2273300" y="2941639"/>
            <a:ext cx="1682750" cy="1176337"/>
          </a:xfrm>
          <a:prstGeom prst="ellipse">
            <a:avLst/>
          </a:prstGeom>
          <a:blipFill dpi="0" rotWithShape="0">
            <a:blip r:embed="rId3"/>
            <a:srcRect/>
            <a:tile tx="0" ty="0" sx="100000" sy="100000" flip="none" algn="tl"/>
          </a:blipFill>
          <a:ln w="30163">
            <a:solidFill>
              <a:srgbClr val="D9AA73"/>
            </a:solidFill>
            <a:round/>
            <a:headEnd/>
            <a:tailEnd/>
          </a:ln>
        </p:spPr>
        <p:txBody>
          <a:bodyPr lIns="0" tIns="0" rIns="0" bIns="0"/>
          <a:lstStyle>
            <a:lvl1pPr>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eaLnBrk="1" hangingPunct="1"/>
            <a:endParaRPr lang="en-IN" altLang="en-US"/>
          </a:p>
        </p:txBody>
      </p:sp>
      <p:sp>
        <p:nvSpPr>
          <p:cNvPr id="35851" name="Oval 10"/>
          <p:cNvSpPr>
            <a:spLocks/>
          </p:cNvSpPr>
          <p:nvPr/>
        </p:nvSpPr>
        <p:spPr bwMode="auto">
          <a:xfrm>
            <a:off x="2435225" y="3117851"/>
            <a:ext cx="1385888" cy="823913"/>
          </a:xfrm>
          <a:prstGeom prst="ellipse">
            <a:avLst/>
          </a:prstGeom>
          <a:solidFill>
            <a:srgbClr val="FFFFFF"/>
          </a:solidFill>
          <a:ln w="30163">
            <a:solidFill>
              <a:schemeClr val="tx1"/>
            </a:solidFill>
            <a:round/>
            <a:headEnd/>
            <a:tailEnd/>
          </a:ln>
        </p:spPr>
        <p:txBody>
          <a:bodyPr lIns="0" tIns="0" rIns="0" bIns="0"/>
          <a:lstStyle>
            <a:lvl1pPr>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eaLnBrk="1" hangingPunct="1"/>
            <a:endParaRPr lang="en-IN" altLang="en-US"/>
          </a:p>
        </p:txBody>
      </p:sp>
      <p:sp>
        <p:nvSpPr>
          <p:cNvPr id="35852" name="Freeform 11"/>
          <p:cNvSpPr>
            <a:spLocks/>
          </p:cNvSpPr>
          <p:nvPr/>
        </p:nvSpPr>
        <p:spPr bwMode="auto">
          <a:xfrm>
            <a:off x="3984626" y="2528889"/>
            <a:ext cx="4183063" cy="2001837"/>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2147483646 w 21600"/>
              <a:gd name="T17" fmla="*/ 2147483646 h 21600"/>
              <a:gd name="T18" fmla="*/ 0 w 21600"/>
              <a:gd name="T19" fmla="*/ 2147483646 h 21600"/>
              <a:gd name="T20" fmla="*/ 2147483646 w 21600"/>
              <a:gd name="T21" fmla="*/ 2147483646 h 21600"/>
              <a:gd name="T22" fmla="*/ 2147483646 w 21600"/>
              <a:gd name="T23" fmla="*/ 2147483646 h 21600"/>
              <a:gd name="T24" fmla="*/ 2147483646 w 21600"/>
              <a:gd name="T25" fmla="*/ 2147483646 h 21600"/>
              <a:gd name="T26" fmla="*/ 2147483646 w 21600"/>
              <a:gd name="T27" fmla="*/ 2147483646 h 21600"/>
              <a:gd name="T28" fmla="*/ 2147483646 w 21600"/>
              <a:gd name="T29" fmla="*/ 2147483646 h 21600"/>
              <a:gd name="T30" fmla="*/ 2147483646 w 21600"/>
              <a:gd name="T31" fmla="*/ 2147483646 h 21600"/>
              <a:gd name="T32" fmla="*/ 2147483646 w 21600"/>
              <a:gd name="T33" fmla="*/ 2147483646 h 21600"/>
              <a:gd name="T34" fmla="*/ 2147483646 w 21600"/>
              <a:gd name="T35" fmla="*/ 2147483646 h 21600"/>
              <a:gd name="T36" fmla="*/ 2147483646 w 21600"/>
              <a:gd name="T37" fmla="*/ 2147483646 h 21600"/>
              <a:gd name="T38" fmla="*/ 2147483646 w 21600"/>
              <a:gd name="T39" fmla="*/ 2147483646 h 21600"/>
              <a:gd name="T40" fmla="*/ 2147483646 w 21600"/>
              <a:gd name="T41" fmla="*/ 2147483646 h 21600"/>
              <a:gd name="T42" fmla="*/ 2147483646 w 21600"/>
              <a:gd name="T43" fmla="*/ 2147483646 h 21600"/>
              <a:gd name="T44" fmla="*/ 2147483646 w 21600"/>
              <a:gd name="T45" fmla="*/ 2147483646 h 21600"/>
              <a:gd name="T46" fmla="*/ 2147483646 w 21600"/>
              <a:gd name="T47" fmla="*/ 2147483646 h 21600"/>
              <a:gd name="T48" fmla="*/ 2147483646 w 21600"/>
              <a:gd name="T49" fmla="*/ 2147483646 h 21600"/>
              <a:gd name="T50" fmla="*/ 2147483646 w 21600"/>
              <a:gd name="T51" fmla="*/ 2147483646 h 21600"/>
              <a:gd name="T52" fmla="*/ 2147483646 w 21600"/>
              <a:gd name="T53" fmla="*/ 2147483646 h 2160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21600" h="21600">
                <a:moveTo>
                  <a:pt x="18793" y="1901"/>
                </a:moveTo>
                <a:lnTo>
                  <a:pt x="15290" y="1268"/>
                </a:lnTo>
                <a:lnTo>
                  <a:pt x="11924" y="325"/>
                </a:lnTo>
                <a:lnTo>
                  <a:pt x="9397" y="0"/>
                </a:lnTo>
                <a:lnTo>
                  <a:pt x="6870" y="634"/>
                </a:lnTo>
                <a:lnTo>
                  <a:pt x="1960" y="2227"/>
                </a:lnTo>
                <a:lnTo>
                  <a:pt x="840" y="3494"/>
                </a:lnTo>
                <a:lnTo>
                  <a:pt x="424" y="5396"/>
                </a:lnTo>
                <a:lnTo>
                  <a:pt x="136" y="10483"/>
                </a:lnTo>
                <a:lnTo>
                  <a:pt x="0" y="13652"/>
                </a:lnTo>
                <a:lnTo>
                  <a:pt x="704" y="16204"/>
                </a:lnTo>
                <a:lnTo>
                  <a:pt x="3087" y="19373"/>
                </a:lnTo>
                <a:lnTo>
                  <a:pt x="4486" y="20966"/>
                </a:lnTo>
                <a:lnTo>
                  <a:pt x="6030" y="21600"/>
                </a:lnTo>
                <a:lnTo>
                  <a:pt x="8973" y="21600"/>
                </a:lnTo>
                <a:lnTo>
                  <a:pt x="15146" y="20641"/>
                </a:lnTo>
                <a:lnTo>
                  <a:pt x="17530" y="20007"/>
                </a:lnTo>
                <a:lnTo>
                  <a:pt x="19777" y="17780"/>
                </a:lnTo>
                <a:lnTo>
                  <a:pt x="20616" y="16204"/>
                </a:lnTo>
                <a:lnTo>
                  <a:pt x="21320" y="14286"/>
                </a:lnTo>
                <a:lnTo>
                  <a:pt x="21600" y="11751"/>
                </a:lnTo>
                <a:lnTo>
                  <a:pt x="21456" y="9216"/>
                </a:lnTo>
                <a:lnTo>
                  <a:pt x="20760" y="4762"/>
                </a:lnTo>
                <a:lnTo>
                  <a:pt x="20057" y="2861"/>
                </a:lnTo>
                <a:lnTo>
                  <a:pt x="18937" y="2535"/>
                </a:lnTo>
                <a:lnTo>
                  <a:pt x="18793" y="1901"/>
                </a:lnTo>
                <a:close/>
                <a:moveTo>
                  <a:pt x="18793" y="1901"/>
                </a:moveTo>
              </a:path>
            </a:pathLst>
          </a:custGeom>
          <a:solidFill>
            <a:srgbClr val="FFDC99"/>
          </a:solidFill>
          <a:ln w="30163" cap="flat">
            <a:solidFill>
              <a:srgbClr val="FFDC99"/>
            </a:solidFill>
            <a:prstDash val="solid"/>
            <a:round/>
            <a:headEnd type="none" w="med" len="med"/>
            <a:tailEnd type="none" w="med" len="med"/>
          </a:ln>
        </p:spPr>
        <p:txBody>
          <a:bodyPr lIns="0" tIns="0" rIns="0" bIns="0"/>
          <a:lstStyle/>
          <a:p>
            <a:endParaRPr lang="en-IN"/>
          </a:p>
        </p:txBody>
      </p:sp>
      <p:sp>
        <p:nvSpPr>
          <p:cNvPr id="35853" name="Line 12"/>
          <p:cNvSpPr>
            <a:spLocks noChangeShapeType="1"/>
          </p:cNvSpPr>
          <p:nvPr/>
        </p:nvSpPr>
        <p:spPr bwMode="auto">
          <a:xfrm>
            <a:off x="3767138" y="3382964"/>
            <a:ext cx="4589462" cy="1587"/>
          </a:xfrm>
          <a:prstGeom prst="line">
            <a:avLst/>
          </a:prstGeom>
          <a:noFill/>
          <a:ln w="30163">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en-IN"/>
          </a:p>
        </p:txBody>
      </p:sp>
      <p:sp>
        <p:nvSpPr>
          <p:cNvPr id="35854" name="Line 13"/>
          <p:cNvSpPr>
            <a:spLocks noChangeShapeType="1"/>
          </p:cNvSpPr>
          <p:nvPr/>
        </p:nvSpPr>
        <p:spPr bwMode="auto">
          <a:xfrm rot="10800000" flipH="1">
            <a:off x="3767139" y="3668714"/>
            <a:ext cx="4605337" cy="14287"/>
          </a:xfrm>
          <a:prstGeom prst="line">
            <a:avLst/>
          </a:prstGeom>
          <a:noFill/>
          <a:ln w="30163">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en-IN"/>
          </a:p>
        </p:txBody>
      </p:sp>
      <p:sp>
        <p:nvSpPr>
          <p:cNvPr id="35855" name="Rectangle 14"/>
          <p:cNvSpPr>
            <a:spLocks/>
          </p:cNvSpPr>
          <p:nvPr/>
        </p:nvSpPr>
        <p:spPr bwMode="auto">
          <a:xfrm>
            <a:off x="5360989" y="3367088"/>
            <a:ext cx="1699183"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spAutoFit/>
          </a:bodyPr>
          <a:lstStyle>
            <a:lvl1pPr>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eaLnBrk="1" hangingPunct="1"/>
            <a:r>
              <a:rPr lang="en-US" altLang="en-US" sz="1900">
                <a:solidFill>
                  <a:schemeClr val="tx1"/>
                </a:solidFill>
                <a:latin typeface="Arial" panose="020B0604020202020204" pitchFamily="34" charset="0"/>
                <a:cs typeface="Arial" panose="020B0604020202020204" pitchFamily="34" charset="0"/>
                <a:sym typeface="Arial" panose="020B0604020202020204" pitchFamily="34" charset="0"/>
              </a:rPr>
              <a:t>Secure channel</a:t>
            </a:r>
          </a:p>
        </p:txBody>
      </p:sp>
      <p:sp>
        <p:nvSpPr>
          <p:cNvPr id="35856" name="Rectangle 15"/>
          <p:cNvSpPr>
            <a:spLocks/>
          </p:cNvSpPr>
          <p:nvPr/>
        </p:nvSpPr>
        <p:spPr bwMode="auto">
          <a:xfrm>
            <a:off x="2544763" y="3355975"/>
            <a:ext cx="948978"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spAutoFit/>
          </a:bodyPr>
          <a:lstStyle>
            <a:lvl1pPr>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eaLnBrk="1" hangingPunct="1"/>
            <a:r>
              <a:rPr lang="en-US" altLang="en-US" sz="1900">
                <a:solidFill>
                  <a:schemeClr val="tx1"/>
                </a:solidFill>
                <a:latin typeface="Arial" panose="020B0604020202020204" pitchFamily="34" charset="0"/>
                <a:cs typeface="Arial" panose="020B0604020202020204" pitchFamily="34" charset="0"/>
                <a:sym typeface="Arial" panose="020B0604020202020204" pitchFamily="34" charset="0"/>
              </a:rPr>
              <a:t>Process </a:t>
            </a:r>
          </a:p>
        </p:txBody>
      </p:sp>
      <p:sp>
        <p:nvSpPr>
          <p:cNvPr id="35857" name="Rectangle 16"/>
          <p:cNvSpPr>
            <a:spLocks/>
          </p:cNvSpPr>
          <p:nvPr/>
        </p:nvSpPr>
        <p:spPr bwMode="auto">
          <a:xfrm>
            <a:off x="3467100" y="3338514"/>
            <a:ext cx="14908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spAutoFit/>
          </a:bodyPr>
          <a:lstStyle>
            <a:lvl1pPr>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eaLnBrk="1" hangingPunct="1"/>
            <a:r>
              <a:rPr lang="en-US" altLang="en-US" sz="2100">
                <a:solidFill>
                  <a:schemeClr val="tx1"/>
                </a:solidFill>
                <a:latin typeface="Arial Italic" panose="020B0604020202090204" pitchFamily="34" charset="0"/>
                <a:cs typeface="Arial Italic" panose="020B0604020202090204" pitchFamily="34" charset="0"/>
                <a:sym typeface="Arial Italic" panose="020B0604020202090204" pitchFamily="34" charset="0"/>
              </a:rPr>
              <a:t>p</a:t>
            </a:r>
          </a:p>
        </p:txBody>
      </p:sp>
      <p:sp>
        <p:nvSpPr>
          <p:cNvPr id="35858" name="Rectangle 17"/>
          <p:cNvSpPr>
            <a:spLocks/>
          </p:cNvSpPr>
          <p:nvPr/>
        </p:nvSpPr>
        <p:spPr bwMode="auto">
          <a:xfrm>
            <a:off x="8482013" y="3392488"/>
            <a:ext cx="948978"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spAutoFit/>
          </a:bodyPr>
          <a:lstStyle>
            <a:lvl1pPr>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eaLnBrk="1" hangingPunct="1"/>
            <a:r>
              <a:rPr lang="en-US" altLang="en-US" sz="1900">
                <a:solidFill>
                  <a:schemeClr val="tx1"/>
                </a:solidFill>
                <a:latin typeface="Arial" panose="020B0604020202020204" pitchFamily="34" charset="0"/>
                <a:cs typeface="Arial" panose="020B0604020202020204" pitchFamily="34" charset="0"/>
                <a:sym typeface="Arial" panose="020B0604020202020204" pitchFamily="34" charset="0"/>
              </a:rPr>
              <a:t>Process </a:t>
            </a:r>
          </a:p>
        </p:txBody>
      </p:sp>
      <p:sp>
        <p:nvSpPr>
          <p:cNvPr id="35859" name="Rectangle 18"/>
          <p:cNvSpPr>
            <a:spLocks/>
          </p:cNvSpPr>
          <p:nvPr/>
        </p:nvSpPr>
        <p:spPr bwMode="auto">
          <a:xfrm>
            <a:off x="9402763" y="3367089"/>
            <a:ext cx="14908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spAutoFit/>
          </a:bodyPr>
          <a:lstStyle>
            <a:lvl1pPr>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eaLnBrk="1" hangingPunct="1"/>
            <a:r>
              <a:rPr lang="en-US" altLang="en-US" sz="2100">
                <a:solidFill>
                  <a:schemeClr val="tx1"/>
                </a:solidFill>
                <a:latin typeface="Arial Italic" panose="020B0604020202090204" pitchFamily="34" charset="0"/>
                <a:cs typeface="Arial Italic" panose="020B0604020202090204" pitchFamily="34" charset="0"/>
                <a:sym typeface="Arial Italic" panose="020B0604020202090204" pitchFamily="34" charset="0"/>
              </a:rPr>
              <a:t>q</a:t>
            </a:r>
          </a:p>
        </p:txBody>
      </p:sp>
      <p:sp>
        <p:nvSpPr>
          <p:cNvPr id="35860" name="Rectangle 19"/>
          <p:cNvSpPr>
            <a:spLocks/>
          </p:cNvSpPr>
          <p:nvPr/>
        </p:nvSpPr>
        <p:spPr bwMode="auto">
          <a:xfrm>
            <a:off x="9075739" y="2414588"/>
            <a:ext cx="1005083"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spAutoFit/>
          </a:bodyPr>
          <a:lstStyle>
            <a:lvl1pPr>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eaLnBrk="1" hangingPunct="1"/>
            <a:r>
              <a:rPr lang="en-US" altLang="en-US" sz="1900">
                <a:solidFill>
                  <a:schemeClr val="tx1"/>
                </a:solidFill>
                <a:latin typeface="Arial" panose="020B0604020202020204" pitchFamily="34" charset="0"/>
                <a:cs typeface="Arial" panose="020B0604020202020204" pitchFamily="34" charset="0"/>
                <a:sym typeface="Arial" panose="020B0604020202020204" pitchFamily="34" charset="0"/>
              </a:rPr>
              <a:t>Principal </a:t>
            </a:r>
          </a:p>
        </p:txBody>
      </p:sp>
      <p:sp>
        <p:nvSpPr>
          <p:cNvPr id="35861" name="Rectangle 20"/>
          <p:cNvSpPr>
            <a:spLocks/>
          </p:cNvSpPr>
          <p:nvPr/>
        </p:nvSpPr>
        <p:spPr bwMode="auto">
          <a:xfrm>
            <a:off x="10064750" y="2379664"/>
            <a:ext cx="17953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spAutoFit/>
          </a:bodyPr>
          <a:lstStyle>
            <a:lvl1pPr>
              <a:defRPr sz="2400">
                <a:solidFill>
                  <a:srgbClr val="000000"/>
                </a:solidFill>
                <a:latin typeface="Times" panose="02020603050405020304" pitchFamily="18" charset="0"/>
                <a:ea typeface="ヒラギノ明朝 ProN W3" pitchFamily="60" charset="-128"/>
                <a:sym typeface="Times" panose="02020603050405020304" pitchFamily="18" charset="0"/>
              </a:defRPr>
            </a:lvl1pPr>
            <a:lvl2pPr marL="742950" indent="-285750">
              <a:defRPr sz="2400">
                <a:solidFill>
                  <a:srgbClr val="000000"/>
                </a:solidFill>
                <a:latin typeface="Times" panose="02020603050405020304" pitchFamily="18" charset="0"/>
                <a:ea typeface="ヒラギノ明朝 ProN W3" pitchFamily="60"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pitchFamily="60"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pitchFamily="60" charset="-128"/>
                <a:sym typeface="Times" panose="02020603050405020304" pitchFamily="18" charset="0"/>
              </a:defRPr>
            </a:lvl9pPr>
          </a:lstStyle>
          <a:p>
            <a:pPr eaLnBrk="1" hangingPunct="1"/>
            <a:r>
              <a:rPr lang="en-US" altLang="en-US" sz="2100">
                <a:solidFill>
                  <a:schemeClr val="tx1"/>
                </a:solidFill>
                <a:latin typeface="Arial Italic" panose="020B0604020202090204" pitchFamily="34" charset="0"/>
                <a:cs typeface="Arial Italic" panose="020B0604020202090204" pitchFamily="34" charset="0"/>
                <a:sym typeface="Arial Italic" panose="020B0604020202090204" pitchFamily="34" charset="0"/>
              </a:rPr>
              <a:t>B</a:t>
            </a:r>
          </a:p>
        </p:txBody>
      </p:sp>
      <p:sp>
        <p:nvSpPr>
          <p:cNvPr id="35862" name="Line 21"/>
          <p:cNvSpPr>
            <a:spLocks noChangeShapeType="1"/>
          </p:cNvSpPr>
          <p:nvPr/>
        </p:nvSpPr>
        <p:spPr bwMode="auto">
          <a:xfrm>
            <a:off x="2598739" y="2794001"/>
            <a:ext cx="134937" cy="265113"/>
          </a:xfrm>
          <a:prstGeom prst="line">
            <a:avLst/>
          </a:prstGeom>
          <a:noFill/>
          <a:ln w="30163">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en-IN"/>
          </a:p>
        </p:txBody>
      </p:sp>
    </p:spTree>
    <p:extLst>
      <p:ext uri="{BB962C8B-B14F-4D97-AF65-F5344CB8AC3E}">
        <p14:creationId xmlns:p14="http://schemas.microsoft.com/office/powerpoint/2010/main" val="21404453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050BE306-87D6-4207-8449-2E914DE4DA98}"/>
              </a:ext>
            </a:extLst>
          </p:cNvPr>
          <p:cNvSpPr>
            <a:spLocks noGrp="1" noChangeArrowheads="1"/>
          </p:cNvSpPr>
          <p:nvPr>
            <p:ph type="title"/>
          </p:nvPr>
        </p:nvSpPr>
        <p:spPr/>
        <p:txBody>
          <a:bodyPr>
            <a:normAutofit fontScale="90000"/>
          </a:bodyPr>
          <a:lstStyle/>
          <a:p>
            <a:r>
              <a:rPr lang="en-GB" altLang="en-US"/>
              <a:t>Figure 3.4</a:t>
            </a:r>
            <a:br>
              <a:rPr lang="en-GB" altLang="en-US"/>
            </a:br>
            <a:r>
              <a:rPr lang="en-GB" altLang="en-US"/>
              <a:t>Protocol layers in the ISO Open Systems Interconnection (OSI) model</a:t>
            </a:r>
          </a:p>
        </p:txBody>
      </p:sp>
      <p:pic>
        <p:nvPicPr>
          <p:cNvPr id="10243" name="Picture 3">
            <a:extLst>
              <a:ext uri="{FF2B5EF4-FFF2-40B4-BE49-F238E27FC236}">
                <a16:creationId xmlns:a16="http://schemas.microsoft.com/office/drawing/2014/main" id="{28B71372-FEFF-48BD-BDD2-2EBF701C81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1905001"/>
            <a:ext cx="8077200" cy="3833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E181B1B5-2D9C-4450-99A8-93DFB9056DCC}"/>
              </a:ext>
            </a:extLst>
          </p:cNvPr>
          <p:cNvSpPr>
            <a:spLocks noGrp="1" noChangeArrowheads="1"/>
          </p:cNvSpPr>
          <p:nvPr>
            <p:ph type="title"/>
          </p:nvPr>
        </p:nvSpPr>
        <p:spPr/>
        <p:txBody>
          <a:bodyPr/>
          <a:lstStyle/>
          <a:p>
            <a:r>
              <a:rPr lang="en-GB" altLang="en-US"/>
              <a:t>Figure 3.6</a:t>
            </a:r>
            <a:br>
              <a:rPr lang="en-GB" altLang="en-US"/>
            </a:br>
            <a:r>
              <a:rPr lang="en-GB" altLang="en-US"/>
              <a:t>Internetwork layers</a:t>
            </a:r>
          </a:p>
        </p:txBody>
      </p:sp>
      <p:pic>
        <p:nvPicPr>
          <p:cNvPr id="12291" name="Picture 3">
            <a:extLst>
              <a:ext uri="{FF2B5EF4-FFF2-40B4-BE49-F238E27FC236}">
                <a16:creationId xmlns:a16="http://schemas.microsoft.com/office/drawing/2014/main" id="{A2EA78DC-A2B8-4D72-9B55-5798A6B91B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1447800"/>
            <a:ext cx="7924800" cy="446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132CEFA6-8367-46D9-8EC6-3AF3E55B2156}"/>
              </a:ext>
            </a:extLst>
          </p:cNvPr>
          <p:cNvSpPr>
            <a:spLocks noGrp="1" noChangeArrowheads="1"/>
          </p:cNvSpPr>
          <p:nvPr>
            <p:ph type="title"/>
          </p:nvPr>
        </p:nvSpPr>
        <p:spPr/>
        <p:txBody>
          <a:bodyPr/>
          <a:lstStyle/>
          <a:p>
            <a:r>
              <a:rPr lang="en-GB" altLang="en-US"/>
              <a:t>Figure 3.7</a:t>
            </a:r>
            <a:br>
              <a:rPr lang="en-GB" altLang="en-US"/>
            </a:br>
            <a:r>
              <a:rPr lang="en-GB" altLang="en-US"/>
              <a:t>Routing in a wide area network</a:t>
            </a:r>
          </a:p>
        </p:txBody>
      </p:sp>
      <p:grpSp>
        <p:nvGrpSpPr>
          <p:cNvPr id="13317" name="Group 5">
            <a:extLst>
              <a:ext uri="{FF2B5EF4-FFF2-40B4-BE49-F238E27FC236}">
                <a16:creationId xmlns:a16="http://schemas.microsoft.com/office/drawing/2014/main" id="{33ABBE2C-E453-4853-A012-5C5177E8966C}"/>
              </a:ext>
            </a:extLst>
          </p:cNvPr>
          <p:cNvGrpSpPr>
            <a:grpSpLocks/>
          </p:cNvGrpSpPr>
          <p:nvPr/>
        </p:nvGrpSpPr>
        <p:grpSpPr bwMode="auto">
          <a:xfrm>
            <a:off x="2900364" y="1708151"/>
            <a:ext cx="6637337" cy="4143375"/>
            <a:chOff x="867" y="1076"/>
            <a:chExt cx="4181" cy="2610"/>
          </a:xfrm>
        </p:grpSpPr>
        <p:sp>
          <p:nvSpPr>
            <p:cNvPr id="13318" name="Line 6">
              <a:extLst>
                <a:ext uri="{FF2B5EF4-FFF2-40B4-BE49-F238E27FC236}">
                  <a16:creationId xmlns:a16="http://schemas.microsoft.com/office/drawing/2014/main" id="{2C7E8D7D-E5AC-4E8C-8E05-57F53E32DB95}"/>
                </a:ext>
              </a:extLst>
            </p:cNvPr>
            <p:cNvSpPr>
              <a:spLocks noChangeShapeType="1"/>
            </p:cNvSpPr>
            <p:nvPr/>
          </p:nvSpPr>
          <p:spPr bwMode="auto">
            <a:xfrm flipH="1" flipV="1">
              <a:off x="1884" y="1807"/>
              <a:ext cx="138" cy="1009"/>
            </a:xfrm>
            <a:prstGeom prst="line">
              <a:avLst/>
            </a:prstGeom>
            <a:noFill/>
            <a:ln w="4603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3319" name="Freeform 7">
              <a:extLst>
                <a:ext uri="{FF2B5EF4-FFF2-40B4-BE49-F238E27FC236}">
                  <a16:creationId xmlns:a16="http://schemas.microsoft.com/office/drawing/2014/main" id="{38359067-B403-444F-A87F-5A22A02F271E}"/>
                </a:ext>
              </a:extLst>
            </p:cNvPr>
            <p:cNvSpPr>
              <a:spLocks/>
            </p:cNvSpPr>
            <p:nvPr/>
          </p:nvSpPr>
          <p:spPr bwMode="auto">
            <a:xfrm>
              <a:off x="1864" y="1807"/>
              <a:ext cx="2235" cy="554"/>
            </a:xfrm>
            <a:custGeom>
              <a:avLst/>
              <a:gdLst>
                <a:gd name="T0" fmla="*/ 0 w 2235"/>
                <a:gd name="T1" fmla="*/ 0 h 554"/>
                <a:gd name="T2" fmla="*/ 1721 w 2235"/>
                <a:gd name="T3" fmla="*/ 0 h 554"/>
                <a:gd name="T4" fmla="*/ 2235 w 2235"/>
                <a:gd name="T5" fmla="*/ 554 h 554"/>
              </a:gdLst>
              <a:ahLst/>
              <a:cxnLst>
                <a:cxn ang="0">
                  <a:pos x="T0" y="T1"/>
                </a:cxn>
                <a:cxn ang="0">
                  <a:pos x="T2" y="T3"/>
                </a:cxn>
                <a:cxn ang="0">
                  <a:pos x="T4" y="T5"/>
                </a:cxn>
              </a:cxnLst>
              <a:rect l="0" t="0" r="r" b="b"/>
              <a:pathLst>
                <a:path w="2235" h="554">
                  <a:moveTo>
                    <a:pt x="0" y="0"/>
                  </a:moveTo>
                  <a:lnTo>
                    <a:pt x="1721" y="0"/>
                  </a:lnTo>
                  <a:lnTo>
                    <a:pt x="2235" y="554"/>
                  </a:lnTo>
                </a:path>
              </a:pathLst>
            </a:custGeom>
            <a:noFill/>
            <a:ln w="460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3320" name="Line 8">
              <a:extLst>
                <a:ext uri="{FF2B5EF4-FFF2-40B4-BE49-F238E27FC236}">
                  <a16:creationId xmlns:a16="http://schemas.microsoft.com/office/drawing/2014/main" id="{DBB870D9-B101-4EA4-8C37-F91BDFD365BC}"/>
                </a:ext>
              </a:extLst>
            </p:cNvPr>
            <p:cNvSpPr>
              <a:spLocks noChangeShapeType="1"/>
            </p:cNvSpPr>
            <p:nvPr/>
          </p:nvSpPr>
          <p:spPr bwMode="auto">
            <a:xfrm>
              <a:off x="2003" y="2776"/>
              <a:ext cx="1305" cy="1"/>
            </a:xfrm>
            <a:prstGeom prst="line">
              <a:avLst/>
            </a:prstGeom>
            <a:noFill/>
            <a:ln w="4603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3321" name="Line 9">
              <a:extLst>
                <a:ext uri="{FF2B5EF4-FFF2-40B4-BE49-F238E27FC236}">
                  <a16:creationId xmlns:a16="http://schemas.microsoft.com/office/drawing/2014/main" id="{1E8E604B-5DED-4CC7-A620-264FF60C2E6D}"/>
                </a:ext>
              </a:extLst>
            </p:cNvPr>
            <p:cNvSpPr>
              <a:spLocks noChangeShapeType="1"/>
            </p:cNvSpPr>
            <p:nvPr/>
          </p:nvSpPr>
          <p:spPr bwMode="auto">
            <a:xfrm flipH="1">
              <a:off x="3288" y="1788"/>
              <a:ext cx="297" cy="1028"/>
            </a:xfrm>
            <a:prstGeom prst="line">
              <a:avLst/>
            </a:prstGeom>
            <a:noFill/>
            <a:ln w="4603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3322" name="Line 10">
              <a:extLst>
                <a:ext uri="{FF2B5EF4-FFF2-40B4-BE49-F238E27FC236}">
                  <a16:creationId xmlns:a16="http://schemas.microsoft.com/office/drawing/2014/main" id="{E3689DC3-E54B-4CF9-8D14-26EDE776A580}"/>
                </a:ext>
              </a:extLst>
            </p:cNvPr>
            <p:cNvSpPr>
              <a:spLocks noChangeShapeType="1"/>
            </p:cNvSpPr>
            <p:nvPr/>
          </p:nvSpPr>
          <p:spPr bwMode="auto">
            <a:xfrm flipV="1">
              <a:off x="3288" y="2361"/>
              <a:ext cx="831" cy="435"/>
            </a:xfrm>
            <a:prstGeom prst="line">
              <a:avLst/>
            </a:prstGeom>
            <a:noFill/>
            <a:ln w="4603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3323" name="Rectangle 11">
              <a:extLst>
                <a:ext uri="{FF2B5EF4-FFF2-40B4-BE49-F238E27FC236}">
                  <a16:creationId xmlns:a16="http://schemas.microsoft.com/office/drawing/2014/main" id="{2DC5FD1F-3B6B-4CEF-ADF6-E087F99F6BE6}"/>
                </a:ext>
              </a:extLst>
            </p:cNvPr>
            <p:cNvSpPr>
              <a:spLocks noChangeArrowheads="1"/>
            </p:cNvSpPr>
            <p:nvPr/>
          </p:nvSpPr>
          <p:spPr bwMode="auto">
            <a:xfrm>
              <a:off x="2003" y="2796"/>
              <a:ext cx="39" cy="6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13324" name="Rectangle 12">
              <a:extLst>
                <a:ext uri="{FF2B5EF4-FFF2-40B4-BE49-F238E27FC236}">
                  <a16:creationId xmlns:a16="http://schemas.microsoft.com/office/drawing/2014/main" id="{1826102B-2C87-4000-9597-85CBADFAA19D}"/>
                </a:ext>
              </a:extLst>
            </p:cNvPr>
            <p:cNvSpPr>
              <a:spLocks noChangeArrowheads="1"/>
            </p:cNvSpPr>
            <p:nvPr/>
          </p:nvSpPr>
          <p:spPr bwMode="auto">
            <a:xfrm>
              <a:off x="3268" y="2776"/>
              <a:ext cx="40" cy="57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13325" name="Rectangle 13">
              <a:extLst>
                <a:ext uri="{FF2B5EF4-FFF2-40B4-BE49-F238E27FC236}">
                  <a16:creationId xmlns:a16="http://schemas.microsoft.com/office/drawing/2014/main" id="{2A26A422-E826-4ED7-9131-4BCE62EC983B}"/>
                </a:ext>
              </a:extLst>
            </p:cNvPr>
            <p:cNvSpPr>
              <a:spLocks noChangeArrowheads="1"/>
            </p:cNvSpPr>
            <p:nvPr/>
          </p:nvSpPr>
          <p:spPr bwMode="auto">
            <a:xfrm>
              <a:off x="1864" y="1392"/>
              <a:ext cx="40" cy="35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13326" name="Rectangle 14">
              <a:extLst>
                <a:ext uri="{FF2B5EF4-FFF2-40B4-BE49-F238E27FC236}">
                  <a16:creationId xmlns:a16="http://schemas.microsoft.com/office/drawing/2014/main" id="{224EE3F0-8326-4AD9-B10D-ACA80E5537C7}"/>
                </a:ext>
              </a:extLst>
            </p:cNvPr>
            <p:cNvSpPr>
              <a:spLocks noChangeArrowheads="1"/>
            </p:cNvSpPr>
            <p:nvPr/>
          </p:nvSpPr>
          <p:spPr bwMode="auto">
            <a:xfrm>
              <a:off x="3565" y="1313"/>
              <a:ext cx="40" cy="45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13327" name="Rectangle 15">
              <a:extLst>
                <a:ext uri="{FF2B5EF4-FFF2-40B4-BE49-F238E27FC236}">
                  <a16:creationId xmlns:a16="http://schemas.microsoft.com/office/drawing/2014/main" id="{1EF2C57C-807E-4AF8-AB5C-0D2C121735DC}"/>
                </a:ext>
              </a:extLst>
            </p:cNvPr>
            <p:cNvSpPr>
              <a:spLocks noChangeArrowheads="1"/>
            </p:cNvSpPr>
            <p:nvPr/>
          </p:nvSpPr>
          <p:spPr bwMode="auto">
            <a:xfrm>
              <a:off x="4099" y="2302"/>
              <a:ext cx="435" cy="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13328" name="Line 16">
              <a:extLst>
                <a:ext uri="{FF2B5EF4-FFF2-40B4-BE49-F238E27FC236}">
                  <a16:creationId xmlns:a16="http://schemas.microsoft.com/office/drawing/2014/main" id="{A216C946-0029-492B-91B9-E577ADFB05D8}"/>
                </a:ext>
              </a:extLst>
            </p:cNvPr>
            <p:cNvSpPr>
              <a:spLocks noChangeShapeType="1"/>
            </p:cNvSpPr>
            <p:nvPr/>
          </p:nvSpPr>
          <p:spPr bwMode="auto">
            <a:xfrm flipV="1">
              <a:off x="1053" y="1313"/>
              <a:ext cx="574" cy="732"/>
            </a:xfrm>
            <a:prstGeom prst="line">
              <a:avLst/>
            </a:prstGeom>
            <a:noFill/>
            <a:ln w="4603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3329" name="Line 17">
              <a:extLst>
                <a:ext uri="{FF2B5EF4-FFF2-40B4-BE49-F238E27FC236}">
                  <a16:creationId xmlns:a16="http://schemas.microsoft.com/office/drawing/2014/main" id="{21D85528-272C-47F8-8C94-7708D776C083}"/>
                </a:ext>
              </a:extLst>
            </p:cNvPr>
            <p:cNvSpPr>
              <a:spLocks noChangeShapeType="1"/>
            </p:cNvSpPr>
            <p:nvPr/>
          </p:nvSpPr>
          <p:spPr bwMode="auto">
            <a:xfrm>
              <a:off x="1034" y="2638"/>
              <a:ext cx="672" cy="771"/>
            </a:xfrm>
            <a:prstGeom prst="line">
              <a:avLst/>
            </a:prstGeom>
            <a:noFill/>
            <a:ln w="4603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3330" name="Line 18">
              <a:extLst>
                <a:ext uri="{FF2B5EF4-FFF2-40B4-BE49-F238E27FC236}">
                  <a16:creationId xmlns:a16="http://schemas.microsoft.com/office/drawing/2014/main" id="{9F67FE43-DEE1-4AC6-B6C8-CB7C39AE8954}"/>
                </a:ext>
              </a:extLst>
            </p:cNvPr>
            <p:cNvSpPr>
              <a:spLocks noChangeShapeType="1"/>
            </p:cNvSpPr>
            <p:nvPr/>
          </p:nvSpPr>
          <p:spPr bwMode="auto">
            <a:xfrm flipH="1" flipV="1">
              <a:off x="3526" y="2875"/>
              <a:ext cx="395" cy="99"/>
            </a:xfrm>
            <a:prstGeom prst="line">
              <a:avLst/>
            </a:prstGeom>
            <a:noFill/>
            <a:ln w="4603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3331" name="Line 19">
              <a:extLst>
                <a:ext uri="{FF2B5EF4-FFF2-40B4-BE49-F238E27FC236}">
                  <a16:creationId xmlns:a16="http://schemas.microsoft.com/office/drawing/2014/main" id="{E2E4F51B-6F64-49E2-B539-A04551040C94}"/>
                </a:ext>
              </a:extLst>
            </p:cNvPr>
            <p:cNvSpPr>
              <a:spLocks noChangeShapeType="1"/>
            </p:cNvSpPr>
            <p:nvPr/>
          </p:nvSpPr>
          <p:spPr bwMode="auto">
            <a:xfrm flipV="1">
              <a:off x="4060" y="2519"/>
              <a:ext cx="1" cy="396"/>
            </a:xfrm>
            <a:prstGeom prst="line">
              <a:avLst/>
            </a:prstGeom>
            <a:noFill/>
            <a:ln w="4603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3332" name="Oval 20">
              <a:extLst>
                <a:ext uri="{FF2B5EF4-FFF2-40B4-BE49-F238E27FC236}">
                  <a16:creationId xmlns:a16="http://schemas.microsoft.com/office/drawing/2014/main" id="{59BFE5BD-D1F8-4B57-8636-FE8A2BFAB088}"/>
                </a:ext>
              </a:extLst>
            </p:cNvPr>
            <p:cNvSpPr>
              <a:spLocks noChangeArrowheads="1"/>
            </p:cNvSpPr>
            <p:nvPr/>
          </p:nvSpPr>
          <p:spPr bwMode="auto">
            <a:xfrm>
              <a:off x="3466" y="1689"/>
              <a:ext cx="257" cy="277"/>
            </a:xfrm>
            <a:prstGeom prst="ellipse">
              <a:avLst/>
            </a:prstGeom>
            <a:solidFill>
              <a:srgbClr val="D9AA73"/>
            </a:solidFill>
            <a:ln w="46038">
              <a:solidFill>
                <a:srgbClr val="D9AA73"/>
              </a:solidFill>
              <a:round/>
              <a:headEnd/>
              <a:tailEnd/>
            </a:ln>
          </p:spPr>
          <p:txBody>
            <a:bodyPr/>
            <a:lstStyle/>
            <a:p>
              <a:endParaRPr lang="en-IN"/>
            </a:p>
          </p:txBody>
        </p:sp>
        <p:sp>
          <p:nvSpPr>
            <p:cNvPr id="13333" name="Oval 21">
              <a:extLst>
                <a:ext uri="{FF2B5EF4-FFF2-40B4-BE49-F238E27FC236}">
                  <a16:creationId xmlns:a16="http://schemas.microsoft.com/office/drawing/2014/main" id="{75A5553E-0E29-4544-9609-8FBDFE25C47C}"/>
                </a:ext>
              </a:extLst>
            </p:cNvPr>
            <p:cNvSpPr>
              <a:spLocks noChangeArrowheads="1"/>
            </p:cNvSpPr>
            <p:nvPr/>
          </p:nvSpPr>
          <p:spPr bwMode="auto">
            <a:xfrm>
              <a:off x="1904" y="2658"/>
              <a:ext cx="277" cy="276"/>
            </a:xfrm>
            <a:prstGeom prst="ellipse">
              <a:avLst/>
            </a:prstGeom>
            <a:solidFill>
              <a:srgbClr val="D9AA73"/>
            </a:solidFill>
            <a:ln w="46038">
              <a:solidFill>
                <a:srgbClr val="D9AA73"/>
              </a:solidFill>
              <a:round/>
              <a:headEnd/>
              <a:tailEnd/>
            </a:ln>
          </p:spPr>
          <p:txBody>
            <a:bodyPr/>
            <a:lstStyle/>
            <a:p>
              <a:endParaRPr lang="en-IN"/>
            </a:p>
          </p:txBody>
        </p:sp>
        <p:sp>
          <p:nvSpPr>
            <p:cNvPr id="13334" name="Oval 22">
              <a:extLst>
                <a:ext uri="{FF2B5EF4-FFF2-40B4-BE49-F238E27FC236}">
                  <a16:creationId xmlns:a16="http://schemas.microsoft.com/office/drawing/2014/main" id="{485F74BF-F3BD-437C-9E93-0C45D2F9A2E0}"/>
                </a:ext>
              </a:extLst>
            </p:cNvPr>
            <p:cNvSpPr>
              <a:spLocks noChangeArrowheads="1"/>
            </p:cNvSpPr>
            <p:nvPr/>
          </p:nvSpPr>
          <p:spPr bwMode="auto">
            <a:xfrm>
              <a:off x="3189" y="2658"/>
              <a:ext cx="257" cy="276"/>
            </a:xfrm>
            <a:prstGeom prst="ellipse">
              <a:avLst/>
            </a:prstGeom>
            <a:solidFill>
              <a:srgbClr val="D9AA73"/>
            </a:solidFill>
            <a:ln w="46038">
              <a:solidFill>
                <a:srgbClr val="D9AA73"/>
              </a:solidFill>
              <a:round/>
              <a:headEnd/>
              <a:tailEnd/>
            </a:ln>
          </p:spPr>
          <p:txBody>
            <a:bodyPr/>
            <a:lstStyle/>
            <a:p>
              <a:endParaRPr lang="en-IN"/>
            </a:p>
          </p:txBody>
        </p:sp>
        <p:sp>
          <p:nvSpPr>
            <p:cNvPr id="13335" name="Oval 23">
              <a:extLst>
                <a:ext uri="{FF2B5EF4-FFF2-40B4-BE49-F238E27FC236}">
                  <a16:creationId xmlns:a16="http://schemas.microsoft.com/office/drawing/2014/main" id="{E81ED9A6-E1B3-45C1-AC77-67632EE662B0}"/>
                </a:ext>
              </a:extLst>
            </p:cNvPr>
            <p:cNvSpPr>
              <a:spLocks noChangeArrowheads="1"/>
            </p:cNvSpPr>
            <p:nvPr/>
          </p:nvSpPr>
          <p:spPr bwMode="auto">
            <a:xfrm>
              <a:off x="3961" y="2203"/>
              <a:ext cx="277" cy="277"/>
            </a:xfrm>
            <a:prstGeom prst="ellipse">
              <a:avLst/>
            </a:prstGeom>
            <a:solidFill>
              <a:srgbClr val="D9AA73"/>
            </a:solidFill>
            <a:ln w="46038">
              <a:solidFill>
                <a:srgbClr val="D9AA73"/>
              </a:solidFill>
              <a:round/>
              <a:headEnd/>
              <a:tailEnd/>
            </a:ln>
          </p:spPr>
          <p:txBody>
            <a:bodyPr/>
            <a:lstStyle/>
            <a:p>
              <a:endParaRPr lang="en-IN"/>
            </a:p>
          </p:txBody>
        </p:sp>
        <p:sp>
          <p:nvSpPr>
            <p:cNvPr id="13336" name="Rectangle 24">
              <a:extLst>
                <a:ext uri="{FF2B5EF4-FFF2-40B4-BE49-F238E27FC236}">
                  <a16:creationId xmlns:a16="http://schemas.microsoft.com/office/drawing/2014/main" id="{D78B0533-6F44-489D-A0A8-E59C8E909CE5}"/>
                </a:ext>
              </a:extLst>
            </p:cNvPr>
            <p:cNvSpPr>
              <a:spLocks noChangeArrowheads="1"/>
            </p:cNvSpPr>
            <p:nvPr/>
          </p:nvSpPr>
          <p:spPr bwMode="auto">
            <a:xfrm>
              <a:off x="1686" y="1076"/>
              <a:ext cx="356" cy="356"/>
            </a:xfrm>
            <a:prstGeom prst="rect">
              <a:avLst/>
            </a:prstGeom>
            <a:solidFill>
              <a:srgbClr val="FFDC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13337" name="Rectangle 25">
              <a:extLst>
                <a:ext uri="{FF2B5EF4-FFF2-40B4-BE49-F238E27FC236}">
                  <a16:creationId xmlns:a16="http://schemas.microsoft.com/office/drawing/2014/main" id="{CA92ADF7-B668-46D2-ACAA-E5E1D5FB8147}"/>
                </a:ext>
              </a:extLst>
            </p:cNvPr>
            <p:cNvSpPr>
              <a:spLocks noChangeArrowheads="1"/>
            </p:cNvSpPr>
            <p:nvPr/>
          </p:nvSpPr>
          <p:spPr bwMode="auto">
            <a:xfrm>
              <a:off x="1686" y="1076"/>
              <a:ext cx="376" cy="375"/>
            </a:xfrm>
            <a:prstGeom prst="rect">
              <a:avLst/>
            </a:prstGeom>
            <a:noFill/>
            <a:ln w="46038">
              <a:solidFill>
                <a:srgbClr val="FFDC99"/>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3338" name="Oval 26">
              <a:extLst>
                <a:ext uri="{FF2B5EF4-FFF2-40B4-BE49-F238E27FC236}">
                  <a16:creationId xmlns:a16="http://schemas.microsoft.com/office/drawing/2014/main" id="{E3F6D019-ACAD-47A8-81D6-91E0E69D855D}"/>
                </a:ext>
              </a:extLst>
            </p:cNvPr>
            <p:cNvSpPr>
              <a:spLocks noChangeArrowheads="1"/>
            </p:cNvSpPr>
            <p:nvPr/>
          </p:nvSpPr>
          <p:spPr bwMode="auto">
            <a:xfrm>
              <a:off x="1746" y="1689"/>
              <a:ext cx="276" cy="277"/>
            </a:xfrm>
            <a:prstGeom prst="ellipse">
              <a:avLst/>
            </a:prstGeom>
            <a:solidFill>
              <a:srgbClr val="D9AA73"/>
            </a:solidFill>
            <a:ln w="46038">
              <a:solidFill>
                <a:srgbClr val="D9AA73"/>
              </a:solidFill>
              <a:round/>
              <a:headEnd/>
              <a:tailEnd/>
            </a:ln>
          </p:spPr>
          <p:txBody>
            <a:bodyPr/>
            <a:lstStyle/>
            <a:p>
              <a:endParaRPr lang="en-IN"/>
            </a:p>
          </p:txBody>
        </p:sp>
        <p:sp>
          <p:nvSpPr>
            <p:cNvPr id="13339" name="Rectangle 27">
              <a:extLst>
                <a:ext uri="{FF2B5EF4-FFF2-40B4-BE49-F238E27FC236}">
                  <a16:creationId xmlns:a16="http://schemas.microsoft.com/office/drawing/2014/main" id="{EA9366AE-3A57-4856-A3D9-00B96AD796C4}"/>
                </a:ext>
              </a:extLst>
            </p:cNvPr>
            <p:cNvSpPr>
              <a:spLocks noChangeArrowheads="1"/>
            </p:cNvSpPr>
            <p:nvPr/>
          </p:nvSpPr>
          <p:spPr bwMode="auto">
            <a:xfrm>
              <a:off x="867" y="2066"/>
              <a:ext cx="41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2000">
                  <a:solidFill>
                    <a:srgbClr val="000000"/>
                  </a:solidFill>
                  <a:latin typeface="Arial" panose="020B0604020202020204" pitchFamily="34" charset="0"/>
                </a:rPr>
                <a:t>Hosts</a:t>
              </a:r>
              <a:endParaRPr lang="en-GB" altLang="en-US"/>
            </a:p>
          </p:txBody>
        </p:sp>
        <p:sp>
          <p:nvSpPr>
            <p:cNvPr id="13340" name="Rectangle 28">
              <a:extLst>
                <a:ext uri="{FF2B5EF4-FFF2-40B4-BE49-F238E27FC236}">
                  <a16:creationId xmlns:a16="http://schemas.microsoft.com/office/drawing/2014/main" id="{0AB0682E-5487-4F83-9D3D-EA0E14C2A85B}"/>
                </a:ext>
              </a:extLst>
            </p:cNvPr>
            <p:cNvSpPr>
              <a:spLocks noChangeArrowheads="1"/>
            </p:cNvSpPr>
            <p:nvPr/>
          </p:nvSpPr>
          <p:spPr bwMode="auto">
            <a:xfrm>
              <a:off x="2360" y="2145"/>
              <a:ext cx="37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2000">
                  <a:solidFill>
                    <a:srgbClr val="000000"/>
                  </a:solidFill>
                  <a:latin typeface="Arial" panose="020B0604020202020204" pitchFamily="34" charset="0"/>
                </a:rPr>
                <a:t>Links</a:t>
              </a:r>
              <a:endParaRPr lang="en-GB" altLang="en-US"/>
            </a:p>
          </p:txBody>
        </p:sp>
        <p:sp>
          <p:nvSpPr>
            <p:cNvPr id="13341" name="Rectangle 29">
              <a:extLst>
                <a:ext uri="{FF2B5EF4-FFF2-40B4-BE49-F238E27FC236}">
                  <a16:creationId xmlns:a16="http://schemas.microsoft.com/office/drawing/2014/main" id="{224E82D4-B5FE-489D-ACFB-C66BAEA6C4C0}"/>
                </a:ext>
              </a:extLst>
            </p:cNvPr>
            <p:cNvSpPr>
              <a:spLocks noChangeArrowheads="1"/>
            </p:cNvSpPr>
            <p:nvPr/>
          </p:nvSpPr>
          <p:spPr bwMode="auto">
            <a:xfrm>
              <a:off x="867" y="2244"/>
              <a:ext cx="5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2000">
                  <a:solidFill>
                    <a:srgbClr val="000000"/>
                  </a:solidFill>
                  <a:latin typeface="Arial" panose="020B0604020202020204" pitchFamily="34" charset="0"/>
                </a:rPr>
                <a:t>or local </a:t>
              </a:r>
              <a:endParaRPr lang="en-GB" altLang="en-US"/>
            </a:p>
          </p:txBody>
        </p:sp>
        <p:sp>
          <p:nvSpPr>
            <p:cNvPr id="13342" name="Rectangle 30">
              <a:extLst>
                <a:ext uri="{FF2B5EF4-FFF2-40B4-BE49-F238E27FC236}">
                  <a16:creationId xmlns:a16="http://schemas.microsoft.com/office/drawing/2014/main" id="{B006F123-129B-4DC6-9176-46D7F839FA86}"/>
                </a:ext>
              </a:extLst>
            </p:cNvPr>
            <p:cNvSpPr>
              <a:spLocks noChangeArrowheads="1"/>
            </p:cNvSpPr>
            <p:nvPr/>
          </p:nvSpPr>
          <p:spPr bwMode="auto">
            <a:xfrm>
              <a:off x="867" y="2422"/>
              <a:ext cx="6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2000">
                  <a:solidFill>
                    <a:srgbClr val="000000"/>
                  </a:solidFill>
                  <a:latin typeface="Arial" panose="020B0604020202020204" pitchFamily="34" charset="0"/>
                </a:rPr>
                <a:t>networks</a:t>
              </a:r>
              <a:endParaRPr lang="en-GB" altLang="en-US"/>
            </a:p>
          </p:txBody>
        </p:sp>
        <p:sp>
          <p:nvSpPr>
            <p:cNvPr id="13343" name="Rectangle 31">
              <a:extLst>
                <a:ext uri="{FF2B5EF4-FFF2-40B4-BE49-F238E27FC236}">
                  <a16:creationId xmlns:a16="http://schemas.microsoft.com/office/drawing/2014/main" id="{F3C4DD32-2087-4965-97E7-CE698D4A3291}"/>
                </a:ext>
              </a:extLst>
            </p:cNvPr>
            <p:cNvSpPr>
              <a:spLocks noChangeArrowheads="1"/>
            </p:cNvSpPr>
            <p:nvPr/>
          </p:nvSpPr>
          <p:spPr bwMode="auto">
            <a:xfrm>
              <a:off x="1846" y="1730"/>
              <a:ext cx="108"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2000">
                  <a:solidFill>
                    <a:srgbClr val="000000"/>
                  </a:solidFill>
                  <a:latin typeface="Arial" panose="020B0604020202020204" pitchFamily="34" charset="0"/>
                </a:rPr>
                <a:t>A</a:t>
              </a:r>
              <a:endParaRPr lang="en-GB" altLang="en-US"/>
            </a:p>
          </p:txBody>
        </p:sp>
        <p:sp>
          <p:nvSpPr>
            <p:cNvPr id="13344" name="Rectangle 32">
              <a:extLst>
                <a:ext uri="{FF2B5EF4-FFF2-40B4-BE49-F238E27FC236}">
                  <a16:creationId xmlns:a16="http://schemas.microsoft.com/office/drawing/2014/main" id="{05393A02-422A-4C21-97CB-CFE94E23CE43}"/>
                </a:ext>
              </a:extLst>
            </p:cNvPr>
            <p:cNvSpPr>
              <a:spLocks noChangeArrowheads="1"/>
            </p:cNvSpPr>
            <p:nvPr/>
          </p:nvSpPr>
          <p:spPr bwMode="auto">
            <a:xfrm>
              <a:off x="1978" y="2698"/>
              <a:ext cx="1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2000">
                  <a:solidFill>
                    <a:srgbClr val="000000"/>
                  </a:solidFill>
                  <a:latin typeface="Arial" panose="020B0604020202020204" pitchFamily="34" charset="0"/>
                </a:rPr>
                <a:t>D</a:t>
              </a:r>
              <a:endParaRPr lang="en-GB" altLang="en-US"/>
            </a:p>
          </p:txBody>
        </p:sp>
        <p:sp>
          <p:nvSpPr>
            <p:cNvPr id="13345" name="Rectangle 33">
              <a:extLst>
                <a:ext uri="{FF2B5EF4-FFF2-40B4-BE49-F238E27FC236}">
                  <a16:creationId xmlns:a16="http://schemas.microsoft.com/office/drawing/2014/main" id="{DB2C7009-BA7E-4D61-A4A6-A8F20B7DDF14}"/>
                </a:ext>
              </a:extLst>
            </p:cNvPr>
            <p:cNvSpPr>
              <a:spLocks noChangeArrowheads="1"/>
            </p:cNvSpPr>
            <p:nvPr/>
          </p:nvSpPr>
          <p:spPr bwMode="auto">
            <a:xfrm>
              <a:off x="3257" y="2698"/>
              <a:ext cx="108"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2000">
                  <a:solidFill>
                    <a:srgbClr val="000000"/>
                  </a:solidFill>
                  <a:latin typeface="Arial" panose="020B0604020202020204" pitchFamily="34" charset="0"/>
                </a:rPr>
                <a:t>E</a:t>
              </a:r>
              <a:endParaRPr lang="en-GB" altLang="en-US"/>
            </a:p>
          </p:txBody>
        </p:sp>
        <p:sp>
          <p:nvSpPr>
            <p:cNvPr id="13346" name="Freeform 34">
              <a:extLst>
                <a:ext uri="{FF2B5EF4-FFF2-40B4-BE49-F238E27FC236}">
                  <a16:creationId xmlns:a16="http://schemas.microsoft.com/office/drawing/2014/main" id="{487924DA-056A-47EC-855C-BB5BE2D0E5F8}"/>
                </a:ext>
              </a:extLst>
            </p:cNvPr>
            <p:cNvSpPr>
              <a:spLocks/>
            </p:cNvSpPr>
            <p:nvPr/>
          </p:nvSpPr>
          <p:spPr bwMode="auto">
            <a:xfrm>
              <a:off x="1765" y="3211"/>
              <a:ext cx="554" cy="475"/>
            </a:xfrm>
            <a:custGeom>
              <a:avLst/>
              <a:gdLst>
                <a:gd name="T0" fmla="*/ 20 w 554"/>
                <a:gd name="T1" fmla="*/ 119 h 475"/>
                <a:gd name="T2" fmla="*/ 40 w 554"/>
                <a:gd name="T3" fmla="*/ 79 h 475"/>
                <a:gd name="T4" fmla="*/ 60 w 554"/>
                <a:gd name="T5" fmla="*/ 59 h 475"/>
                <a:gd name="T6" fmla="*/ 99 w 554"/>
                <a:gd name="T7" fmla="*/ 40 h 475"/>
                <a:gd name="T8" fmla="*/ 119 w 554"/>
                <a:gd name="T9" fmla="*/ 40 h 475"/>
                <a:gd name="T10" fmla="*/ 139 w 554"/>
                <a:gd name="T11" fmla="*/ 40 h 475"/>
                <a:gd name="T12" fmla="*/ 178 w 554"/>
                <a:gd name="T13" fmla="*/ 40 h 475"/>
                <a:gd name="T14" fmla="*/ 218 w 554"/>
                <a:gd name="T15" fmla="*/ 40 h 475"/>
                <a:gd name="T16" fmla="*/ 257 w 554"/>
                <a:gd name="T17" fmla="*/ 40 h 475"/>
                <a:gd name="T18" fmla="*/ 297 w 554"/>
                <a:gd name="T19" fmla="*/ 40 h 475"/>
                <a:gd name="T20" fmla="*/ 317 w 554"/>
                <a:gd name="T21" fmla="*/ 20 h 475"/>
                <a:gd name="T22" fmla="*/ 337 w 554"/>
                <a:gd name="T23" fmla="*/ 20 h 475"/>
                <a:gd name="T24" fmla="*/ 376 w 554"/>
                <a:gd name="T25" fmla="*/ 0 h 475"/>
                <a:gd name="T26" fmla="*/ 396 w 554"/>
                <a:gd name="T27" fmla="*/ 0 h 475"/>
                <a:gd name="T28" fmla="*/ 435 w 554"/>
                <a:gd name="T29" fmla="*/ 0 h 475"/>
                <a:gd name="T30" fmla="*/ 455 w 554"/>
                <a:gd name="T31" fmla="*/ 20 h 475"/>
                <a:gd name="T32" fmla="*/ 475 w 554"/>
                <a:gd name="T33" fmla="*/ 40 h 475"/>
                <a:gd name="T34" fmla="*/ 495 w 554"/>
                <a:gd name="T35" fmla="*/ 40 h 475"/>
                <a:gd name="T36" fmla="*/ 515 w 554"/>
                <a:gd name="T37" fmla="*/ 79 h 475"/>
                <a:gd name="T38" fmla="*/ 554 w 554"/>
                <a:gd name="T39" fmla="*/ 158 h 475"/>
                <a:gd name="T40" fmla="*/ 554 w 554"/>
                <a:gd name="T41" fmla="*/ 237 h 475"/>
                <a:gd name="T42" fmla="*/ 554 w 554"/>
                <a:gd name="T43" fmla="*/ 297 h 475"/>
                <a:gd name="T44" fmla="*/ 554 w 554"/>
                <a:gd name="T45" fmla="*/ 336 h 475"/>
                <a:gd name="T46" fmla="*/ 534 w 554"/>
                <a:gd name="T47" fmla="*/ 415 h 475"/>
                <a:gd name="T48" fmla="*/ 515 w 554"/>
                <a:gd name="T49" fmla="*/ 455 h 475"/>
                <a:gd name="T50" fmla="*/ 475 w 554"/>
                <a:gd name="T51" fmla="*/ 475 h 475"/>
                <a:gd name="T52" fmla="*/ 435 w 554"/>
                <a:gd name="T53" fmla="*/ 475 h 475"/>
                <a:gd name="T54" fmla="*/ 396 w 554"/>
                <a:gd name="T55" fmla="*/ 455 h 475"/>
                <a:gd name="T56" fmla="*/ 356 w 554"/>
                <a:gd name="T57" fmla="*/ 455 h 475"/>
                <a:gd name="T58" fmla="*/ 317 w 554"/>
                <a:gd name="T59" fmla="*/ 435 h 475"/>
                <a:gd name="T60" fmla="*/ 277 w 554"/>
                <a:gd name="T61" fmla="*/ 435 h 475"/>
                <a:gd name="T62" fmla="*/ 238 w 554"/>
                <a:gd name="T63" fmla="*/ 435 h 475"/>
                <a:gd name="T64" fmla="*/ 218 w 554"/>
                <a:gd name="T65" fmla="*/ 455 h 475"/>
                <a:gd name="T66" fmla="*/ 198 w 554"/>
                <a:gd name="T67" fmla="*/ 455 h 475"/>
                <a:gd name="T68" fmla="*/ 159 w 554"/>
                <a:gd name="T69" fmla="*/ 455 h 475"/>
                <a:gd name="T70" fmla="*/ 139 w 554"/>
                <a:gd name="T71" fmla="*/ 475 h 475"/>
                <a:gd name="T72" fmla="*/ 119 w 554"/>
                <a:gd name="T73" fmla="*/ 475 h 475"/>
                <a:gd name="T74" fmla="*/ 79 w 554"/>
                <a:gd name="T75" fmla="*/ 475 h 475"/>
                <a:gd name="T76" fmla="*/ 79 w 554"/>
                <a:gd name="T77" fmla="*/ 455 h 475"/>
                <a:gd name="T78" fmla="*/ 60 w 554"/>
                <a:gd name="T79" fmla="*/ 435 h 475"/>
                <a:gd name="T80" fmla="*/ 40 w 554"/>
                <a:gd name="T81" fmla="*/ 435 h 475"/>
                <a:gd name="T82" fmla="*/ 40 w 554"/>
                <a:gd name="T83" fmla="*/ 415 h 475"/>
                <a:gd name="T84" fmla="*/ 20 w 554"/>
                <a:gd name="T85" fmla="*/ 376 h 475"/>
                <a:gd name="T86" fmla="*/ 20 w 554"/>
                <a:gd name="T87" fmla="*/ 317 h 475"/>
                <a:gd name="T88" fmla="*/ 0 w 554"/>
                <a:gd name="T89" fmla="*/ 277 h 475"/>
                <a:gd name="T90" fmla="*/ 0 w 554"/>
                <a:gd name="T91" fmla="*/ 237 h 475"/>
                <a:gd name="T92" fmla="*/ 0 w 554"/>
                <a:gd name="T93" fmla="*/ 198 h 475"/>
                <a:gd name="T94" fmla="*/ 20 w 554"/>
                <a:gd name="T95" fmla="*/ 139 h 475"/>
                <a:gd name="T96" fmla="*/ 20 w 554"/>
                <a:gd name="T97" fmla="*/ 119 h 475"/>
                <a:gd name="T98" fmla="*/ 20 w 554"/>
                <a:gd name="T99" fmla="*/ 119 h 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54" h="475">
                  <a:moveTo>
                    <a:pt x="20" y="119"/>
                  </a:moveTo>
                  <a:lnTo>
                    <a:pt x="40" y="79"/>
                  </a:lnTo>
                  <a:lnTo>
                    <a:pt x="60" y="59"/>
                  </a:lnTo>
                  <a:lnTo>
                    <a:pt x="99" y="40"/>
                  </a:lnTo>
                  <a:lnTo>
                    <a:pt x="119" y="40"/>
                  </a:lnTo>
                  <a:lnTo>
                    <a:pt x="139" y="40"/>
                  </a:lnTo>
                  <a:lnTo>
                    <a:pt x="178" y="40"/>
                  </a:lnTo>
                  <a:lnTo>
                    <a:pt x="218" y="40"/>
                  </a:lnTo>
                  <a:lnTo>
                    <a:pt x="257" y="40"/>
                  </a:lnTo>
                  <a:lnTo>
                    <a:pt x="297" y="40"/>
                  </a:lnTo>
                  <a:lnTo>
                    <a:pt x="317" y="20"/>
                  </a:lnTo>
                  <a:lnTo>
                    <a:pt x="337" y="20"/>
                  </a:lnTo>
                  <a:lnTo>
                    <a:pt x="376" y="0"/>
                  </a:lnTo>
                  <a:lnTo>
                    <a:pt x="396" y="0"/>
                  </a:lnTo>
                  <a:lnTo>
                    <a:pt x="435" y="0"/>
                  </a:lnTo>
                  <a:lnTo>
                    <a:pt x="455" y="20"/>
                  </a:lnTo>
                  <a:lnTo>
                    <a:pt x="475" y="40"/>
                  </a:lnTo>
                  <a:lnTo>
                    <a:pt x="495" y="40"/>
                  </a:lnTo>
                  <a:lnTo>
                    <a:pt x="515" y="79"/>
                  </a:lnTo>
                  <a:lnTo>
                    <a:pt x="554" y="158"/>
                  </a:lnTo>
                  <a:lnTo>
                    <a:pt x="554" y="237"/>
                  </a:lnTo>
                  <a:lnTo>
                    <a:pt x="554" y="297"/>
                  </a:lnTo>
                  <a:lnTo>
                    <a:pt x="554" y="336"/>
                  </a:lnTo>
                  <a:lnTo>
                    <a:pt x="534" y="415"/>
                  </a:lnTo>
                  <a:lnTo>
                    <a:pt x="515" y="455"/>
                  </a:lnTo>
                  <a:lnTo>
                    <a:pt x="475" y="475"/>
                  </a:lnTo>
                  <a:lnTo>
                    <a:pt x="435" y="475"/>
                  </a:lnTo>
                  <a:lnTo>
                    <a:pt x="396" y="455"/>
                  </a:lnTo>
                  <a:lnTo>
                    <a:pt x="356" y="455"/>
                  </a:lnTo>
                  <a:lnTo>
                    <a:pt x="317" y="435"/>
                  </a:lnTo>
                  <a:lnTo>
                    <a:pt x="277" y="435"/>
                  </a:lnTo>
                  <a:lnTo>
                    <a:pt x="238" y="435"/>
                  </a:lnTo>
                  <a:lnTo>
                    <a:pt x="218" y="455"/>
                  </a:lnTo>
                  <a:lnTo>
                    <a:pt x="198" y="455"/>
                  </a:lnTo>
                  <a:lnTo>
                    <a:pt x="159" y="455"/>
                  </a:lnTo>
                  <a:lnTo>
                    <a:pt x="139" y="475"/>
                  </a:lnTo>
                  <a:lnTo>
                    <a:pt x="119" y="475"/>
                  </a:lnTo>
                  <a:lnTo>
                    <a:pt x="79" y="475"/>
                  </a:lnTo>
                  <a:lnTo>
                    <a:pt x="79" y="455"/>
                  </a:lnTo>
                  <a:lnTo>
                    <a:pt x="60" y="435"/>
                  </a:lnTo>
                  <a:lnTo>
                    <a:pt x="40" y="435"/>
                  </a:lnTo>
                  <a:lnTo>
                    <a:pt x="40" y="415"/>
                  </a:lnTo>
                  <a:lnTo>
                    <a:pt x="20" y="376"/>
                  </a:lnTo>
                  <a:lnTo>
                    <a:pt x="20" y="317"/>
                  </a:lnTo>
                  <a:lnTo>
                    <a:pt x="0" y="277"/>
                  </a:lnTo>
                  <a:lnTo>
                    <a:pt x="0" y="237"/>
                  </a:lnTo>
                  <a:lnTo>
                    <a:pt x="0" y="198"/>
                  </a:lnTo>
                  <a:lnTo>
                    <a:pt x="20" y="139"/>
                  </a:lnTo>
                  <a:lnTo>
                    <a:pt x="20" y="119"/>
                  </a:lnTo>
                  <a:lnTo>
                    <a:pt x="20" y="119"/>
                  </a:lnTo>
                  <a:close/>
                </a:path>
              </a:pathLst>
            </a:custGeom>
            <a:solidFill>
              <a:srgbClr val="FFDC99"/>
            </a:solidFill>
            <a:ln w="46038">
              <a:solidFill>
                <a:srgbClr val="FFDC99"/>
              </a:solidFill>
              <a:prstDash val="solid"/>
              <a:round/>
              <a:headEnd/>
              <a:tailEnd/>
            </a:ln>
          </p:spPr>
          <p:txBody>
            <a:bodyPr/>
            <a:lstStyle/>
            <a:p>
              <a:endParaRPr lang="en-IN"/>
            </a:p>
          </p:txBody>
        </p:sp>
        <p:sp>
          <p:nvSpPr>
            <p:cNvPr id="13347" name="Freeform 35">
              <a:extLst>
                <a:ext uri="{FF2B5EF4-FFF2-40B4-BE49-F238E27FC236}">
                  <a16:creationId xmlns:a16="http://schemas.microsoft.com/office/drawing/2014/main" id="{33EE9577-D25F-4009-942B-F2C4D710C47C}"/>
                </a:ext>
              </a:extLst>
            </p:cNvPr>
            <p:cNvSpPr>
              <a:spLocks/>
            </p:cNvSpPr>
            <p:nvPr/>
          </p:nvSpPr>
          <p:spPr bwMode="auto">
            <a:xfrm>
              <a:off x="4495" y="2084"/>
              <a:ext cx="553" cy="475"/>
            </a:xfrm>
            <a:custGeom>
              <a:avLst/>
              <a:gdLst>
                <a:gd name="T0" fmla="*/ 0 w 553"/>
                <a:gd name="T1" fmla="*/ 99 h 475"/>
                <a:gd name="T2" fmla="*/ 19 w 553"/>
                <a:gd name="T3" fmla="*/ 79 h 475"/>
                <a:gd name="T4" fmla="*/ 39 w 553"/>
                <a:gd name="T5" fmla="*/ 40 h 475"/>
                <a:gd name="T6" fmla="*/ 79 w 553"/>
                <a:gd name="T7" fmla="*/ 20 h 475"/>
                <a:gd name="T8" fmla="*/ 99 w 553"/>
                <a:gd name="T9" fmla="*/ 40 h 475"/>
                <a:gd name="T10" fmla="*/ 118 w 553"/>
                <a:gd name="T11" fmla="*/ 20 h 475"/>
                <a:gd name="T12" fmla="*/ 158 w 553"/>
                <a:gd name="T13" fmla="*/ 20 h 475"/>
                <a:gd name="T14" fmla="*/ 197 w 553"/>
                <a:gd name="T15" fmla="*/ 40 h 475"/>
                <a:gd name="T16" fmla="*/ 237 w 553"/>
                <a:gd name="T17" fmla="*/ 40 h 475"/>
                <a:gd name="T18" fmla="*/ 277 w 553"/>
                <a:gd name="T19" fmla="*/ 40 h 475"/>
                <a:gd name="T20" fmla="*/ 296 w 553"/>
                <a:gd name="T21" fmla="*/ 20 h 475"/>
                <a:gd name="T22" fmla="*/ 316 w 553"/>
                <a:gd name="T23" fmla="*/ 0 h 475"/>
                <a:gd name="T24" fmla="*/ 356 w 553"/>
                <a:gd name="T25" fmla="*/ 0 h 475"/>
                <a:gd name="T26" fmla="*/ 395 w 553"/>
                <a:gd name="T27" fmla="*/ 0 h 475"/>
                <a:gd name="T28" fmla="*/ 415 w 553"/>
                <a:gd name="T29" fmla="*/ 0 h 475"/>
                <a:gd name="T30" fmla="*/ 435 w 553"/>
                <a:gd name="T31" fmla="*/ 20 h 475"/>
                <a:gd name="T32" fmla="*/ 455 w 553"/>
                <a:gd name="T33" fmla="*/ 20 h 475"/>
                <a:gd name="T34" fmla="*/ 474 w 553"/>
                <a:gd name="T35" fmla="*/ 40 h 475"/>
                <a:gd name="T36" fmla="*/ 514 w 553"/>
                <a:gd name="T37" fmla="*/ 79 h 475"/>
                <a:gd name="T38" fmla="*/ 534 w 553"/>
                <a:gd name="T39" fmla="*/ 139 h 475"/>
                <a:gd name="T40" fmla="*/ 534 w 553"/>
                <a:gd name="T41" fmla="*/ 237 h 475"/>
                <a:gd name="T42" fmla="*/ 553 w 553"/>
                <a:gd name="T43" fmla="*/ 277 h 475"/>
                <a:gd name="T44" fmla="*/ 534 w 553"/>
                <a:gd name="T45" fmla="*/ 336 h 475"/>
                <a:gd name="T46" fmla="*/ 534 w 553"/>
                <a:gd name="T47" fmla="*/ 415 h 475"/>
                <a:gd name="T48" fmla="*/ 494 w 553"/>
                <a:gd name="T49" fmla="*/ 455 h 475"/>
                <a:gd name="T50" fmla="*/ 455 w 553"/>
                <a:gd name="T51" fmla="*/ 475 h 475"/>
                <a:gd name="T52" fmla="*/ 415 w 553"/>
                <a:gd name="T53" fmla="*/ 455 h 475"/>
                <a:gd name="T54" fmla="*/ 375 w 553"/>
                <a:gd name="T55" fmla="*/ 455 h 475"/>
                <a:gd name="T56" fmla="*/ 336 w 553"/>
                <a:gd name="T57" fmla="*/ 455 h 475"/>
                <a:gd name="T58" fmla="*/ 296 w 553"/>
                <a:gd name="T59" fmla="*/ 435 h 475"/>
                <a:gd name="T60" fmla="*/ 277 w 553"/>
                <a:gd name="T61" fmla="*/ 435 h 475"/>
                <a:gd name="T62" fmla="*/ 237 w 553"/>
                <a:gd name="T63" fmla="*/ 435 h 475"/>
                <a:gd name="T64" fmla="*/ 197 w 553"/>
                <a:gd name="T65" fmla="*/ 435 h 475"/>
                <a:gd name="T66" fmla="*/ 178 w 553"/>
                <a:gd name="T67" fmla="*/ 455 h 475"/>
                <a:gd name="T68" fmla="*/ 158 w 553"/>
                <a:gd name="T69" fmla="*/ 455 h 475"/>
                <a:gd name="T70" fmla="*/ 118 w 553"/>
                <a:gd name="T71" fmla="*/ 455 h 475"/>
                <a:gd name="T72" fmla="*/ 99 w 553"/>
                <a:gd name="T73" fmla="*/ 455 h 475"/>
                <a:gd name="T74" fmla="*/ 79 w 553"/>
                <a:gd name="T75" fmla="*/ 455 h 475"/>
                <a:gd name="T76" fmla="*/ 59 w 553"/>
                <a:gd name="T77" fmla="*/ 455 h 475"/>
                <a:gd name="T78" fmla="*/ 39 w 553"/>
                <a:gd name="T79" fmla="*/ 435 h 475"/>
                <a:gd name="T80" fmla="*/ 39 w 553"/>
                <a:gd name="T81" fmla="*/ 435 h 475"/>
                <a:gd name="T82" fmla="*/ 19 w 553"/>
                <a:gd name="T83" fmla="*/ 415 h 475"/>
                <a:gd name="T84" fmla="*/ 19 w 553"/>
                <a:gd name="T85" fmla="*/ 376 h 475"/>
                <a:gd name="T86" fmla="*/ 0 w 553"/>
                <a:gd name="T87" fmla="*/ 317 h 475"/>
                <a:gd name="T88" fmla="*/ 0 w 553"/>
                <a:gd name="T89" fmla="*/ 277 h 475"/>
                <a:gd name="T90" fmla="*/ 0 w 553"/>
                <a:gd name="T91" fmla="*/ 237 h 475"/>
                <a:gd name="T92" fmla="*/ 0 w 553"/>
                <a:gd name="T93" fmla="*/ 178 h 475"/>
                <a:gd name="T94" fmla="*/ 0 w 553"/>
                <a:gd name="T95" fmla="*/ 139 h 475"/>
                <a:gd name="T96" fmla="*/ 0 w 553"/>
                <a:gd name="T97" fmla="*/ 99 h 475"/>
                <a:gd name="T98" fmla="*/ 0 w 553"/>
                <a:gd name="T99" fmla="*/ 99 h 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53" h="475">
                  <a:moveTo>
                    <a:pt x="0" y="99"/>
                  </a:moveTo>
                  <a:lnTo>
                    <a:pt x="19" y="79"/>
                  </a:lnTo>
                  <a:lnTo>
                    <a:pt x="39" y="40"/>
                  </a:lnTo>
                  <a:lnTo>
                    <a:pt x="79" y="20"/>
                  </a:lnTo>
                  <a:lnTo>
                    <a:pt x="99" y="40"/>
                  </a:lnTo>
                  <a:lnTo>
                    <a:pt x="118" y="20"/>
                  </a:lnTo>
                  <a:lnTo>
                    <a:pt x="158" y="20"/>
                  </a:lnTo>
                  <a:lnTo>
                    <a:pt x="197" y="40"/>
                  </a:lnTo>
                  <a:lnTo>
                    <a:pt x="237" y="40"/>
                  </a:lnTo>
                  <a:lnTo>
                    <a:pt x="277" y="40"/>
                  </a:lnTo>
                  <a:lnTo>
                    <a:pt x="296" y="20"/>
                  </a:lnTo>
                  <a:lnTo>
                    <a:pt x="316" y="0"/>
                  </a:lnTo>
                  <a:lnTo>
                    <a:pt x="356" y="0"/>
                  </a:lnTo>
                  <a:lnTo>
                    <a:pt x="395" y="0"/>
                  </a:lnTo>
                  <a:lnTo>
                    <a:pt x="415" y="0"/>
                  </a:lnTo>
                  <a:lnTo>
                    <a:pt x="435" y="20"/>
                  </a:lnTo>
                  <a:lnTo>
                    <a:pt x="455" y="20"/>
                  </a:lnTo>
                  <a:lnTo>
                    <a:pt x="474" y="40"/>
                  </a:lnTo>
                  <a:lnTo>
                    <a:pt x="514" y="79"/>
                  </a:lnTo>
                  <a:lnTo>
                    <a:pt x="534" y="139"/>
                  </a:lnTo>
                  <a:lnTo>
                    <a:pt x="534" y="237"/>
                  </a:lnTo>
                  <a:lnTo>
                    <a:pt x="553" y="277"/>
                  </a:lnTo>
                  <a:lnTo>
                    <a:pt x="534" y="336"/>
                  </a:lnTo>
                  <a:lnTo>
                    <a:pt x="534" y="415"/>
                  </a:lnTo>
                  <a:lnTo>
                    <a:pt x="494" y="455"/>
                  </a:lnTo>
                  <a:lnTo>
                    <a:pt x="455" y="475"/>
                  </a:lnTo>
                  <a:lnTo>
                    <a:pt x="415" y="455"/>
                  </a:lnTo>
                  <a:lnTo>
                    <a:pt x="375" y="455"/>
                  </a:lnTo>
                  <a:lnTo>
                    <a:pt x="336" y="455"/>
                  </a:lnTo>
                  <a:lnTo>
                    <a:pt x="296" y="435"/>
                  </a:lnTo>
                  <a:lnTo>
                    <a:pt x="277" y="435"/>
                  </a:lnTo>
                  <a:lnTo>
                    <a:pt x="237" y="435"/>
                  </a:lnTo>
                  <a:lnTo>
                    <a:pt x="197" y="435"/>
                  </a:lnTo>
                  <a:lnTo>
                    <a:pt x="178" y="455"/>
                  </a:lnTo>
                  <a:lnTo>
                    <a:pt x="158" y="455"/>
                  </a:lnTo>
                  <a:lnTo>
                    <a:pt x="118" y="455"/>
                  </a:lnTo>
                  <a:lnTo>
                    <a:pt x="99" y="455"/>
                  </a:lnTo>
                  <a:lnTo>
                    <a:pt x="79" y="455"/>
                  </a:lnTo>
                  <a:lnTo>
                    <a:pt x="59" y="455"/>
                  </a:lnTo>
                  <a:lnTo>
                    <a:pt x="39" y="435"/>
                  </a:lnTo>
                  <a:lnTo>
                    <a:pt x="39" y="435"/>
                  </a:lnTo>
                  <a:lnTo>
                    <a:pt x="19" y="415"/>
                  </a:lnTo>
                  <a:lnTo>
                    <a:pt x="19" y="376"/>
                  </a:lnTo>
                  <a:lnTo>
                    <a:pt x="0" y="317"/>
                  </a:lnTo>
                  <a:lnTo>
                    <a:pt x="0" y="277"/>
                  </a:lnTo>
                  <a:lnTo>
                    <a:pt x="0" y="237"/>
                  </a:lnTo>
                  <a:lnTo>
                    <a:pt x="0" y="178"/>
                  </a:lnTo>
                  <a:lnTo>
                    <a:pt x="0" y="139"/>
                  </a:lnTo>
                  <a:lnTo>
                    <a:pt x="0" y="99"/>
                  </a:lnTo>
                  <a:lnTo>
                    <a:pt x="0" y="99"/>
                  </a:lnTo>
                  <a:close/>
                </a:path>
              </a:pathLst>
            </a:custGeom>
            <a:solidFill>
              <a:srgbClr val="FFDC99"/>
            </a:solidFill>
            <a:ln w="46038">
              <a:solidFill>
                <a:srgbClr val="FFDC99"/>
              </a:solidFill>
              <a:prstDash val="solid"/>
              <a:round/>
              <a:headEnd/>
              <a:tailEnd/>
            </a:ln>
          </p:spPr>
          <p:txBody>
            <a:bodyPr/>
            <a:lstStyle/>
            <a:p>
              <a:endParaRPr lang="en-IN"/>
            </a:p>
          </p:txBody>
        </p:sp>
        <p:sp>
          <p:nvSpPr>
            <p:cNvPr id="13348" name="Freeform 36">
              <a:extLst>
                <a:ext uri="{FF2B5EF4-FFF2-40B4-BE49-F238E27FC236}">
                  <a16:creationId xmlns:a16="http://schemas.microsoft.com/office/drawing/2014/main" id="{C5846E27-13FD-4507-8015-14C5254F33A4}"/>
                </a:ext>
              </a:extLst>
            </p:cNvPr>
            <p:cNvSpPr>
              <a:spLocks/>
            </p:cNvSpPr>
            <p:nvPr/>
          </p:nvSpPr>
          <p:spPr bwMode="auto">
            <a:xfrm>
              <a:off x="3031" y="3191"/>
              <a:ext cx="554" cy="495"/>
            </a:xfrm>
            <a:custGeom>
              <a:avLst/>
              <a:gdLst>
                <a:gd name="T0" fmla="*/ 20 w 554"/>
                <a:gd name="T1" fmla="*/ 119 h 495"/>
                <a:gd name="T2" fmla="*/ 40 w 554"/>
                <a:gd name="T3" fmla="*/ 99 h 495"/>
                <a:gd name="T4" fmla="*/ 59 w 554"/>
                <a:gd name="T5" fmla="*/ 60 h 495"/>
                <a:gd name="T6" fmla="*/ 99 w 554"/>
                <a:gd name="T7" fmla="*/ 40 h 495"/>
                <a:gd name="T8" fmla="*/ 119 w 554"/>
                <a:gd name="T9" fmla="*/ 40 h 495"/>
                <a:gd name="T10" fmla="*/ 139 w 554"/>
                <a:gd name="T11" fmla="*/ 40 h 495"/>
                <a:gd name="T12" fmla="*/ 178 w 554"/>
                <a:gd name="T13" fmla="*/ 40 h 495"/>
                <a:gd name="T14" fmla="*/ 218 w 554"/>
                <a:gd name="T15" fmla="*/ 40 h 495"/>
                <a:gd name="T16" fmla="*/ 257 w 554"/>
                <a:gd name="T17" fmla="*/ 60 h 495"/>
                <a:gd name="T18" fmla="*/ 297 w 554"/>
                <a:gd name="T19" fmla="*/ 60 h 495"/>
                <a:gd name="T20" fmla="*/ 317 w 554"/>
                <a:gd name="T21" fmla="*/ 40 h 495"/>
                <a:gd name="T22" fmla="*/ 336 w 554"/>
                <a:gd name="T23" fmla="*/ 20 h 495"/>
                <a:gd name="T24" fmla="*/ 376 w 554"/>
                <a:gd name="T25" fmla="*/ 0 h 495"/>
                <a:gd name="T26" fmla="*/ 396 w 554"/>
                <a:gd name="T27" fmla="*/ 0 h 495"/>
                <a:gd name="T28" fmla="*/ 435 w 554"/>
                <a:gd name="T29" fmla="*/ 20 h 495"/>
                <a:gd name="T30" fmla="*/ 455 w 554"/>
                <a:gd name="T31" fmla="*/ 20 h 495"/>
                <a:gd name="T32" fmla="*/ 475 w 554"/>
                <a:gd name="T33" fmla="*/ 40 h 495"/>
                <a:gd name="T34" fmla="*/ 495 w 554"/>
                <a:gd name="T35" fmla="*/ 60 h 495"/>
                <a:gd name="T36" fmla="*/ 514 w 554"/>
                <a:gd name="T37" fmla="*/ 99 h 495"/>
                <a:gd name="T38" fmla="*/ 554 w 554"/>
                <a:gd name="T39" fmla="*/ 159 h 495"/>
                <a:gd name="T40" fmla="*/ 554 w 554"/>
                <a:gd name="T41" fmla="*/ 238 h 495"/>
                <a:gd name="T42" fmla="*/ 554 w 554"/>
                <a:gd name="T43" fmla="*/ 297 h 495"/>
                <a:gd name="T44" fmla="*/ 554 w 554"/>
                <a:gd name="T45" fmla="*/ 356 h 495"/>
                <a:gd name="T46" fmla="*/ 534 w 554"/>
                <a:gd name="T47" fmla="*/ 435 h 495"/>
                <a:gd name="T48" fmla="*/ 514 w 554"/>
                <a:gd name="T49" fmla="*/ 475 h 495"/>
                <a:gd name="T50" fmla="*/ 475 w 554"/>
                <a:gd name="T51" fmla="*/ 495 h 495"/>
                <a:gd name="T52" fmla="*/ 435 w 554"/>
                <a:gd name="T53" fmla="*/ 475 h 495"/>
                <a:gd name="T54" fmla="*/ 396 w 554"/>
                <a:gd name="T55" fmla="*/ 475 h 495"/>
                <a:gd name="T56" fmla="*/ 356 w 554"/>
                <a:gd name="T57" fmla="*/ 455 h 495"/>
                <a:gd name="T58" fmla="*/ 317 w 554"/>
                <a:gd name="T59" fmla="*/ 455 h 495"/>
                <a:gd name="T60" fmla="*/ 277 w 554"/>
                <a:gd name="T61" fmla="*/ 455 h 495"/>
                <a:gd name="T62" fmla="*/ 237 w 554"/>
                <a:gd name="T63" fmla="*/ 455 h 495"/>
                <a:gd name="T64" fmla="*/ 218 w 554"/>
                <a:gd name="T65" fmla="*/ 455 h 495"/>
                <a:gd name="T66" fmla="*/ 198 w 554"/>
                <a:gd name="T67" fmla="*/ 455 h 495"/>
                <a:gd name="T68" fmla="*/ 158 w 554"/>
                <a:gd name="T69" fmla="*/ 475 h 495"/>
                <a:gd name="T70" fmla="*/ 139 w 554"/>
                <a:gd name="T71" fmla="*/ 475 h 495"/>
                <a:gd name="T72" fmla="*/ 119 w 554"/>
                <a:gd name="T73" fmla="*/ 475 h 495"/>
                <a:gd name="T74" fmla="*/ 79 w 554"/>
                <a:gd name="T75" fmla="*/ 475 h 495"/>
                <a:gd name="T76" fmla="*/ 79 w 554"/>
                <a:gd name="T77" fmla="*/ 455 h 495"/>
                <a:gd name="T78" fmla="*/ 59 w 554"/>
                <a:gd name="T79" fmla="*/ 455 h 495"/>
                <a:gd name="T80" fmla="*/ 40 w 554"/>
                <a:gd name="T81" fmla="*/ 435 h 495"/>
                <a:gd name="T82" fmla="*/ 40 w 554"/>
                <a:gd name="T83" fmla="*/ 416 h 495"/>
                <a:gd name="T84" fmla="*/ 20 w 554"/>
                <a:gd name="T85" fmla="*/ 376 h 495"/>
                <a:gd name="T86" fmla="*/ 20 w 554"/>
                <a:gd name="T87" fmla="*/ 337 h 495"/>
                <a:gd name="T88" fmla="*/ 0 w 554"/>
                <a:gd name="T89" fmla="*/ 277 h 495"/>
                <a:gd name="T90" fmla="*/ 0 w 554"/>
                <a:gd name="T91" fmla="*/ 238 h 495"/>
                <a:gd name="T92" fmla="*/ 0 w 554"/>
                <a:gd name="T93" fmla="*/ 198 h 495"/>
                <a:gd name="T94" fmla="*/ 20 w 554"/>
                <a:gd name="T95" fmla="*/ 139 h 495"/>
                <a:gd name="T96" fmla="*/ 20 w 554"/>
                <a:gd name="T97" fmla="*/ 119 h 495"/>
                <a:gd name="T98" fmla="*/ 20 w 554"/>
                <a:gd name="T99" fmla="*/ 119 h 4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54" h="495">
                  <a:moveTo>
                    <a:pt x="20" y="119"/>
                  </a:moveTo>
                  <a:lnTo>
                    <a:pt x="40" y="99"/>
                  </a:lnTo>
                  <a:lnTo>
                    <a:pt x="59" y="60"/>
                  </a:lnTo>
                  <a:lnTo>
                    <a:pt x="99" y="40"/>
                  </a:lnTo>
                  <a:lnTo>
                    <a:pt x="119" y="40"/>
                  </a:lnTo>
                  <a:lnTo>
                    <a:pt x="139" y="40"/>
                  </a:lnTo>
                  <a:lnTo>
                    <a:pt x="178" y="40"/>
                  </a:lnTo>
                  <a:lnTo>
                    <a:pt x="218" y="40"/>
                  </a:lnTo>
                  <a:lnTo>
                    <a:pt x="257" y="60"/>
                  </a:lnTo>
                  <a:lnTo>
                    <a:pt x="297" y="60"/>
                  </a:lnTo>
                  <a:lnTo>
                    <a:pt x="317" y="40"/>
                  </a:lnTo>
                  <a:lnTo>
                    <a:pt x="336" y="20"/>
                  </a:lnTo>
                  <a:lnTo>
                    <a:pt x="376" y="0"/>
                  </a:lnTo>
                  <a:lnTo>
                    <a:pt x="396" y="0"/>
                  </a:lnTo>
                  <a:lnTo>
                    <a:pt x="435" y="20"/>
                  </a:lnTo>
                  <a:lnTo>
                    <a:pt x="455" y="20"/>
                  </a:lnTo>
                  <a:lnTo>
                    <a:pt x="475" y="40"/>
                  </a:lnTo>
                  <a:lnTo>
                    <a:pt x="495" y="60"/>
                  </a:lnTo>
                  <a:lnTo>
                    <a:pt x="514" y="99"/>
                  </a:lnTo>
                  <a:lnTo>
                    <a:pt x="554" y="159"/>
                  </a:lnTo>
                  <a:lnTo>
                    <a:pt x="554" y="238"/>
                  </a:lnTo>
                  <a:lnTo>
                    <a:pt x="554" y="297"/>
                  </a:lnTo>
                  <a:lnTo>
                    <a:pt x="554" y="356"/>
                  </a:lnTo>
                  <a:lnTo>
                    <a:pt x="534" y="435"/>
                  </a:lnTo>
                  <a:lnTo>
                    <a:pt x="514" y="475"/>
                  </a:lnTo>
                  <a:lnTo>
                    <a:pt x="475" y="495"/>
                  </a:lnTo>
                  <a:lnTo>
                    <a:pt x="435" y="475"/>
                  </a:lnTo>
                  <a:lnTo>
                    <a:pt x="396" y="475"/>
                  </a:lnTo>
                  <a:lnTo>
                    <a:pt x="356" y="455"/>
                  </a:lnTo>
                  <a:lnTo>
                    <a:pt x="317" y="455"/>
                  </a:lnTo>
                  <a:lnTo>
                    <a:pt x="277" y="455"/>
                  </a:lnTo>
                  <a:lnTo>
                    <a:pt x="237" y="455"/>
                  </a:lnTo>
                  <a:lnTo>
                    <a:pt x="218" y="455"/>
                  </a:lnTo>
                  <a:lnTo>
                    <a:pt x="198" y="455"/>
                  </a:lnTo>
                  <a:lnTo>
                    <a:pt x="158" y="475"/>
                  </a:lnTo>
                  <a:lnTo>
                    <a:pt x="139" y="475"/>
                  </a:lnTo>
                  <a:lnTo>
                    <a:pt x="119" y="475"/>
                  </a:lnTo>
                  <a:lnTo>
                    <a:pt x="79" y="475"/>
                  </a:lnTo>
                  <a:lnTo>
                    <a:pt x="79" y="455"/>
                  </a:lnTo>
                  <a:lnTo>
                    <a:pt x="59" y="455"/>
                  </a:lnTo>
                  <a:lnTo>
                    <a:pt x="40" y="435"/>
                  </a:lnTo>
                  <a:lnTo>
                    <a:pt x="40" y="416"/>
                  </a:lnTo>
                  <a:lnTo>
                    <a:pt x="20" y="376"/>
                  </a:lnTo>
                  <a:lnTo>
                    <a:pt x="20" y="337"/>
                  </a:lnTo>
                  <a:lnTo>
                    <a:pt x="0" y="277"/>
                  </a:lnTo>
                  <a:lnTo>
                    <a:pt x="0" y="238"/>
                  </a:lnTo>
                  <a:lnTo>
                    <a:pt x="0" y="198"/>
                  </a:lnTo>
                  <a:lnTo>
                    <a:pt x="20" y="139"/>
                  </a:lnTo>
                  <a:lnTo>
                    <a:pt x="20" y="119"/>
                  </a:lnTo>
                  <a:lnTo>
                    <a:pt x="20" y="119"/>
                  </a:lnTo>
                  <a:close/>
                </a:path>
              </a:pathLst>
            </a:custGeom>
            <a:solidFill>
              <a:srgbClr val="FFDC99"/>
            </a:solidFill>
            <a:ln w="46038">
              <a:solidFill>
                <a:srgbClr val="FFDC99"/>
              </a:solidFill>
              <a:prstDash val="solid"/>
              <a:round/>
              <a:headEnd/>
              <a:tailEnd/>
            </a:ln>
          </p:spPr>
          <p:txBody>
            <a:bodyPr/>
            <a:lstStyle/>
            <a:p>
              <a:endParaRPr lang="en-IN"/>
            </a:p>
          </p:txBody>
        </p:sp>
        <p:sp>
          <p:nvSpPr>
            <p:cNvPr id="13349" name="Rectangle 37">
              <a:extLst>
                <a:ext uri="{FF2B5EF4-FFF2-40B4-BE49-F238E27FC236}">
                  <a16:creationId xmlns:a16="http://schemas.microsoft.com/office/drawing/2014/main" id="{B9C554FD-8ACD-48A4-AEB4-889ABE934F07}"/>
                </a:ext>
              </a:extLst>
            </p:cNvPr>
            <p:cNvSpPr>
              <a:spLocks noChangeArrowheads="1"/>
            </p:cNvSpPr>
            <p:nvPr/>
          </p:nvSpPr>
          <p:spPr bwMode="auto">
            <a:xfrm>
              <a:off x="3387" y="1076"/>
              <a:ext cx="356" cy="356"/>
            </a:xfrm>
            <a:prstGeom prst="rect">
              <a:avLst/>
            </a:prstGeom>
            <a:solidFill>
              <a:srgbClr val="FFDC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13350" name="Rectangle 38">
              <a:extLst>
                <a:ext uri="{FF2B5EF4-FFF2-40B4-BE49-F238E27FC236}">
                  <a16:creationId xmlns:a16="http://schemas.microsoft.com/office/drawing/2014/main" id="{9824FB32-4058-4359-B6DD-B37DE485CC7B}"/>
                </a:ext>
              </a:extLst>
            </p:cNvPr>
            <p:cNvSpPr>
              <a:spLocks noChangeArrowheads="1"/>
            </p:cNvSpPr>
            <p:nvPr/>
          </p:nvSpPr>
          <p:spPr bwMode="auto">
            <a:xfrm>
              <a:off x="3387" y="1076"/>
              <a:ext cx="376" cy="375"/>
            </a:xfrm>
            <a:prstGeom prst="rect">
              <a:avLst/>
            </a:prstGeom>
            <a:noFill/>
            <a:ln w="46038">
              <a:solidFill>
                <a:srgbClr val="FFDC99"/>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3351" name="Rectangle 39">
              <a:extLst>
                <a:ext uri="{FF2B5EF4-FFF2-40B4-BE49-F238E27FC236}">
                  <a16:creationId xmlns:a16="http://schemas.microsoft.com/office/drawing/2014/main" id="{2055D90F-F146-4AB4-9555-BC4B94085667}"/>
                </a:ext>
              </a:extLst>
            </p:cNvPr>
            <p:cNvSpPr>
              <a:spLocks noChangeArrowheads="1"/>
            </p:cNvSpPr>
            <p:nvPr/>
          </p:nvSpPr>
          <p:spPr bwMode="auto">
            <a:xfrm>
              <a:off x="3547" y="1730"/>
              <a:ext cx="108"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2000">
                  <a:solidFill>
                    <a:srgbClr val="000000"/>
                  </a:solidFill>
                  <a:latin typeface="Arial" panose="020B0604020202020204" pitchFamily="34" charset="0"/>
                </a:rPr>
                <a:t>B</a:t>
              </a:r>
              <a:endParaRPr lang="en-GB" altLang="en-US"/>
            </a:p>
          </p:txBody>
        </p:sp>
        <p:sp>
          <p:nvSpPr>
            <p:cNvPr id="13352" name="Rectangle 40">
              <a:extLst>
                <a:ext uri="{FF2B5EF4-FFF2-40B4-BE49-F238E27FC236}">
                  <a16:creationId xmlns:a16="http://schemas.microsoft.com/office/drawing/2014/main" id="{62BFD2E8-68B8-4087-9268-E5DDF9255C65}"/>
                </a:ext>
              </a:extLst>
            </p:cNvPr>
            <p:cNvSpPr>
              <a:spLocks noChangeArrowheads="1"/>
            </p:cNvSpPr>
            <p:nvPr/>
          </p:nvSpPr>
          <p:spPr bwMode="auto">
            <a:xfrm>
              <a:off x="4035" y="2263"/>
              <a:ext cx="1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2000">
                  <a:solidFill>
                    <a:srgbClr val="000000"/>
                  </a:solidFill>
                  <a:latin typeface="Arial" panose="020B0604020202020204" pitchFamily="34" charset="0"/>
                </a:rPr>
                <a:t>C</a:t>
              </a:r>
              <a:endParaRPr lang="en-GB" altLang="en-US"/>
            </a:p>
          </p:txBody>
        </p:sp>
        <p:sp>
          <p:nvSpPr>
            <p:cNvPr id="13353" name="Oval 41">
              <a:extLst>
                <a:ext uri="{FF2B5EF4-FFF2-40B4-BE49-F238E27FC236}">
                  <a16:creationId xmlns:a16="http://schemas.microsoft.com/office/drawing/2014/main" id="{09D839F1-8F5F-409D-B51C-9852E66AC060}"/>
                </a:ext>
              </a:extLst>
            </p:cNvPr>
            <p:cNvSpPr>
              <a:spLocks noChangeArrowheads="1"/>
            </p:cNvSpPr>
            <p:nvPr/>
          </p:nvSpPr>
          <p:spPr bwMode="auto">
            <a:xfrm>
              <a:off x="2596" y="1708"/>
              <a:ext cx="218" cy="218"/>
            </a:xfrm>
            <a:prstGeom prst="ellipse">
              <a:avLst/>
            </a:prstGeom>
            <a:solidFill>
              <a:srgbClr val="FFFFFF"/>
            </a:solidFill>
            <a:ln w="46038">
              <a:solidFill>
                <a:srgbClr val="000000"/>
              </a:solidFill>
              <a:round/>
              <a:headEnd/>
              <a:tailEnd/>
            </a:ln>
          </p:spPr>
          <p:txBody>
            <a:bodyPr/>
            <a:lstStyle/>
            <a:p>
              <a:endParaRPr lang="en-IN"/>
            </a:p>
          </p:txBody>
        </p:sp>
        <p:sp>
          <p:nvSpPr>
            <p:cNvPr id="13354" name="Rectangle 42">
              <a:extLst>
                <a:ext uri="{FF2B5EF4-FFF2-40B4-BE49-F238E27FC236}">
                  <a16:creationId xmlns:a16="http://schemas.microsoft.com/office/drawing/2014/main" id="{952FF613-A427-4692-BD22-10F311BE909B}"/>
                </a:ext>
              </a:extLst>
            </p:cNvPr>
            <p:cNvSpPr>
              <a:spLocks noChangeArrowheads="1"/>
            </p:cNvSpPr>
            <p:nvPr/>
          </p:nvSpPr>
          <p:spPr bwMode="auto">
            <a:xfrm>
              <a:off x="2658" y="1730"/>
              <a:ext cx="9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2000">
                  <a:solidFill>
                    <a:srgbClr val="000000"/>
                  </a:solidFill>
                  <a:latin typeface="Arial" panose="020B0604020202020204" pitchFamily="34" charset="0"/>
                </a:rPr>
                <a:t>1</a:t>
              </a:r>
              <a:endParaRPr lang="en-GB" altLang="en-US"/>
            </a:p>
          </p:txBody>
        </p:sp>
        <p:sp>
          <p:nvSpPr>
            <p:cNvPr id="13355" name="Oval 43">
              <a:extLst>
                <a:ext uri="{FF2B5EF4-FFF2-40B4-BE49-F238E27FC236}">
                  <a16:creationId xmlns:a16="http://schemas.microsoft.com/office/drawing/2014/main" id="{E89FC00C-0134-4D5A-B710-AE83AA6FBB3E}"/>
                </a:ext>
              </a:extLst>
            </p:cNvPr>
            <p:cNvSpPr>
              <a:spLocks noChangeArrowheads="1"/>
            </p:cNvSpPr>
            <p:nvPr/>
          </p:nvSpPr>
          <p:spPr bwMode="auto">
            <a:xfrm>
              <a:off x="3723" y="1966"/>
              <a:ext cx="218" cy="237"/>
            </a:xfrm>
            <a:prstGeom prst="ellipse">
              <a:avLst/>
            </a:prstGeom>
            <a:solidFill>
              <a:srgbClr val="FFFFFF"/>
            </a:solidFill>
            <a:ln w="46038">
              <a:solidFill>
                <a:srgbClr val="000000"/>
              </a:solidFill>
              <a:round/>
              <a:headEnd/>
              <a:tailEnd/>
            </a:ln>
          </p:spPr>
          <p:txBody>
            <a:bodyPr/>
            <a:lstStyle/>
            <a:p>
              <a:endParaRPr lang="en-IN"/>
            </a:p>
          </p:txBody>
        </p:sp>
        <p:sp>
          <p:nvSpPr>
            <p:cNvPr id="13356" name="Rectangle 44">
              <a:extLst>
                <a:ext uri="{FF2B5EF4-FFF2-40B4-BE49-F238E27FC236}">
                  <a16:creationId xmlns:a16="http://schemas.microsoft.com/office/drawing/2014/main" id="{169CDD70-01D8-4885-A8F1-3288C3AA0C2C}"/>
                </a:ext>
              </a:extLst>
            </p:cNvPr>
            <p:cNvSpPr>
              <a:spLocks noChangeArrowheads="1"/>
            </p:cNvSpPr>
            <p:nvPr/>
          </p:nvSpPr>
          <p:spPr bwMode="auto">
            <a:xfrm>
              <a:off x="3792" y="1987"/>
              <a:ext cx="9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2000">
                  <a:solidFill>
                    <a:srgbClr val="000000"/>
                  </a:solidFill>
                  <a:latin typeface="Arial" panose="020B0604020202020204" pitchFamily="34" charset="0"/>
                </a:rPr>
                <a:t>2</a:t>
              </a:r>
              <a:endParaRPr lang="en-GB" altLang="en-US"/>
            </a:p>
          </p:txBody>
        </p:sp>
        <p:sp>
          <p:nvSpPr>
            <p:cNvPr id="13357" name="Oval 45">
              <a:extLst>
                <a:ext uri="{FF2B5EF4-FFF2-40B4-BE49-F238E27FC236}">
                  <a16:creationId xmlns:a16="http://schemas.microsoft.com/office/drawing/2014/main" id="{9331699C-D6A2-429E-AC47-BE60291EB65E}"/>
                </a:ext>
              </a:extLst>
            </p:cNvPr>
            <p:cNvSpPr>
              <a:spLocks noChangeArrowheads="1"/>
            </p:cNvSpPr>
            <p:nvPr/>
          </p:nvSpPr>
          <p:spPr bwMode="auto">
            <a:xfrm>
              <a:off x="3605" y="2480"/>
              <a:ext cx="217" cy="217"/>
            </a:xfrm>
            <a:prstGeom prst="ellipse">
              <a:avLst/>
            </a:prstGeom>
            <a:solidFill>
              <a:srgbClr val="FFFFFF"/>
            </a:solidFill>
            <a:ln w="46038">
              <a:solidFill>
                <a:srgbClr val="000000"/>
              </a:solidFill>
              <a:round/>
              <a:headEnd/>
              <a:tailEnd/>
            </a:ln>
          </p:spPr>
          <p:txBody>
            <a:bodyPr/>
            <a:lstStyle/>
            <a:p>
              <a:endParaRPr lang="en-IN"/>
            </a:p>
          </p:txBody>
        </p:sp>
        <p:sp>
          <p:nvSpPr>
            <p:cNvPr id="13358" name="Rectangle 46">
              <a:extLst>
                <a:ext uri="{FF2B5EF4-FFF2-40B4-BE49-F238E27FC236}">
                  <a16:creationId xmlns:a16="http://schemas.microsoft.com/office/drawing/2014/main" id="{F258B29B-896B-4BC1-AC7B-50988BCB1127}"/>
                </a:ext>
              </a:extLst>
            </p:cNvPr>
            <p:cNvSpPr>
              <a:spLocks noChangeArrowheads="1"/>
            </p:cNvSpPr>
            <p:nvPr/>
          </p:nvSpPr>
          <p:spPr bwMode="auto">
            <a:xfrm>
              <a:off x="3674" y="2501"/>
              <a:ext cx="9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2000">
                  <a:solidFill>
                    <a:srgbClr val="000000"/>
                  </a:solidFill>
                  <a:latin typeface="Arial" panose="020B0604020202020204" pitchFamily="34" charset="0"/>
                </a:rPr>
                <a:t>5</a:t>
              </a:r>
              <a:endParaRPr lang="en-GB" altLang="en-US"/>
            </a:p>
          </p:txBody>
        </p:sp>
        <p:sp>
          <p:nvSpPr>
            <p:cNvPr id="13359" name="Oval 47">
              <a:extLst>
                <a:ext uri="{FF2B5EF4-FFF2-40B4-BE49-F238E27FC236}">
                  <a16:creationId xmlns:a16="http://schemas.microsoft.com/office/drawing/2014/main" id="{CCAA0240-5F57-4C73-A323-482FC062223E}"/>
                </a:ext>
              </a:extLst>
            </p:cNvPr>
            <p:cNvSpPr>
              <a:spLocks noChangeArrowheads="1"/>
            </p:cNvSpPr>
            <p:nvPr/>
          </p:nvSpPr>
          <p:spPr bwMode="auto">
            <a:xfrm>
              <a:off x="3308" y="2183"/>
              <a:ext cx="237" cy="218"/>
            </a:xfrm>
            <a:prstGeom prst="ellipse">
              <a:avLst/>
            </a:prstGeom>
            <a:solidFill>
              <a:srgbClr val="FFFFFF"/>
            </a:solidFill>
            <a:ln w="46038">
              <a:solidFill>
                <a:srgbClr val="000000"/>
              </a:solidFill>
              <a:round/>
              <a:headEnd/>
              <a:tailEnd/>
            </a:ln>
          </p:spPr>
          <p:txBody>
            <a:bodyPr/>
            <a:lstStyle/>
            <a:p>
              <a:endParaRPr lang="en-IN"/>
            </a:p>
          </p:txBody>
        </p:sp>
        <p:sp>
          <p:nvSpPr>
            <p:cNvPr id="13360" name="Rectangle 48">
              <a:extLst>
                <a:ext uri="{FF2B5EF4-FFF2-40B4-BE49-F238E27FC236}">
                  <a16:creationId xmlns:a16="http://schemas.microsoft.com/office/drawing/2014/main" id="{EB4ACFDF-841C-460C-938C-B0760EF04707}"/>
                </a:ext>
              </a:extLst>
            </p:cNvPr>
            <p:cNvSpPr>
              <a:spLocks noChangeArrowheads="1"/>
            </p:cNvSpPr>
            <p:nvPr/>
          </p:nvSpPr>
          <p:spPr bwMode="auto">
            <a:xfrm>
              <a:off x="3383" y="2204"/>
              <a:ext cx="9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2000">
                  <a:solidFill>
                    <a:srgbClr val="000000"/>
                  </a:solidFill>
                  <a:latin typeface="Arial" panose="020B0604020202020204" pitchFamily="34" charset="0"/>
                </a:rPr>
                <a:t>4</a:t>
              </a:r>
              <a:endParaRPr lang="en-GB" altLang="en-US"/>
            </a:p>
          </p:txBody>
        </p:sp>
        <p:sp>
          <p:nvSpPr>
            <p:cNvPr id="13361" name="Oval 49">
              <a:extLst>
                <a:ext uri="{FF2B5EF4-FFF2-40B4-BE49-F238E27FC236}">
                  <a16:creationId xmlns:a16="http://schemas.microsoft.com/office/drawing/2014/main" id="{8D25600F-5E19-4982-8F98-D07FEEBF9ABF}"/>
                </a:ext>
              </a:extLst>
            </p:cNvPr>
            <p:cNvSpPr>
              <a:spLocks noChangeArrowheads="1"/>
            </p:cNvSpPr>
            <p:nvPr/>
          </p:nvSpPr>
          <p:spPr bwMode="auto">
            <a:xfrm>
              <a:off x="1844" y="2203"/>
              <a:ext cx="218" cy="237"/>
            </a:xfrm>
            <a:prstGeom prst="ellipse">
              <a:avLst/>
            </a:prstGeom>
            <a:solidFill>
              <a:srgbClr val="FFFFFF"/>
            </a:solidFill>
            <a:ln w="46038">
              <a:solidFill>
                <a:srgbClr val="000000"/>
              </a:solidFill>
              <a:round/>
              <a:headEnd/>
              <a:tailEnd/>
            </a:ln>
          </p:spPr>
          <p:txBody>
            <a:bodyPr/>
            <a:lstStyle/>
            <a:p>
              <a:endParaRPr lang="en-IN"/>
            </a:p>
          </p:txBody>
        </p:sp>
        <p:sp>
          <p:nvSpPr>
            <p:cNvPr id="13362" name="Rectangle 50">
              <a:extLst>
                <a:ext uri="{FF2B5EF4-FFF2-40B4-BE49-F238E27FC236}">
                  <a16:creationId xmlns:a16="http://schemas.microsoft.com/office/drawing/2014/main" id="{CA4E6632-BA78-4EF0-AF94-5558A5E3AF39}"/>
                </a:ext>
              </a:extLst>
            </p:cNvPr>
            <p:cNvSpPr>
              <a:spLocks noChangeArrowheads="1"/>
            </p:cNvSpPr>
            <p:nvPr/>
          </p:nvSpPr>
          <p:spPr bwMode="auto">
            <a:xfrm>
              <a:off x="1907" y="2224"/>
              <a:ext cx="9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2000">
                  <a:solidFill>
                    <a:srgbClr val="000000"/>
                  </a:solidFill>
                  <a:latin typeface="Arial" panose="020B0604020202020204" pitchFamily="34" charset="0"/>
                </a:rPr>
                <a:t>3</a:t>
              </a:r>
              <a:endParaRPr lang="en-GB" altLang="en-US"/>
            </a:p>
          </p:txBody>
        </p:sp>
        <p:sp>
          <p:nvSpPr>
            <p:cNvPr id="13363" name="Oval 51">
              <a:extLst>
                <a:ext uri="{FF2B5EF4-FFF2-40B4-BE49-F238E27FC236}">
                  <a16:creationId xmlns:a16="http://schemas.microsoft.com/office/drawing/2014/main" id="{0681C3B1-9296-4027-8726-8B8BC561C274}"/>
                </a:ext>
              </a:extLst>
            </p:cNvPr>
            <p:cNvSpPr>
              <a:spLocks noChangeArrowheads="1"/>
            </p:cNvSpPr>
            <p:nvPr/>
          </p:nvSpPr>
          <p:spPr bwMode="auto">
            <a:xfrm>
              <a:off x="2556" y="2677"/>
              <a:ext cx="238" cy="218"/>
            </a:xfrm>
            <a:prstGeom prst="ellipse">
              <a:avLst/>
            </a:prstGeom>
            <a:solidFill>
              <a:srgbClr val="FFFFFF"/>
            </a:solidFill>
            <a:ln w="46038">
              <a:solidFill>
                <a:srgbClr val="000000"/>
              </a:solidFill>
              <a:round/>
              <a:headEnd/>
              <a:tailEnd/>
            </a:ln>
          </p:spPr>
          <p:txBody>
            <a:bodyPr/>
            <a:lstStyle/>
            <a:p>
              <a:endParaRPr lang="en-IN"/>
            </a:p>
          </p:txBody>
        </p:sp>
        <p:sp>
          <p:nvSpPr>
            <p:cNvPr id="13364" name="Rectangle 52">
              <a:extLst>
                <a:ext uri="{FF2B5EF4-FFF2-40B4-BE49-F238E27FC236}">
                  <a16:creationId xmlns:a16="http://schemas.microsoft.com/office/drawing/2014/main" id="{D708D08E-D26D-4343-ADFB-C35F0BE19208}"/>
                </a:ext>
              </a:extLst>
            </p:cNvPr>
            <p:cNvSpPr>
              <a:spLocks noChangeArrowheads="1"/>
            </p:cNvSpPr>
            <p:nvPr/>
          </p:nvSpPr>
          <p:spPr bwMode="auto">
            <a:xfrm>
              <a:off x="2632" y="2698"/>
              <a:ext cx="9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2000">
                  <a:solidFill>
                    <a:srgbClr val="000000"/>
                  </a:solidFill>
                  <a:latin typeface="Arial" panose="020B0604020202020204" pitchFamily="34" charset="0"/>
                </a:rPr>
                <a:t>6</a:t>
              </a:r>
              <a:endParaRPr lang="en-GB" altLang="en-US"/>
            </a:p>
          </p:txBody>
        </p:sp>
        <p:sp>
          <p:nvSpPr>
            <p:cNvPr id="13365" name="Rectangle 53">
              <a:extLst>
                <a:ext uri="{FF2B5EF4-FFF2-40B4-BE49-F238E27FC236}">
                  <a16:creationId xmlns:a16="http://schemas.microsoft.com/office/drawing/2014/main" id="{E10C2AFE-B0DF-4C02-A1D1-70A306A3F8FE}"/>
                </a:ext>
              </a:extLst>
            </p:cNvPr>
            <p:cNvSpPr>
              <a:spLocks noChangeArrowheads="1"/>
            </p:cNvSpPr>
            <p:nvPr/>
          </p:nvSpPr>
          <p:spPr bwMode="auto">
            <a:xfrm>
              <a:off x="4016" y="2979"/>
              <a:ext cx="5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2000">
                  <a:solidFill>
                    <a:srgbClr val="000000"/>
                  </a:solidFill>
                  <a:latin typeface="Arial" panose="020B0604020202020204" pitchFamily="34" charset="0"/>
                </a:rPr>
                <a:t>Routers</a:t>
              </a:r>
              <a:endParaRPr lang="en-GB" altLang="en-US"/>
            </a:p>
          </p:txBody>
        </p:sp>
        <p:sp>
          <p:nvSpPr>
            <p:cNvPr id="13366" name="Line 54">
              <a:extLst>
                <a:ext uri="{FF2B5EF4-FFF2-40B4-BE49-F238E27FC236}">
                  <a16:creationId xmlns:a16="http://schemas.microsoft.com/office/drawing/2014/main" id="{EE58D0E7-7D06-4518-9496-B8F9C6F7D007}"/>
                </a:ext>
              </a:extLst>
            </p:cNvPr>
            <p:cNvSpPr>
              <a:spLocks noChangeShapeType="1"/>
            </p:cNvSpPr>
            <p:nvPr/>
          </p:nvSpPr>
          <p:spPr bwMode="auto">
            <a:xfrm flipH="1" flipV="1">
              <a:off x="2003" y="2143"/>
              <a:ext cx="277" cy="40"/>
            </a:xfrm>
            <a:prstGeom prst="line">
              <a:avLst/>
            </a:prstGeom>
            <a:noFill/>
            <a:ln w="4603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3367" name="Line 55">
              <a:extLst>
                <a:ext uri="{FF2B5EF4-FFF2-40B4-BE49-F238E27FC236}">
                  <a16:creationId xmlns:a16="http://schemas.microsoft.com/office/drawing/2014/main" id="{A32A5762-9E1A-46E3-AE98-7C49C9FBABA4}"/>
                </a:ext>
              </a:extLst>
            </p:cNvPr>
            <p:cNvSpPr>
              <a:spLocks noChangeShapeType="1"/>
            </p:cNvSpPr>
            <p:nvPr/>
          </p:nvSpPr>
          <p:spPr bwMode="auto">
            <a:xfrm flipV="1">
              <a:off x="2418" y="1867"/>
              <a:ext cx="1" cy="257"/>
            </a:xfrm>
            <a:prstGeom prst="line">
              <a:avLst/>
            </a:prstGeom>
            <a:noFill/>
            <a:ln w="4603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gr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67FE9-DBDB-4EB8-A4DC-EE22C168D416}"/>
              </a:ext>
            </a:extLst>
          </p:cNvPr>
          <p:cNvSpPr>
            <a:spLocks noGrp="1"/>
          </p:cNvSpPr>
          <p:nvPr>
            <p:ph type="title"/>
          </p:nvPr>
        </p:nvSpPr>
        <p:spPr/>
        <p:txBody>
          <a:bodyPr/>
          <a:lstStyle/>
          <a:p>
            <a:r>
              <a:rPr lang="en-US" dirty="0"/>
              <a:t>Networking Principles</a:t>
            </a:r>
            <a:endParaRPr lang="en-IN" dirty="0"/>
          </a:p>
        </p:txBody>
      </p:sp>
      <p:sp>
        <p:nvSpPr>
          <p:cNvPr id="3" name="Content Placeholder 2">
            <a:extLst>
              <a:ext uri="{FF2B5EF4-FFF2-40B4-BE49-F238E27FC236}">
                <a16:creationId xmlns:a16="http://schemas.microsoft.com/office/drawing/2014/main" id="{42D5CD87-DD68-4BEE-BB0A-3E8671224776}"/>
              </a:ext>
            </a:extLst>
          </p:cNvPr>
          <p:cNvSpPr>
            <a:spLocks noGrp="1"/>
          </p:cNvSpPr>
          <p:nvPr>
            <p:ph idx="1"/>
          </p:nvPr>
        </p:nvSpPr>
        <p:spPr/>
        <p:txBody>
          <a:bodyPr>
            <a:normAutofit fontScale="92500" lnSpcReduction="10000"/>
          </a:bodyPr>
          <a:lstStyle/>
          <a:p>
            <a:pPr marL="0" indent="0">
              <a:buNone/>
            </a:pPr>
            <a:r>
              <a:rPr lang="en-US" dirty="0">
                <a:solidFill>
                  <a:srgbClr val="0000FF"/>
                </a:solidFill>
              </a:rPr>
              <a:t>1. Packet Switching</a:t>
            </a:r>
          </a:p>
          <a:p>
            <a:pPr algn="just"/>
            <a:r>
              <a:rPr lang="en-US" dirty="0"/>
              <a:t>The simplest form of packet is a sequence of binary data (an array of bits or bytes) of restricted length, together with addressing information sufficient to identify the source and destination computers.</a:t>
            </a:r>
          </a:p>
          <a:p>
            <a:pPr algn="just"/>
            <a:r>
              <a:rPr lang="en-US" dirty="0">
                <a:solidFill>
                  <a:srgbClr val="0000FF"/>
                </a:solidFill>
              </a:rPr>
              <a:t>Packet switching is a fundamental technique used in distributed computing to facilitate communication between various nodes (such as computers, servers, or devices) over a network.</a:t>
            </a:r>
          </a:p>
          <a:p>
            <a:pPr marL="0" indent="0">
              <a:buNone/>
            </a:pPr>
            <a:r>
              <a:rPr lang="en-US" dirty="0">
                <a:solidFill>
                  <a:srgbClr val="0000FF"/>
                </a:solidFill>
              </a:rPr>
              <a:t>2. Data Streaming</a:t>
            </a:r>
          </a:p>
          <a:p>
            <a:pPr marL="0" indent="0">
              <a:buNone/>
            </a:pPr>
            <a:r>
              <a:rPr lang="en-US" dirty="0"/>
              <a:t>The transmission and display of audio and video in real time is referred to as streaming. It requires much higher bandwidths than most other forms of communication in distributed systems.</a:t>
            </a:r>
          </a:p>
        </p:txBody>
      </p:sp>
    </p:spTree>
    <p:extLst>
      <p:ext uri="{BB962C8B-B14F-4D97-AF65-F5344CB8AC3E}">
        <p14:creationId xmlns:p14="http://schemas.microsoft.com/office/powerpoint/2010/main" val="271947166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6E47C-3579-4B7D-9375-B68685F9854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CACFD30-A69E-4ECE-9A71-56F38B73F0A6}"/>
              </a:ext>
            </a:extLst>
          </p:cNvPr>
          <p:cNvSpPr>
            <a:spLocks noGrp="1"/>
          </p:cNvSpPr>
          <p:nvPr>
            <p:ph idx="1"/>
          </p:nvPr>
        </p:nvSpPr>
        <p:spPr/>
        <p:txBody>
          <a:bodyPr/>
          <a:lstStyle/>
          <a:p>
            <a:pPr marL="0" indent="0">
              <a:buNone/>
            </a:pPr>
            <a:r>
              <a:rPr lang="en-IN" dirty="0">
                <a:solidFill>
                  <a:srgbClr val="FF0000"/>
                </a:solidFill>
              </a:rPr>
              <a:t>3. Switching schemes</a:t>
            </a:r>
          </a:p>
          <a:p>
            <a:pPr marL="0" indent="0">
              <a:buNone/>
            </a:pPr>
            <a:r>
              <a:rPr lang="en-US" dirty="0">
                <a:solidFill>
                  <a:srgbClr val="0000FF"/>
                </a:solidFill>
              </a:rPr>
              <a:t>Broadcasting</a:t>
            </a:r>
            <a:r>
              <a:rPr lang="en-US" dirty="0"/>
              <a:t> is a transmission technique that involves no switching. Everything is transmitted to every node</a:t>
            </a:r>
          </a:p>
          <a:p>
            <a:pPr marL="0" indent="0">
              <a:buNone/>
            </a:pPr>
            <a:r>
              <a:rPr lang="en-US" dirty="0">
                <a:solidFill>
                  <a:srgbClr val="0000FF"/>
                </a:solidFill>
              </a:rPr>
              <a:t>Circuit switching </a:t>
            </a:r>
            <a:r>
              <a:rPr lang="en-US" dirty="0"/>
              <a:t>is a method of communication where a dedicated communication path or circuit is established between two endpoints for the duration of the connection. </a:t>
            </a:r>
          </a:p>
          <a:p>
            <a:pPr marL="0" indent="0" algn="just">
              <a:buNone/>
            </a:pPr>
            <a:r>
              <a:rPr lang="en-US" u="sng" dirty="0">
                <a:solidFill>
                  <a:srgbClr val="FF0000"/>
                </a:solidFill>
              </a:rPr>
              <a:t>Circuit switching is generally not a common approach in distributed computing environments.</a:t>
            </a:r>
            <a:r>
              <a:rPr lang="en-US" dirty="0">
                <a:solidFill>
                  <a:srgbClr val="FF0000"/>
                </a:solidFill>
              </a:rPr>
              <a:t> </a:t>
            </a:r>
            <a:r>
              <a:rPr lang="en-US" dirty="0"/>
              <a:t>Instead, distributed computing typically relies on packet switching</a:t>
            </a:r>
            <a:endParaRPr lang="en-IN" dirty="0"/>
          </a:p>
        </p:txBody>
      </p:sp>
    </p:spTree>
    <p:extLst>
      <p:ext uri="{BB962C8B-B14F-4D97-AF65-F5344CB8AC3E}">
        <p14:creationId xmlns:p14="http://schemas.microsoft.com/office/powerpoint/2010/main" val="4624715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TotalTime>
  <Words>6958</Words>
  <Application>Microsoft Office PowerPoint</Application>
  <PresentationFormat>Widescreen</PresentationFormat>
  <Paragraphs>564</Paragraphs>
  <Slides>107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107</vt:i4>
      </vt:variant>
    </vt:vector>
  </HeadingPairs>
  <TitlesOfParts>
    <vt:vector size="116" baseType="lpstr">
      <vt:lpstr>Arial</vt:lpstr>
      <vt:lpstr>Arial Italic</vt:lpstr>
      <vt:lpstr>Calibri</vt:lpstr>
      <vt:lpstr>Calibri Light</vt:lpstr>
      <vt:lpstr>Courier New</vt:lpstr>
      <vt:lpstr>Segoe UI</vt:lpstr>
      <vt:lpstr>Times</vt:lpstr>
      <vt:lpstr>Times New Roman</vt:lpstr>
      <vt:lpstr>Office Theme</vt:lpstr>
      <vt:lpstr>Distributed Computing </vt:lpstr>
      <vt:lpstr>PowerPoint Presentation</vt:lpstr>
      <vt:lpstr>Examples of distributed systems</vt:lpstr>
      <vt:lpstr>Distributed Systems Vs Network of Computers</vt:lpstr>
      <vt:lpstr>Resource Sharing </vt:lpstr>
      <vt:lpstr>Challenges in Distributed Computing</vt:lpstr>
      <vt:lpstr>Heterogeneity</vt:lpstr>
      <vt:lpstr>Openness</vt:lpstr>
      <vt:lpstr>Concurrency</vt:lpstr>
      <vt:lpstr>Scalability</vt:lpstr>
      <vt:lpstr>Fault Tolerance</vt:lpstr>
      <vt:lpstr>Transparencies</vt:lpstr>
      <vt:lpstr>PowerPoint Presentation</vt:lpstr>
      <vt:lpstr>Access Transparency, Location Transparency</vt:lpstr>
      <vt:lpstr>Access Transparency:</vt:lpstr>
      <vt:lpstr>Location Transparency:</vt:lpstr>
      <vt:lpstr>Migration Transparency:</vt:lpstr>
      <vt:lpstr>Replication Transparency:</vt:lpstr>
      <vt:lpstr>Failure Transparency:</vt:lpstr>
      <vt:lpstr>Concurrency Transparency </vt:lpstr>
      <vt:lpstr>Replication Transparency</vt:lpstr>
      <vt:lpstr>PowerPoint Presentation</vt:lpstr>
      <vt:lpstr>Goals of Distributed Systems</vt:lpstr>
      <vt:lpstr>Challenges in Distributed Systems</vt:lpstr>
      <vt:lpstr>Largest and most complex distributed systems</vt:lpstr>
      <vt:lpstr>Significant consequences in DC</vt:lpstr>
      <vt:lpstr>The key trends in distributed computing</vt:lpstr>
      <vt:lpstr>PowerPoint Presentation</vt:lpstr>
      <vt:lpstr>PowerPoint Presentation</vt:lpstr>
      <vt:lpstr>PowerPoint Presentation</vt:lpstr>
      <vt:lpstr>PowerPoint Presentation</vt:lpstr>
      <vt:lpstr>Distributed Systems Models</vt:lpstr>
      <vt:lpstr>Physical models</vt:lpstr>
      <vt:lpstr>PowerPoint Presentation</vt:lpstr>
      <vt:lpstr>Physical models</vt:lpstr>
      <vt:lpstr>Significant challenges associated with Contemporary Distributed systems </vt:lpstr>
      <vt:lpstr>Architectural Models</vt:lpstr>
      <vt:lpstr>Communicating entities </vt:lpstr>
      <vt:lpstr>Interfaces in Programming Languages</vt:lpstr>
      <vt:lpstr>Ctd. </vt:lpstr>
      <vt:lpstr>Communicating entities and communication paradigms</vt:lpstr>
      <vt:lpstr>Architectural Elements and Communicating Paradigms </vt:lpstr>
      <vt:lpstr>IPC</vt:lpstr>
      <vt:lpstr>Remote Invocation</vt:lpstr>
      <vt:lpstr>Remote method invocation:</vt:lpstr>
      <vt:lpstr>Preferred Distributed Communication </vt:lpstr>
      <vt:lpstr>Key techniques for indirect communication include</vt:lpstr>
      <vt:lpstr>Request-reply protocols</vt:lpstr>
      <vt:lpstr>PowerPoint Presentation</vt:lpstr>
      <vt:lpstr>Architectural Models</vt:lpstr>
      <vt:lpstr> Clients - servers</vt:lpstr>
      <vt:lpstr>Client-server:</vt:lpstr>
      <vt:lpstr>Ctd.. </vt:lpstr>
      <vt:lpstr>Search Engine , It is client or Server</vt:lpstr>
      <vt:lpstr> A service provided by multiple servers</vt:lpstr>
      <vt:lpstr>Web proxy server</vt:lpstr>
      <vt:lpstr>Ctd.. </vt:lpstr>
      <vt:lpstr> Web applets</vt:lpstr>
      <vt:lpstr>Tiered architecture </vt:lpstr>
      <vt:lpstr>Functional decomposition of a given application</vt:lpstr>
      <vt:lpstr> Two-tier Architectures</vt:lpstr>
      <vt:lpstr>Two-tier</vt:lpstr>
      <vt:lpstr>Three –Tier Architecture</vt:lpstr>
      <vt:lpstr>Three-tier</vt:lpstr>
      <vt:lpstr>Thin clients and compute servers</vt:lpstr>
      <vt:lpstr>Service Broker Architecture</vt:lpstr>
      <vt:lpstr>PowerPoint Presentation</vt:lpstr>
      <vt:lpstr>Ctd.. </vt:lpstr>
      <vt:lpstr> Peer-to-peer architecture</vt:lpstr>
      <vt:lpstr> Architectural Pattern-  Software and hardware service layers in distributed systems</vt:lpstr>
      <vt:lpstr>Software layers</vt:lpstr>
      <vt:lpstr>PowerPoint Presentation</vt:lpstr>
      <vt:lpstr>A platform for distributed systems</vt:lpstr>
      <vt:lpstr>Ctd..</vt:lpstr>
      <vt:lpstr>Fundamental models</vt:lpstr>
      <vt:lpstr>Failure Model </vt:lpstr>
      <vt:lpstr>Security Model </vt:lpstr>
      <vt:lpstr>Interaction Model </vt:lpstr>
      <vt:lpstr>Core concerns</vt:lpstr>
      <vt:lpstr>Challenges in the Interaction Model: </vt:lpstr>
      <vt:lpstr>Interaction Models based on Synchronization</vt:lpstr>
      <vt:lpstr>Asynchronous distributed systems:</vt:lpstr>
      <vt:lpstr>latency </vt:lpstr>
      <vt:lpstr>Event Ordering</vt:lpstr>
      <vt:lpstr>Ctd..</vt:lpstr>
      <vt:lpstr>PowerPoint Presentation</vt:lpstr>
      <vt:lpstr>Ctd</vt:lpstr>
      <vt:lpstr>Ctd</vt:lpstr>
      <vt:lpstr>Ctd..</vt:lpstr>
      <vt:lpstr>Failure Model</vt:lpstr>
      <vt:lpstr>Omission failures</vt:lpstr>
      <vt:lpstr> Processes and channels Communication omission Failure</vt:lpstr>
      <vt:lpstr>Arbitrary failures</vt:lpstr>
      <vt:lpstr>Arbitrary failures</vt:lpstr>
      <vt:lpstr>Omission and arbitrary failures</vt:lpstr>
      <vt:lpstr>Timing failures </vt:lpstr>
      <vt:lpstr> Timing failures</vt:lpstr>
      <vt:lpstr>Masking Failures</vt:lpstr>
      <vt:lpstr>Security Model</vt:lpstr>
      <vt:lpstr> Objects and principals</vt:lpstr>
      <vt:lpstr>The enemy</vt:lpstr>
      <vt:lpstr> Secure channels</vt:lpstr>
      <vt:lpstr>Figure 3.4 Protocol layers in the ISO Open Systems Interconnection (OSI) model</vt:lpstr>
      <vt:lpstr>Figure 3.6 Internetwork layers</vt:lpstr>
      <vt:lpstr>Figure 3.7 Routing in a wide area network</vt:lpstr>
      <vt:lpstr>Networking Principles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sandhiya</dc:creator>
  <cp:lastModifiedBy>sandhiya</cp:lastModifiedBy>
  <cp:revision>2</cp:revision>
  <dcterms:created xsi:type="dcterms:W3CDTF">2025-07-29T09:04:51Z</dcterms:created>
  <dcterms:modified xsi:type="dcterms:W3CDTF">2025-08-06T09:00:27Z</dcterms:modified>
</cp:coreProperties>
</file>