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Distributed Computing</a:t>
            </a:r>
            <a:br/>
          </a:p>
        </p:txBody>
      </p:sp>
      <p:sp>
        <p:nvSpPr>
          <p:cNvPr id="95" name="Subtitle 2"/>
          <p:cNvSpPr txBox="1"/>
          <p:nvPr>
            <p:ph type="body" idx="1"/>
          </p:nvPr>
        </p:nvSpPr>
        <p:spPr>
          <a:xfrm>
            <a:off x="838198" y="1825625"/>
            <a:ext cx="10515601" cy="4667250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333333"/>
                </a:solidFill>
              </a:defRPr>
            </a:pPr>
            <a:r>
              <a:t>Definition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 sz="2000">
                <a:solidFill>
                  <a:srgbClr val="222222"/>
                </a:solidFill>
              </a:defRPr>
            </a:pPr>
            <a:r>
              <a:t>A distributed system is a software system in which components located on networked computers communicate and coordinate their actions by passing messages.  The components interact with each other in order to achieve a common goal.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sz="2000">
                <a:solidFill>
                  <a:srgbClr val="333333"/>
                </a:solidFill>
              </a:defRPr>
            </a:pPr>
            <a:r>
              <a:t> 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b="1" sz="2000">
                <a:solidFill>
                  <a:srgbClr val="333333"/>
                </a:solidFill>
              </a:defRPr>
            </a:pPr>
            <a:r>
              <a:t>Distributed Computing Principles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 sz="2000">
                <a:solidFill>
                  <a:srgbClr val="333333"/>
                </a:solidFill>
              </a:defRPr>
            </a:pPr>
            <a:r>
              <a:t>A distributed system consists of a collection of autonomous computers, connected through  a network and distribution middleware, which enables computers to coordinate their activities  and to share the resources of the system, so that users perceive the system as a single, integrated computing facility.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Tx/>
              <a:buNone/>
              <a:defRPr sz="2000">
                <a:solidFill>
                  <a:srgbClr val="333333"/>
                </a:solidFill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ontent Placeholder 2"/>
          <p:cNvSpPr txBox="1"/>
          <p:nvPr>
            <p:ph type="body" sz="half" idx="1"/>
          </p:nvPr>
        </p:nvSpPr>
        <p:spPr>
          <a:xfrm>
            <a:off x="653143" y="702128"/>
            <a:ext cx="5366657" cy="547483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b="1">
                <a:solidFill>
                  <a:srgbClr val="333333"/>
                </a:solidFill>
              </a:defRPr>
            </a:pPr>
            <a:r>
              <a:t>Centralized System Characteristics</a:t>
            </a:r>
          </a:p>
          <a:p>
            <a:pPr marL="0" indent="0">
              <a:spcBef>
                <a:spcPts val="0"/>
              </a:spcBef>
              <a:buSzTx/>
              <a:buNone/>
            </a:pPr>
          </a:p>
          <a:p>
            <a:pPr marL="457200" indent="-457200"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One component with non-autonomous parts</a:t>
            </a:r>
          </a:p>
          <a:p>
            <a:pPr marL="457200" indent="-457200"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Component shared by users all the time</a:t>
            </a:r>
          </a:p>
          <a:p>
            <a:pPr marL="457200" indent="-457200"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All resources accessible</a:t>
            </a:r>
          </a:p>
          <a:p>
            <a:pPr marL="457200" indent="-457200"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Software runs in a single process</a:t>
            </a:r>
          </a:p>
          <a:p>
            <a:pPr marL="457200" indent="-457200"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Single Point of control</a:t>
            </a:r>
          </a:p>
          <a:p>
            <a:pPr marL="457200" indent="-457200"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Single Point of failure</a:t>
            </a:r>
          </a:p>
        </p:txBody>
      </p:sp>
      <p:sp>
        <p:nvSpPr>
          <p:cNvPr id="98" name="Content Placeholder 3"/>
          <p:cNvSpPr txBox="1"/>
          <p:nvPr/>
        </p:nvSpPr>
        <p:spPr>
          <a:xfrm>
            <a:off x="6032863" y="702128"/>
            <a:ext cx="5275217" cy="5474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just">
              <a:lnSpc>
                <a:spcPct val="90000"/>
              </a:lnSpc>
              <a:defRPr b="1" sz="2800">
                <a:solidFill>
                  <a:srgbClr val="333333"/>
                </a:solidFill>
              </a:defRPr>
            </a:pPr>
            <a:r>
              <a:t>Distributed System</a:t>
            </a:r>
          </a:p>
          <a:p>
            <a:pPr algn="just">
              <a:lnSpc>
                <a:spcPct val="90000"/>
              </a:lnSpc>
              <a:defRPr b="1" sz="2800">
                <a:solidFill>
                  <a:srgbClr val="333333"/>
                </a:solidFill>
              </a:defRPr>
            </a:pPr>
            <a:r>
              <a:t> Characteristics</a:t>
            </a:r>
          </a:p>
          <a:p>
            <a:pPr algn="just">
              <a:lnSpc>
                <a:spcPct val="90000"/>
              </a:lnSpc>
              <a:defRPr sz="2800">
                <a:solidFill>
                  <a:srgbClr val="333333"/>
                </a:solidFill>
              </a:defRPr>
            </a:pPr>
            <a:r>
              <a:t> </a:t>
            </a:r>
          </a:p>
          <a:p>
            <a:pPr marL="457200" indent="-457200" algn="just">
              <a:lnSpc>
                <a:spcPct val="90000"/>
              </a:lnSpc>
              <a:buSzPct val="100000"/>
              <a:buAutoNum type="arabicPeriod" startAt="1"/>
              <a:defRPr sz="2800">
                <a:solidFill>
                  <a:srgbClr val="333333"/>
                </a:solidFill>
              </a:defRPr>
            </a:pPr>
            <a:r>
              <a:t>Multiple autonomous components</a:t>
            </a:r>
          </a:p>
          <a:p>
            <a:pPr marL="457200" indent="-457200" algn="just">
              <a:lnSpc>
                <a:spcPct val="90000"/>
              </a:lnSpc>
              <a:buSzPct val="100000"/>
              <a:buAutoNum type="arabicPeriod" startAt="1"/>
              <a:defRPr sz="2800">
                <a:solidFill>
                  <a:srgbClr val="333333"/>
                </a:solidFill>
              </a:defRPr>
            </a:pPr>
            <a:r>
              <a:t>Components are not shared by all users</a:t>
            </a:r>
          </a:p>
          <a:p>
            <a:pPr marL="457200" indent="-457200" algn="just">
              <a:lnSpc>
                <a:spcPct val="90000"/>
              </a:lnSpc>
              <a:buSzPct val="100000"/>
              <a:buAutoNum type="arabicPeriod" startAt="1"/>
              <a:defRPr sz="2800">
                <a:solidFill>
                  <a:srgbClr val="333333"/>
                </a:solidFill>
              </a:defRPr>
            </a:pPr>
            <a:r>
              <a:t>Resources may not be accessible</a:t>
            </a:r>
          </a:p>
          <a:p>
            <a:pPr marL="457200" indent="-457200" algn="just">
              <a:lnSpc>
                <a:spcPct val="90000"/>
              </a:lnSpc>
              <a:buSzPct val="100000"/>
              <a:buAutoNum type="arabicPeriod" startAt="1"/>
              <a:defRPr sz="2800">
                <a:solidFill>
                  <a:srgbClr val="333333"/>
                </a:solidFill>
              </a:defRPr>
            </a:pPr>
            <a:r>
              <a:t>Software runs in concurrent processes on different processors</a:t>
            </a:r>
          </a:p>
          <a:p>
            <a:pPr marL="457200" indent="-457200" algn="just">
              <a:lnSpc>
                <a:spcPct val="90000"/>
              </a:lnSpc>
              <a:buSzPct val="100000"/>
              <a:buAutoNum type="arabicPeriod" startAt="1"/>
              <a:defRPr sz="2800">
                <a:solidFill>
                  <a:srgbClr val="333333"/>
                </a:solidFill>
              </a:defRPr>
            </a:pPr>
            <a:r>
              <a:t>Multiple Points of control</a:t>
            </a:r>
          </a:p>
          <a:p>
            <a:pPr marL="457200" indent="-457200" algn="just">
              <a:lnSpc>
                <a:spcPct val="90000"/>
              </a:lnSpc>
              <a:buSzPct val="100000"/>
              <a:buAutoNum type="arabicPeriod" startAt="1"/>
              <a:defRPr sz="2800">
                <a:solidFill>
                  <a:srgbClr val="333333"/>
                </a:solidFill>
              </a:defRPr>
            </a:pPr>
            <a:r>
              <a:t>Multiple Points of failure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ctrTitle"/>
          </p:nvPr>
        </p:nvSpPr>
        <p:spPr>
          <a:xfrm>
            <a:off x="555171" y="391886"/>
            <a:ext cx="9813474" cy="84908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333333"/>
                </a:solidFill>
              </a:defRPr>
            </a:lvl1pPr>
          </a:lstStyle>
          <a:p>
            <a:pPr/>
            <a:r>
              <a:t>Examples of distributed systems</a:t>
            </a:r>
          </a:p>
        </p:txBody>
      </p:sp>
      <p:sp>
        <p:nvSpPr>
          <p:cNvPr id="101" name="Subtitle 2"/>
          <p:cNvSpPr txBox="1"/>
          <p:nvPr>
            <p:ph type="subTitle" idx="1"/>
          </p:nvPr>
        </p:nvSpPr>
        <p:spPr>
          <a:xfrm>
            <a:off x="1077686" y="1469570"/>
            <a:ext cx="10548258" cy="4735286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defRPr>
                <a:solidFill>
                  <a:srgbClr val="333333"/>
                </a:solidFill>
              </a:defRPr>
            </a:pPr>
            <a:r>
              <a:t>Examples of distributed systems and applications of distributed computing include the following: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>
                <a:solidFill>
                  <a:srgbClr val="333333"/>
                </a:solidFill>
              </a:defRPr>
            </a:pPr>
            <a:r>
              <a:t> </a:t>
            </a:r>
          </a:p>
          <a:p>
            <a:pPr marL="457200" indent="-457200" algn="just">
              <a:lnSpc>
                <a:spcPct val="100000"/>
              </a:lnSpc>
              <a:buSzPct val="100000"/>
              <a:buAutoNum type="arabicPeriod" startAt="1"/>
              <a:defRPr>
                <a:solidFill>
                  <a:srgbClr val="333333"/>
                </a:solidFill>
              </a:defRPr>
            </a:pPr>
            <a:r>
              <a:t>Telecommunication networks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SzPct val="100000"/>
              <a:buAutoNum type="arabicPeriod" startAt="1"/>
              <a:defRPr>
                <a:solidFill>
                  <a:srgbClr val="333333"/>
                </a:solidFill>
              </a:defRPr>
            </a:pPr>
            <a:r>
              <a:t>Telephone networks and cellular networks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SzPct val="100000"/>
              <a:buAutoNum type="arabicPeriod" startAt="1"/>
              <a:defRPr>
                <a:solidFill>
                  <a:srgbClr val="333333"/>
                </a:solidFill>
              </a:defRPr>
            </a:pPr>
            <a:r>
              <a:t>Computer networks such as the Internet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SzPct val="100000"/>
              <a:buAutoNum type="arabicPeriod" startAt="1"/>
              <a:defRPr>
                <a:solidFill>
                  <a:srgbClr val="333333"/>
                </a:solidFill>
              </a:defRPr>
            </a:pPr>
            <a:r>
              <a:t>Wireless sensor networks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SzPct val="100000"/>
              <a:buAutoNum type="arabicPeriod" startAt="1"/>
              <a:defRPr>
                <a:solidFill>
                  <a:srgbClr val="333333"/>
                </a:solidFill>
              </a:defRPr>
            </a:pPr>
            <a:r>
              <a:t>Routing algorithms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</a:lstStyle>
          <a:p>
            <a:pPr/>
            <a:r>
              <a:t>Distributed Systems Vs Network of Computers</a:t>
            </a:r>
          </a:p>
        </p:txBody>
      </p:sp>
      <p:sp>
        <p:nvSpPr>
          <p:cNvPr id="104" name="Conten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t>A </a:t>
            </a:r>
            <a:r>
              <a:rPr b="1">
                <a:solidFill>
                  <a:srgbClr val="0000FF"/>
                </a:solidFill>
              </a:rPr>
              <a:t>Computer network </a:t>
            </a:r>
            <a:r>
              <a:t>is an interconnected collection of many autonomous computers able to exchange information.</a:t>
            </a:r>
            <a:br/>
          </a:p>
          <a:p>
            <a:pPr algn="just">
              <a:lnSpc>
                <a:spcPct val="81000"/>
              </a:lnSpc>
            </a:pPr>
            <a:r>
              <a:t>Computer network usually require users to explicitly login onto one machine, explicitly submit jobs remotely, explicitly move files or data around the network.</a:t>
            </a:r>
          </a:p>
        </p:txBody>
      </p:sp>
      <p:sp>
        <p:nvSpPr>
          <p:cNvPr id="105" name="Content Placeholder 3"/>
          <p:cNvSpPr txBox="1"/>
          <p:nvPr/>
        </p:nvSpPr>
        <p:spPr>
          <a:xfrm>
            <a:off x="6217920" y="1825625"/>
            <a:ext cx="509016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1742" indent="-221742" algn="just" defTabSz="886968">
              <a:lnSpc>
                <a:spcPct val="81000"/>
              </a:lnSpc>
              <a:spcBef>
                <a:spcPts val="900"/>
              </a:spcBef>
              <a:buSzPct val="100000"/>
              <a:buFont typeface="Arial"/>
              <a:buChar char="•"/>
              <a:defRPr b="1" sz="2716">
                <a:solidFill>
                  <a:srgbClr val="0000FF"/>
                </a:solidFill>
              </a:defRPr>
            </a:pPr>
            <a:r>
              <a:t>Distributed Systems </a:t>
            </a:r>
            <a:r>
              <a:rPr>
                <a:solidFill>
                  <a:srgbClr val="000000"/>
                </a:solidFill>
              </a:rPr>
              <a:t>,</a:t>
            </a:r>
            <a:r>
              <a:t> </a:t>
            </a:r>
            <a:r>
              <a:rPr b="0">
                <a:solidFill>
                  <a:srgbClr val="000000"/>
                </a:solidFill>
              </a:rPr>
              <a:t>The existence of multiple autonomous computers in a computer network is </a:t>
            </a:r>
            <a:r>
              <a:rPr>
                <a:solidFill>
                  <a:srgbClr val="000000"/>
                </a:solidFill>
              </a:rPr>
              <a:t>transparent to the user</a:t>
            </a:r>
            <a:r>
              <a:rPr b="0">
                <a:solidFill>
                  <a:srgbClr val="000000"/>
                </a:solidFill>
              </a:rPr>
              <a:t>.</a:t>
            </a:r>
          </a:p>
          <a:p>
            <a:pPr marL="221742" indent="-221742" algn="just" defTabSz="886968">
              <a:lnSpc>
                <a:spcPct val="81000"/>
              </a:lnSpc>
              <a:spcBef>
                <a:spcPts val="900"/>
              </a:spcBef>
              <a:buSzPct val="100000"/>
              <a:buFont typeface="Arial"/>
              <a:buChar char="•"/>
              <a:defRPr sz="2716"/>
            </a:pPr>
            <a:r>
              <a:t>The OS automatically allocates jobs to processors, moves files between various computers without explicit user intervention.</a:t>
            </a:r>
          </a:p>
          <a:p>
            <a:pPr algn="just" defTabSz="886968">
              <a:lnSpc>
                <a:spcPct val="81000"/>
              </a:lnSpc>
              <a:spcBef>
                <a:spcPts val="900"/>
              </a:spcBef>
              <a:defRPr sz="2716"/>
            </a:pP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Resource Sharing </a:t>
            </a:r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For example, users are concerned with sharing data in the form of a shared database or a set of web pages – not the disks and processors on which they are implemented. 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In term service for a distinct part of a computer system that manages a collection of related resources and presents their functionality to users and applications.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File services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Client processes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Server processes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Web Browser ex: client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t>Search Engine ex: Client /Server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Challenges in Distributed Computing</a:t>
            </a:r>
          </a:p>
        </p:txBody>
      </p:sp>
      <p:sp>
        <p:nvSpPr>
          <p:cNvPr id="111" name="Content Placeholder 2"/>
          <p:cNvSpPr txBox="1"/>
          <p:nvPr>
            <p:ph type="body" idx="1"/>
          </p:nvPr>
        </p:nvSpPr>
        <p:spPr>
          <a:xfrm>
            <a:off x="1012369" y="1825624"/>
            <a:ext cx="10341431" cy="5163006"/>
          </a:xfrm>
          <a:prstGeom prst="rect">
            <a:avLst/>
          </a:prstGeo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Heterogeneity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Scalability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Openness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Security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Failure Handling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Concurrency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>
                <a:solidFill>
                  <a:srgbClr val="333333"/>
                </a:solidFill>
              </a:defRPr>
            </a:pPr>
            <a:r>
              <a:t>Transparency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Heterogeneity</a:t>
            </a:r>
          </a:p>
        </p:txBody>
      </p:sp>
      <p:sp>
        <p:nvSpPr>
          <p:cNvPr id="114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14350" indent="-514350" algn="just">
              <a:lnSpc>
                <a:spcPct val="99000"/>
              </a:lnSpc>
              <a:spcBef>
                <a:spcPts val="600"/>
              </a:spcBef>
              <a:buFontTx/>
              <a:buAutoNum type="arabicPeriod" startAt="1"/>
              <a:defRPr sz="2500"/>
            </a:pPr>
            <a:r>
              <a:t>Heterogeneous applies to the architectures, models, systems, and applications that comprise substantively different components, as well as to techniques and methodologies </a:t>
            </a:r>
          </a:p>
          <a:p>
            <a:pPr marL="514350" indent="-514350" algn="just">
              <a:lnSpc>
                <a:spcPct val="99000"/>
              </a:lnSpc>
              <a:spcBef>
                <a:spcPts val="600"/>
              </a:spcBef>
              <a:buFontTx/>
              <a:buAutoNum type="arabicPeriod" startAt="1"/>
              <a:defRPr sz="2500"/>
            </a:pPr>
            <a:r>
              <a:t>That is, variety and difference applies to all of the following networks; computer hardware; </a:t>
            </a:r>
            <a:r>
              <a:rPr b="1"/>
              <a:t> </a:t>
            </a:r>
            <a:r>
              <a:t>operating systems; </a:t>
            </a:r>
            <a:r>
              <a:rPr b="1"/>
              <a:t> </a:t>
            </a:r>
            <a:r>
              <a:t>programming languages; </a:t>
            </a:r>
            <a:r>
              <a:rPr b="1"/>
              <a:t> </a:t>
            </a:r>
            <a:r>
              <a:t>implementations by different developers.</a:t>
            </a:r>
          </a:p>
          <a:p>
            <a:pPr marL="0" indent="0" algn="just">
              <a:lnSpc>
                <a:spcPct val="99000"/>
              </a:lnSpc>
              <a:spcBef>
                <a:spcPts val="600"/>
              </a:spcBef>
              <a:buSzTx/>
              <a:buNone/>
              <a:defRPr sz="2500"/>
            </a:pPr>
            <a:r>
              <a:t>Ex: the calls for exchanging messages in UNIX are different from the calls in Windows. </a:t>
            </a:r>
          </a:p>
          <a:p>
            <a:pPr marL="0" indent="0" algn="just">
              <a:lnSpc>
                <a:spcPct val="99000"/>
              </a:lnSpc>
              <a:spcBef>
                <a:spcPts val="600"/>
              </a:spcBef>
              <a:buSzTx/>
              <a:buNone/>
              <a:defRPr sz="2500"/>
            </a:pPr>
            <a:r>
              <a:t>The M</a:t>
            </a:r>
            <a:r>
              <a:rPr i="1"/>
              <a:t>iddleware </a:t>
            </a:r>
            <a:r>
              <a:t>layer provides a programming abstraction as well as masking the heterogeneity. RMI, CORBA etc.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Openness</a:t>
            </a:r>
          </a:p>
        </p:txBody>
      </p:sp>
      <p:sp>
        <p:nvSpPr>
          <p:cNvPr id="11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14350" indent="-514350" algn="just">
              <a:buFontTx/>
              <a:buAutoNum type="arabicPeriod" startAt="1"/>
              <a:defRPr sz="2500">
                <a:solidFill>
                  <a:srgbClr val="333333"/>
                </a:solidFill>
              </a:defRPr>
            </a:pPr>
            <a:r>
              <a:t>Openness is concerned with extensions and improvements of distributed systems. </a:t>
            </a:r>
          </a:p>
          <a:p>
            <a:pPr marL="514350" indent="-514350" algn="just">
              <a:buFontTx/>
              <a:buAutoNum type="arabicPeriod" startAt="1"/>
              <a:defRPr sz="2500">
                <a:solidFill>
                  <a:srgbClr val="333333"/>
                </a:solidFill>
              </a:defRPr>
            </a:pPr>
            <a:r>
              <a:t>It </a:t>
            </a:r>
            <a:r>
              <a:rPr>
                <a:solidFill>
                  <a:srgbClr val="000000"/>
                </a:solidFill>
              </a:rPr>
              <a:t>determines whether the system can be extended and reimplemented in various ways. </a:t>
            </a:r>
          </a:p>
          <a:p>
            <a:pPr marL="514350" indent="-514350" algn="just">
              <a:buFontTx/>
              <a:buAutoNum type="arabicPeriod" startAt="1"/>
              <a:defRPr sz="2500"/>
            </a:pPr>
            <a:r>
              <a:t>The openness of distributed systems is determined primarily by the degree to which new resource-sharing services can be added and be made available for use by a variety of client programs</a:t>
            </a:r>
          </a:p>
          <a:p>
            <a:pPr marL="514350" indent="-514350" algn="just">
              <a:buFontTx/>
              <a:buAutoNum type="arabicPeriod" startAt="1"/>
              <a:defRPr sz="2500">
                <a:solidFill>
                  <a:srgbClr val="333333"/>
                </a:solidFill>
              </a:defRPr>
            </a:pPr>
            <a:r>
              <a:t> New components have to be integrated with existing components.</a:t>
            </a:r>
          </a:p>
          <a:p>
            <a:pPr marL="514350" indent="-514350" algn="just">
              <a:buFontTx/>
              <a:buAutoNum type="arabicPeriod" startAt="1"/>
              <a:defRPr sz="2500">
                <a:solidFill>
                  <a:srgbClr val="333333"/>
                </a:solidFill>
              </a:defRPr>
            </a:pPr>
            <a:r>
              <a:t>Differences in data representation of interface types on different processors (of different vendors) have to be resolved.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